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5" r:id="rId17"/>
    <p:sldId id="271" r:id="rId18"/>
    <p:sldId id="272" r:id="rId19"/>
    <p:sldId id="273" r:id="rId20"/>
    <p:sldId id="274"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AQI scale</c:v>
                </c:pt>
              </c:strCache>
            </c:strRef>
          </c:tx>
          <c:spPr>
            <a:solidFill>
              <a:schemeClr val="accent1"/>
            </a:solidFill>
            <a:ln w="9525" cap="flat">
              <a:solidFill>
                <a:srgbClr val="F9F9F9"/>
              </a:solidFill>
              <a:prstDash val="solid"/>
              <a:round/>
            </a:ln>
            <a:effectLst/>
          </c:spPr>
          <c:dPt>
            <c:idx val="0"/>
            <c:bubble3D val="0"/>
            <c:spPr>
              <a:solidFill>
                <a:srgbClr val="4ADE80"/>
              </a:solidFill>
              <a:ln w="38100" cap="flat">
                <a:solidFill>
                  <a:srgbClr val="0A1B26"/>
                </a:solidFill>
                <a:prstDash val="solid"/>
                <a:round/>
              </a:ln>
              <a:effectLst/>
            </c:spPr>
            <c:extLst>
              <c:ext xmlns:c16="http://schemas.microsoft.com/office/drawing/2014/chart" uri="{C3380CC4-5D6E-409C-BE32-E72D297353CC}">
                <c16:uniqueId val="{00000001-EA30-4029-9581-D8FB69900228}"/>
              </c:ext>
            </c:extLst>
          </c:dPt>
          <c:dPt>
            <c:idx val="1"/>
            <c:bubble3D val="0"/>
            <c:spPr>
              <a:solidFill>
                <a:srgbClr val="FACC15"/>
              </a:solidFill>
              <a:ln w="38100" cap="flat">
                <a:solidFill>
                  <a:srgbClr val="0A1B26"/>
                </a:solidFill>
                <a:prstDash val="solid"/>
                <a:round/>
              </a:ln>
              <a:effectLst/>
            </c:spPr>
            <c:extLst>
              <c:ext xmlns:c16="http://schemas.microsoft.com/office/drawing/2014/chart" uri="{C3380CC4-5D6E-409C-BE32-E72D297353CC}">
                <c16:uniqueId val="{00000003-EA30-4029-9581-D8FB69900228}"/>
              </c:ext>
            </c:extLst>
          </c:dPt>
          <c:dPt>
            <c:idx val="2"/>
            <c:bubble3D val="0"/>
            <c:spPr>
              <a:solidFill>
                <a:srgbClr val="FB923C"/>
              </a:solidFill>
              <a:ln w="38100" cap="flat">
                <a:solidFill>
                  <a:srgbClr val="0A1B26"/>
                </a:solidFill>
                <a:prstDash val="solid"/>
                <a:round/>
              </a:ln>
              <a:effectLst/>
            </c:spPr>
            <c:extLst>
              <c:ext xmlns:c16="http://schemas.microsoft.com/office/drawing/2014/chart" uri="{C3380CC4-5D6E-409C-BE32-E72D297353CC}">
                <c16:uniqueId val="{00000005-EA30-4029-9581-D8FB69900228}"/>
              </c:ext>
            </c:extLst>
          </c:dPt>
          <c:dPt>
            <c:idx val="3"/>
            <c:bubble3D val="0"/>
            <c:spPr>
              <a:solidFill>
                <a:srgbClr val="EF4444"/>
              </a:solidFill>
              <a:ln w="38100" cap="flat">
                <a:solidFill>
                  <a:srgbClr val="0A1B26"/>
                </a:solidFill>
                <a:prstDash val="solid"/>
                <a:round/>
              </a:ln>
              <a:effectLst/>
            </c:spPr>
            <c:extLst>
              <c:ext xmlns:c16="http://schemas.microsoft.com/office/drawing/2014/chart" uri="{C3380CC4-5D6E-409C-BE32-E72D297353CC}">
                <c16:uniqueId val="{00000007-EA30-4029-9581-D8FB69900228}"/>
              </c:ext>
            </c:extLst>
          </c:dPt>
          <c:dPt>
            <c:idx val="4"/>
            <c:bubble3D val="0"/>
            <c:spPr>
              <a:solidFill>
                <a:srgbClr val="A855F7"/>
              </a:solidFill>
              <a:ln w="38100" cap="flat">
                <a:solidFill>
                  <a:srgbClr val="0A1B26"/>
                </a:solidFill>
                <a:prstDash val="solid"/>
                <a:round/>
              </a:ln>
              <a:effectLst/>
            </c:spPr>
            <c:extLst>
              <c:ext xmlns:c16="http://schemas.microsoft.com/office/drawing/2014/chart" uri="{C3380CC4-5D6E-409C-BE32-E72D297353CC}">
                <c16:uniqueId val="{00000009-EA30-4029-9581-D8FB69900228}"/>
              </c:ext>
            </c:extLst>
          </c:dPt>
          <c:dPt>
            <c:idx val="5"/>
            <c:bubble3D val="0"/>
            <c:spPr>
              <a:solidFill>
                <a:srgbClr val="BE123C"/>
              </a:solidFill>
              <a:ln w="38100" cap="flat">
                <a:solidFill>
                  <a:srgbClr val="0A1B26"/>
                </a:solidFill>
                <a:prstDash val="solid"/>
                <a:round/>
              </a:ln>
              <a:effectLst/>
            </c:spPr>
            <c:extLst>
              <c:ext xmlns:c16="http://schemas.microsoft.com/office/drawing/2014/chart" uri="{C3380CC4-5D6E-409C-BE32-E72D297353CC}">
                <c16:uniqueId val="{0000000B-EA30-4029-9581-D8FB69900228}"/>
              </c:ext>
            </c:extLst>
          </c:dPt>
          <c:cat>
            <c:strRef>
              <c:f>Sheet1!$A$2:$A$7</c:f>
              <c:strCache>
                <c:ptCount val="6"/>
                <c:pt idx="0">
                  <c:v>Good</c:v>
                </c:pt>
                <c:pt idx="1">
                  <c:v>Moderate</c:v>
                </c:pt>
                <c:pt idx="2">
                  <c:v>Unhealthy for Sensitive Groups</c:v>
                </c:pt>
                <c:pt idx="3">
                  <c:v>Unhealthy</c:v>
                </c:pt>
                <c:pt idx="4">
                  <c:v>Very Unhealthy</c:v>
                </c:pt>
                <c:pt idx="5">
                  <c:v>Hazardous</c:v>
                </c:pt>
              </c:strCache>
            </c:strRef>
          </c:cat>
          <c:val>
            <c:numRef>
              <c:f>Sheet1!$B$2:$B$7</c:f>
              <c:numCache>
                <c:formatCode>General</c:formatCode>
                <c:ptCount val="6"/>
                <c:pt idx="0">
                  <c:v>50</c:v>
                </c:pt>
                <c:pt idx="1">
                  <c:v>50</c:v>
                </c:pt>
                <c:pt idx="2">
                  <c:v>50</c:v>
                </c:pt>
                <c:pt idx="3">
                  <c:v>50</c:v>
                </c:pt>
                <c:pt idx="4">
                  <c:v>100</c:v>
                </c:pt>
                <c:pt idx="5">
                  <c:v>200</c:v>
                </c:pt>
              </c:numCache>
            </c:numRef>
          </c:val>
          <c:extLst>
            <c:ext xmlns:c16="http://schemas.microsoft.com/office/drawing/2014/chart" uri="{C3380CC4-5D6E-409C-BE32-E72D297353CC}">
              <c16:uniqueId val="{0000000C-EA30-4029-9581-D8FB69900228}"/>
            </c:ext>
          </c:extLst>
        </c:ser>
        <c:dLbls>
          <c:showLegendKey val="0"/>
          <c:showVal val="0"/>
          <c:showCatName val="0"/>
          <c:showSerName val="0"/>
          <c:showPercent val="0"/>
          <c:showBubbleSize val="0"/>
          <c:showLeaderLines val="0"/>
        </c:dLbls>
        <c:firstSliceAng val="0"/>
        <c:holeSize val="72"/>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938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CleanAir AI: a real-time air quality intelligence dashboard with a grounded AI assistant. Built for the 1M1B AI for Sustainability Virtual Internship with IBM SkillsBuild &amp; AICTE. Replace the name and college placeholders before presenting. The skyline is a conceptual illustration.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 quality data is generated continuously, but it is hard for ordinary users to interpret quickly. The flow on the left shows how a real-world condition turns into complex data and an information gap. No pollution statistics are cited on purpose.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Thinking – Empathize stage. These are the target users of CleanAir AI and the questions they need answered quickly.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SDG is SDG 11. SDG 3 and SDG 13 are secondary alignments. CleanAir AI is framed as a technology-based contribution toward awareness, monitoring and informed decision-making – not as something that directly solves an SDG.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Bob was used as a research and project-refinement aid in steps 02 and 04. The implemented production AI assistant is a separate system: Groq + Llama 3.3 70B.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CleanAir AI is an integrated environmental intelligence platform. These nine capabilities come directly from the README.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AI roles. IBM Bob supported research, brainstorming and refinement during project development. Groq + Llama 3.3 70B is the production AI assistant inside the product. They are not merged.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receives the current city's live sensor data packet as explicit system context, so the LLM does not invent the sensor readings. This runs through the POST /api/chat endpoint on the FastAPI backend.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exactly as documented in the README: React + Vite frontend, FastAPI backend acting as an /api proxy on port 8000, OpenAQ REST v3 for telemetry, and Groq for the Llama 3.3 70B assistant. API keys never reach the browser.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taken from the README. IBM Bob is listed for AI research, ideation and project refinement only, it is not the production AI provider.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CleanAir AI implements the US EPA AQI methodology. When there is not enough pollutant data to compute an AQI, the app shows AQI Unavailable and keeps showing whatever raw measurements exist. No values are invented.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journey through the app. The window below is a conceptual illustration, not a real screenshot. Swap in real screenshots of your running app if you have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Placeholders for real screenshots. In PowerPoint use Insert &gt; Pictures, resize each image to fit its frame, then delete the 'Insert screenshot' label.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Placeholders for real screenshots. In PowerPoint use Insert &gt; Pictures, resize each image to fit its frame, then delete the 'Insert screenshot' label.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Placeholders for real screenshots. In PowerPoint use Insert &gt; Pictures, resize each image to fit its frame, then delete the 'Insert screenshot' label.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protections documented in the README. They are properties of CleanAir AI's design and implementation. IBM Bob does not itself enforce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intended contributions, not measured results. No numerical impact metrics are claimed.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grid is future scope, not part of the current implementation. Close with the conclusion statement and thank the audience.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8.pn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1.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2.pn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0.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26"/>
        </a:solidFill>
        <a:effectLst/>
      </p:bgPr>
    </p:bg>
    <p:spTree>
      <p:nvGrpSpPr>
        <p:cNvPr id="1" name=""/>
        <p:cNvGrpSpPr/>
        <p:nvPr/>
      </p:nvGrpSpPr>
      <p:grpSpPr>
        <a:xfrm>
          <a:off x="0" y="0"/>
          <a:ext cx="0" cy="0"/>
          <a:chOff x="0" y="0"/>
          <a:chExt cx="0" cy="0"/>
        </a:xfrm>
      </p:grpSpPr>
      <p:sp>
        <p:nvSpPr>
          <p:cNvPr id="2" name="Shape 0"/>
          <p:cNvSpPr/>
          <p:nvPr/>
        </p:nvSpPr>
        <p:spPr>
          <a:xfrm>
            <a:off x="5029200" y="3291840"/>
            <a:ext cx="8229600" cy="3840480"/>
          </a:xfrm>
          <a:prstGeom prst="ellipse">
            <a:avLst/>
          </a:prstGeom>
          <a:solidFill>
            <a:srgbClr val="2DD4BF">
              <a:alpha val="10000"/>
            </a:srgbClr>
          </a:solidFill>
          <a:ln/>
        </p:spPr>
      </p:sp>
      <p:sp>
        <p:nvSpPr>
          <p:cNvPr id="3" name="Shape 1"/>
          <p:cNvSpPr/>
          <p:nvPr/>
        </p:nvSpPr>
        <p:spPr>
          <a:xfrm>
            <a:off x="-1828800" y="3840480"/>
            <a:ext cx="7315200" cy="3291840"/>
          </a:xfrm>
          <a:prstGeom prst="ellipse">
            <a:avLst/>
          </a:prstGeom>
          <a:solidFill>
            <a:srgbClr val="4ADE80">
              <a:alpha val="8000"/>
            </a:srgbClr>
          </a:solidFill>
          <a:ln/>
        </p:spPr>
      </p:sp>
      <p:sp>
        <p:nvSpPr>
          <p:cNvPr id="4" name="Shape 2"/>
          <p:cNvSpPr/>
          <p:nvPr/>
        </p:nvSpPr>
        <p:spPr>
          <a:xfrm>
            <a:off x="0" y="5486400"/>
            <a:ext cx="822960" cy="1371600"/>
          </a:xfrm>
          <a:prstGeom prst="rect">
            <a:avLst/>
          </a:prstGeom>
          <a:solidFill>
            <a:srgbClr val="133845"/>
          </a:solidFill>
          <a:ln w="12700">
            <a:solidFill>
              <a:srgbClr val="0A1B26"/>
            </a:solidFill>
            <a:prstDash val="solid"/>
          </a:ln>
        </p:spPr>
      </p:sp>
      <p:sp>
        <p:nvSpPr>
          <p:cNvPr id="5" name="Shape 3"/>
          <p:cNvSpPr/>
          <p:nvPr/>
        </p:nvSpPr>
        <p:spPr>
          <a:xfrm>
            <a:off x="731520" y="4846320"/>
            <a:ext cx="640080" cy="2011680"/>
          </a:xfrm>
          <a:prstGeom prst="rect">
            <a:avLst/>
          </a:prstGeom>
          <a:solidFill>
            <a:srgbClr val="0F2C38"/>
          </a:solidFill>
          <a:ln w="12700">
            <a:solidFill>
              <a:srgbClr val="0A1B26"/>
            </a:solidFill>
            <a:prstDash val="solid"/>
          </a:ln>
        </p:spPr>
      </p:sp>
      <p:sp>
        <p:nvSpPr>
          <p:cNvPr id="6" name="Shape 4"/>
          <p:cNvSpPr/>
          <p:nvPr/>
        </p:nvSpPr>
        <p:spPr>
          <a:xfrm>
            <a:off x="1325880" y="5760720"/>
            <a:ext cx="1005840" cy="1097280"/>
          </a:xfrm>
          <a:prstGeom prst="rect">
            <a:avLst/>
          </a:prstGeom>
          <a:solidFill>
            <a:srgbClr val="133845"/>
          </a:solidFill>
          <a:ln w="12700">
            <a:solidFill>
              <a:srgbClr val="0A1B26"/>
            </a:solidFill>
            <a:prstDash val="solid"/>
          </a:ln>
        </p:spPr>
      </p:sp>
      <p:sp>
        <p:nvSpPr>
          <p:cNvPr id="7" name="Shape 5"/>
          <p:cNvSpPr/>
          <p:nvPr/>
        </p:nvSpPr>
        <p:spPr>
          <a:xfrm>
            <a:off x="2286000" y="4480560"/>
            <a:ext cx="731520" cy="2377440"/>
          </a:xfrm>
          <a:prstGeom prst="rect">
            <a:avLst/>
          </a:prstGeom>
          <a:solidFill>
            <a:srgbClr val="0F2C38"/>
          </a:solidFill>
          <a:ln w="12700">
            <a:solidFill>
              <a:srgbClr val="0A1B26"/>
            </a:solidFill>
            <a:prstDash val="solid"/>
          </a:ln>
        </p:spPr>
      </p:sp>
      <p:sp>
        <p:nvSpPr>
          <p:cNvPr id="8" name="Shape 6"/>
          <p:cNvSpPr/>
          <p:nvPr/>
        </p:nvSpPr>
        <p:spPr>
          <a:xfrm>
            <a:off x="2971800" y="5303520"/>
            <a:ext cx="1097280" cy="1554480"/>
          </a:xfrm>
          <a:prstGeom prst="rect">
            <a:avLst/>
          </a:prstGeom>
          <a:solidFill>
            <a:srgbClr val="133845"/>
          </a:solidFill>
          <a:ln w="12700">
            <a:solidFill>
              <a:srgbClr val="0A1B26"/>
            </a:solidFill>
            <a:prstDash val="solid"/>
          </a:ln>
        </p:spPr>
      </p:sp>
      <p:sp>
        <p:nvSpPr>
          <p:cNvPr id="9" name="Shape 7"/>
          <p:cNvSpPr/>
          <p:nvPr/>
        </p:nvSpPr>
        <p:spPr>
          <a:xfrm>
            <a:off x="4023360" y="4754880"/>
            <a:ext cx="822960" cy="2103120"/>
          </a:xfrm>
          <a:prstGeom prst="rect">
            <a:avLst/>
          </a:prstGeom>
          <a:solidFill>
            <a:srgbClr val="0F2C38"/>
          </a:solidFill>
          <a:ln w="12700">
            <a:solidFill>
              <a:srgbClr val="0A1B26"/>
            </a:solidFill>
            <a:prstDash val="solid"/>
          </a:ln>
        </p:spPr>
      </p:sp>
      <p:sp>
        <p:nvSpPr>
          <p:cNvPr id="10" name="Shape 8"/>
          <p:cNvSpPr/>
          <p:nvPr/>
        </p:nvSpPr>
        <p:spPr>
          <a:xfrm>
            <a:off x="4800600" y="5577840"/>
            <a:ext cx="1188720" cy="1280160"/>
          </a:xfrm>
          <a:prstGeom prst="rect">
            <a:avLst/>
          </a:prstGeom>
          <a:solidFill>
            <a:srgbClr val="133845"/>
          </a:solidFill>
          <a:ln w="12700">
            <a:solidFill>
              <a:srgbClr val="0A1B26"/>
            </a:solidFill>
            <a:prstDash val="solid"/>
          </a:ln>
        </p:spPr>
      </p:sp>
      <p:sp>
        <p:nvSpPr>
          <p:cNvPr id="11" name="Shape 9"/>
          <p:cNvSpPr/>
          <p:nvPr/>
        </p:nvSpPr>
        <p:spPr>
          <a:xfrm>
            <a:off x="5943600" y="4297680"/>
            <a:ext cx="731520" cy="2560320"/>
          </a:xfrm>
          <a:prstGeom prst="rect">
            <a:avLst/>
          </a:prstGeom>
          <a:solidFill>
            <a:srgbClr val="0F2C38"/>
          </a:solidFill>
          <a:ln w="12700">
            <a:solidFill>
              <a:srgbClr val="0A1B26"/>
            </a:solidFill>
            <a:prstDash val="solid"/>
          </a:ln>
        </p:spPr>
      </p:sp>
      <p:sp>
        <p:nvSpPr>
          <p:cNvPr id="12" name="Shape 10"/>
          <p:cNvSpPr/>
          <p:nvPr/>
        </p:nvSpPr>
        <p:spPr>
          <a:xfrm>
            <a:off x="6629400" y="5120640"/>
            <a:ext cx="1005840" cy="1737360"/>
          </a:xfrm>
          <a:prstGeom prst="rect">
            <a:avLst/>
          </a:prstGeom>
          <a:solidFill>
            <a:srgbClr val="133845"/>
          </a:solidFill>
          <a:ln w="12700">
            <a:solidFill>
              <a:srgbClr val="0A1B26"/>
            </a:solidFill>
            <a:prstDash val="solid"/>
          </a:ln>
        </p:spPr>
      </p:sp>
      <p:sp>
        <p:nvSpPr>
          <p:cNvPr id="13" name="Shape 11"/>
          <p:cNvSpPr/>
          <p:nvPr/>
        </p:nvSpPr>
        <p:spPr>
          <a:xfrm>
            <a:off x="7589520" y="4663440"/>
            <a:ext cx="822960" cy="2194560"/>
          </a:xfrm>
          <a:prstGeom prst="rect">
            <a:avLst/>
          </a:prstGeom>
          <a:solidFill>
            <a:srgbClr val="0F2C38"/>
          </a:solidFill>
          <a:ln w="12700">
            <a:solidFill>
              <a:srgbClr val="0A1B26"/>
            </a:solidFill>
            <a:prstDash val="solid"/>
          </a:ln>
        </p:spPr>
      </p:sp>
      <p:sp>
        <p:nvSpPr>
          <p:cNvPr id="14" name="Shape 12"/>
          <p:cNvSpPr/>
          <p:nvPr/>
        </p:nvSpPr>
        <p:spPr>
          <a:xfrm>
            <a:off x="8366760" y="5486400"/>
            <a:ext cx="1097280" cy="1371600"/>
          </a:xfrm>
          <a:prstGeom prst="rect">
            <a:avLst/>
          </a:prstGeom>
          <a:solidFill>
            <a:srgbClr val="133845"/>
          </a:solidFill>
          <a:ln w="12700">
            <a:solidFill>
              <a:srgbClr val="0A1B26"/>
            </a:solidFill>
            <a:prstDash val="solid"/>
          </a:ln>
        </p:spPr>
      </p:sp>
      <p:sp>
        <p:nvSpPr>
          <p:cNvPr id="15" name="Shape 13"/>
          <p:cNvSpPr/>
          <p:nvPr/>
        </p:nvSpPr>
        <p:spPr>
          <a:xfrm>
            <a:off x="9418320" y="4206240"/>
            <a:ext cx="731520" cy="2651760"/>
          </a:xfrm>
          <a:prstGeom prst="rect">
            <a:avLst/>
          </a:prstGeom>
          <a:solidFill>
            <a:srgbClr val="0F2C38"/>
          </a:solidFill>
          <a:ln w="12700">
            <a:solidFill>
              <a:srgbClr val="0A1B26"/>
            </a:solidFill>
            <a:prstDash val="solid"/>
          </a:ln>
        </p:spPr>
      </p:sp>
      <p:sp>
        <p:nvSpPr>
          <p:cNvPr id="16" name="Shape 14"/>
          <p:cNvSpPr/>
          <p:nvPr/>
        </p:nvSpPr>
        <p:spPr>
          <a:xfrm>
            <a:off x="10104120" y="5029200"/>
            <a:ext cx="1005840" cy="1828800"/>
          </a:xfrm>
          <a:prstGeom prst="rect">
            <a:avLst/>
          </a:prstGeom>
          <a:solidFill>
            <a:srgbClr val="133845"/>
          </a:solidFill>
          <a:ln w="12700">
            <a:solidFill>
              <a:srgbClr val="0A1B26"/>
            </a:solidFill>
            <a:prstDash val="solid"/>
          </a:ln>
        </p:spPr>
      </p:sp>
      <p:sp>
        <p:nvSpPr>
          <p:cNvPr id="17" name="Shape 15"/>
          <p:cNvSpPr/>
          <p:nvPr/>
        </p:nvSpPr>
        <p:spPr>
          <a:xfrm>
            <a:off x="11064240" y="5394960"/>
            <a:ext cx="1124712" cy="1463040"/>
          </a:xfrm>
          <a:prstGeom prst="rect">
            <a:avLst/>
          </a:prstGeom>
          <a:solidFill>
            <a:srgbClr val="0F2C38"/>
          </a:solidFill>
          <a:ln w="12700">
            <a:solidFill>
              <a:srgbClr val="0A1B26"/>
            </a:solidFill>
            <a:prstDash val="solid"/>
          </a:ln>
        </p:spPr>
      </p:sp>
      <p:sp>
        <p:nvSpPr>
          <p:cNvPr id="18" name="Shape 16"/>
          <p:cNvSpPr/>
          <p:nvPr/>
        </p:nvSpPr>
        <p:spPr>
          <a:xfrm>
            <a:off x="2743200" y="4846320"/>
            <a:ext cx="9144000" cy="2011680"/>
          </a:xfrm>
          <a:prstGeom prst="ellipse">
            <a:avLst/>
          </a:prstGeom>
          <a:solidFill>
            <a:srgbClr val="2DD4BF">
              <a:alpha val="7000"/>
            </a:srgbClr>
          </a:solidFill>
          <a:ln/>
        </p:spPr>
      </p:sp>
      <p:sp>
        <p:nvSpPr>
          <p:cNvPr id="19" name="Text 17"/>
          <p:cNvSpPr txBox="1"/>
          <p:nvPr/>
        </p:nvSpPr>
        <p:spPr>
          <a:xfrm>
            <a:off x="548640" y="594360"/>
            <a:ext cx="7315200" cy="320040"/>
          </a:xfrm>
          <a:prstGeom prst="rect">
            <a:avLst/>
          </a:prstGeom>
          <a:noFill/>
          <a:ln/>
        </p:spPr>
        <p:txBody>
          <a:bodyPr wrap="square" lIns="0" tIns="0" rIns="0" bIns="0" rtlCol="0" anchor="t"/>
          <a:lstStyle/>
          <a:p>
            <a:pPr marL="0" indent="0">
              <a:buNone/>
            </a:pPr>
            <a:r>
              <a:rPr lang="en-US" sz="1300" b="1" kern="0" spc="300" dirty="0">
                <a:solidFill>
                  <a:srgbClr val="2DD4BF"/>
                </a:solidFill>
                <a:latin typeface="Calibri" pitchFamily="34" charset="0"/>
                <a:ea typeface="Calibri" pitchFamily="34" charset="-122"/>
                <a:cs typeface="Calibri" pitchFamily="34" charset="-120"/>
              </a:rPr>
              <a:t>1M1B AI FOR SUSTAINABILITY VIRTUAL INTERNSHIP</a:t>
            </a:r>
            <a:endParaRPr lang="en-US" sz="1300" dirty="0"/>
          </a:p>
        </p:txBody>
      </p:sp>
      <p:sp>
        <p:nvSpPr>
          <p:cNvPr id="20" name="Text 18"/>
          <p:cNvSpPr txBox="1"/>
          <p:nvPr/>
        </p:nvSpPr>
        <p:spPr>
          <a:xfrm>
            <a:off x="548640" y="1005840"/>
            <a:ext cx="7315200" cy="118872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CleanAir AI</a:t>
            </a:r>
            <a:endParaRPr lang="en-US" sz="6600" dirty="0"/>
          </a:p>
        </p:txBody>
      </p:sp>
      <p:sp>
        <p:nvSpPr>
          <p:cNvPr id="21" name="Text 19"/>
          <p:cNvSpPr txBox="1"/>
          <p:nvPr/>
        </p:nvSpPr>
        <p:spPr>
          <a:xfrm>
            <a:off x="548640" y="2194560"/>
            <a:ext cx="7315200" cy="548640"/>
          </a:xfrm>
          <a:prstGeom prst="rect">
            <a:avLst/>
          </a:prstGeom>
          <a:noFill/>
          <a:ln/>
        </p:spPr>
        <p:txBody>
          <a:bodyPr wrap="square" lIns="0" tIns="0" rIns="0" bIns="0" rtlCol="0" anchor="ctr"/>
          <a:lstStyle/>
          <a:p>
            <a:pPr marL="0" indent="0">
              <a:buNone/>
            </a:pPr>
            <a:r>
              <a:rPr lang="en-US" sz="2600" dirty="0">
                <a:solidFill>
                  <a:srgbClr val="2DD4BF"/>
                </a:solidFill>
                <a:latin typeface="Calibri" pitchFamily="34" charset="0"/>
                <a:ea typeface="Calibri" pitchFamily="34" charset="-122"/>
                <a:cs typeface="Calibri" pitchFamily="34" charset="-120"/>
              </a:rPr>
              <a:t>Real-Time Air Quality Intelligence</a:t>
            </a:r>
            <a:endParaRPr lang="en-US" sz="2600" dirty="0"/>
          </a:p>
        </p:txBody>
      </p:sp>
      <p:sp>
        <p:nvSpPr>
          <p:cNvPr id="22" name="Shape 20"/>
          <p:cNvSpPr/>
          <p:nvPr/>
        </p:nvSpPr>
        <p:spPr>
          <a:xfrm>
            <a:off x="548640" y="2971800"/>
            <a:ext cx="859536" cy="146304"/>
          </a:xfrm>
          <a:prstGeom prst="roundRect">
            <a:avLst>
              <a:gd name="adj" fmla="val 50000"/>
            </a:avLst>
          </a:prstGeom>
          <a:solidFill>
            <a:srgbClr val="4ADE80"/>
          </a:solidFill>
          <a:ln w="12700">
            <a:solidFill>
              <a:srgbClr val="4ADE80"/>
            </a:solidFill>
            <a:prstDash val="solid"/>
          </a:ln>
        </p:spPr>
      </p:sp>
      <p:sp>
        <p:nvSpPr>
          <p:cNvPr id="23" name="Shape 21"/>
          <p:cNvSpPr/>
          <p:nvPr/>
        </p:nvSpPr>
        <p:spPr>
          <a:xfrm>
            <a:off x="1481328" y="2971800"/>
            <a:ext cx="859536" cy="146304"/>
          </a:xfrm>
          <a:prstGeom prst="roundRect">
            <a:avLst>
              <a:gd name="adj" fmla="val 50000"/>
            </a:avLst>
          </a:prstGeom>
          <a:solidFill>
            <a:srgbClr val="FACC15"/>
          </a:solidFill>
          <a:ln w="12700">
            <a:solidFill>
              <a:srgbClr val="FACC15"/>
            </a:solidFill>
            <a:prstDash val="solid"/>
          </a:ln>
        </p:spPr>
      </p:sp>
      <p:sp>
        <p:nvSpPr>
          <p:cNvPr id="24" name="Shape 22"/>
          <p:cNvSpPr/>
          <p:nvPr/>
        </p:nvSpPr>
        <p:spPr>
          <a:xfrm>
            <a:off x="2414016" y="2971800"/>
            <a:ext cx="859536" cy="146304"/>
          </a:xfrm>
          <a:prstGeom prst="roundRect">
            <a:avLst>
              <a:gd name="adj" fmla="val 50000"/>
            </a:avLst>
          </a:prstGeom>
          <a:solidFill>
            <a:srgbClr val="FB923C"/>
          </a:solidFill>
          <a:ln w="12700">
            <a:solidFill>
              <a:srgbClr val="FB923C"/>
            </a:solidFill>
            <a:prstDash val="solid"/>
          </a:ln>
        </p:spPr>
      </p:sp>
      <p:sp>
        <p:nvSpPr>
          <p:cNvPr id="25" name="Shape 23"/>
          <p:cNvSpPr/>
          <p:nvPr/>
        </p:nvSpPr>
        <p:spPr>
          <a:xfrm>
            <a:off x="3346704" y="2971800"/>
            <a:ext cx="859536" cy="146304"/>
          </a:xfrm>
          <a:prstGeom prst="roundRect">
            <a:avLst>
              <a:gd name="adj" fmla="val 50000"/>
            </a:avLst>
          </a:prstGeom>
          <a:solidFill>
            <a:srgbClr val="EF4444"/>
          </a:solidFill>
          <a:ln w="12700">
            <a:solidFill>
              <a:srgbClr val="EF4444"/>
            </a:solidFill>
            <a:prstDash val="solid"/>
          </a:ln>
        </p:spPr>
      </p:sp>
      <p:sp>
        <p:nvSpPr>
          <p:cNvPr id="26" name="Shape 24"/>
          <p:cNvSpPr/>
          <p:nvPr/>
        </p:nvSpPr>
        <p:spPr>
          <a:xfrm>
            <a:off x="4279392" y="2971800"/>
            <a:ext cx="859536" cy="146304"/>
          </a:xfrm>
          <a:prstGeom prst="roundRect">
            <a:avLst>
              <a:gd name="adj" fmla="val 50000"/>
            </a:avLst>
          </a:prstGeom>
          <a:solidFill>
            <a:srgbClr val="A855F7"/>
          </a:solidFill>
          <a:ln w="12700">
            <a:solidFill>
              <a:srgbClr val="A855F7"/>
            </a:solidFill>
            <a:prstDash val="solid"/>
          </a:ln>
        </p:spPr>
      </p:sp>
      <p:sp>
        <p:nvSpPr>
          <p:cNvPr id="27" name="Shape 25"/>
          <p:cNvSpPr/>
          <p:nvPr/>
        </p:nvSpPr>
        <p:spPr>
          <a:xfrm>
            <a:off x="5212080" y="2971800"/>
            <a:ext cx="859536" cy="146304"/>
          </a:xfrm>
          <a:prstGeom prst="roundRect">
            <a:avLst>
              <a:gd name="adj" fmla="val 50000"/>
            </a:avLst>
          </a:prstGeom>
          <a:solidFill>
            <a:srgbClr val="BE123C"/>
          </a:solidFill>
          <a:ln w="12700">
            <a:solidFill>
              <a:srgbClr val="BE123C"/>
            </a:solidFill>
            <a:prstDash val="solid"/>
          </a:ln>
        </p:spPr>
      </p:sp>
      <p:sp>
        <p:nvSpPr>
          <p:cNvPr id="28" name="Text 26"/>
          <p:cNvSpPr txBox="1"/>
          <p:nvPr/>
        </p:nvSpPr>
        <p:spPr>
          <a:xfrm>
            <a:off x="548640" y="3383280"/>
            <a:ext cx="7315200" cy="365760"/>
          </a:xfrm>
          <a:prstGeom prst="rect">
            <a:avLst/>
          </a:prstGeom>
          <a:noFill/>
          <a:ln/>
        </p:spPr>
        <p:txBody>
          <a:bodyPr wrap="square" lIns="0" tIns="0" rIns="0" bIns="0" rtlCol="0" anchor="t"/>
          <a:lstStyle/>
          <a:p>
            <a:pPr marL="0" indent="0">
              <a:buNone/>
            </a:pPr>
            <a:r>
              <a:rPr lang="en-US" sz="1700" dirty="0">
                <a:solidFill>
                  <a:srgbClr val="FFFFFF"/>
                </a:solidFill>
                <a:latin typeface="Calibri" pitchFamily="34" charset="0"/>
                <a:ea typeface="Calibri" pitchFamily="34" charset="-122"/>
                <a:cs typeface="Calibri" pitchFamily="34" charset="-120"/>
              </a:rPr>
              <a:t>In Collaboration with IBM SkillsBuild &amp; AICTE</a:t>
            </a:r>
            <a:endParaRPr lang="en-US" sz="1700" dirty="0"/>
          </a:p>
        </p:txBody>
      </p:sp>
      <p:sp>
        <p:nvSpPr>
          <p:cNvPr id="29" name="Text 27"/>
          <p:cNvSpPr txBox="1"/>
          <p:nvPr/>
        </p:nvSpPr>
        <p:spPr>
          <a:xfrm>
            <a:off x="548640" y="3931920"/>
            <a:ext cx="7315200" cy="731520"/>
          </a:xfrm>
          <a:prstGeom prst="rect">
            <a:avLst/>
          </a:prstGeom>
          <a:noFill/>
          <a:ln/>
        </p:spPr>
        <p:txBody>
          <a:bodyPr wrap="square" lIns="0" tIns="0" rIns="0" bIns="0" rtlCol="0" anchor="t"/>
          <a:lstStyle/>
          <a:p>
            <a:pPr marL="0" indent="0">
              <a:spcAft>
                <a:spcPts val="400"/>
              </a:spcAft>
              <a:buNone/>
            </a:pPr>
            <a:r>
              <a:rPr lang="en-US" sz="1500" dirty="0">
                <a:solidFill>
                  <a:srgbClr val="9DB7C1"/>
                </a:solidFill>
                <a:latin typeface="Calibri" pitchFamily="34" charset="0"/>
                <a:ea typeface="Calibri" pitchFamily="34" charset="-122"/>
                <a:cs typeface="Calibri" pitchFamily="34" charset="-120"/>
              </a:rPr>
              <a:t>Student Name: </a:t>
            </a:r>
            <a:r>
              <a:rPr lang="en-US" sz="1500" b="1" dirty="0">
                <a:solidFill>
                  <a:srgbClr val="FFFFFF"/>
                </a:solidFill>
                <a:latin typeface="Calibri" pitchFamily="34" charset="0"/>
                <a:ea typeface="Calibri" pitchFamily="34" charset="-122"/>
                <a:cs typeface="Calibri" pitchFamily="34" charset="-120"/>
              </a:rPr>
              <a:t>Varun Mundepi</a:t>
            </a:r>
            <a:endParaRPr lang="en-US" sz="1500" dirty="0"/>
          </a:p>
          <a:p>
            <a:pPr marL="0" indent="0">
              <a:spcAft>
                <a:spcPts val="400"/>
              </a:spcAft>
              <a:buNone/>
            </a:pPr>
            <a:r>
              <a:rPr lang="en-US" sz="1500" dirty="0">
                <a:solidFill>
                  <a:srgbClr val="9DB7C1"/>
                </a:solidFill>
                <a:latin typeface="Calibri" pitchFamily="34" charset="0"/>
                <a:ea typeface="Calibri" pitchFamily="34" charset="-122"/>
                <a:cs typeface="Calibri" pitchFamily="34" charset="-120"/>
              </a:rPr>
              <a:t>College: </a:t>
            </a:r>
            <a:r>
              <a:rPr lang="en-US" sz="1500" b="1" dirty="0">
                <a:solidFill>
                  <a:srgbClr val="FFFFFF"/>
                </a:solidFill>
                <a:latin typeface="Calibri" pitchFamily="34" charset="0"/>
                <a:ea typeface="Calibri" pitchFamily="34" charset="-122"/>
                <a:cs typeface="Calibri" pitchFamily="34" charset="-120"/>
              </a:rPr>
              <a:t>THDC-Institute Of Hydro Power Engineering And Technology</a:t>
            </a:r>
            <a:endParaRPr lang="en-US" sz="1500" dirty="0"/>
          </a:p>
        </p:txBody>
      </p:sp>
      <p:graphicFrame>
        <p:nvGraphicFramePr>
          <p:cNvPr id="30" name="Chart 0"/>
          <p:cNvGraphicFramePr/>
          <p:nvPr/>
        </p:nvGraphicFramePr>
        <p:xfrm>
          <a:off x="8138160" y="640080"/>
          <a:ext cx="36576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31" name="Text 28"/>
          <p:cNvSpPr txBox="1"/>
          <p:nvPr/>
        </p:nvSpPr>
        <p:spPr>
          <a:xfrm>
            <a:off x="9052560" y="1965960"/>
            <a:ext cx="1828800" cy="64008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AQI</a:t>
            </a:r>
            <a:endParaRPr lang="en-US" sz="4000" dirty="0"/>
          </a:p>
        </p:txBody>
      </p:sp>
      <p:sp>
        <p:nvSpPr>
          <p:cNvPr id="32" name="Text 29"/>
          <p:cNvSpPr txBox="1"/>
          <p:nvPr/>
        </p:nvSpPr>
        <p:spPr>
          <a:xfrm>
            <a:off x="9052560" y="2606040"/>
            <a:ext cx="1828800" cy="274320"/>
          </a:xfrm>
          <a:prstGeom prst="rect">
            <a:avLst/>
          </a:prstGeom>
          <a:noFill/>
          <a:ln/>
        </p:spPr>
        <p:txBody>
          <a:bodyPr wrap="square" lIns="0" tIns="0" rIns="0" bIns="0" rtlCol="0" anchor="t"/>
          <a:lstStyle/>
          <a:p>
            <a:pPr marL="0" indent="0" algn="ctr">
              <a:buNone/>
            </a:pPr>
            <a:r>
              <a:rPr lang="en-US" sz="1200" dirty="0">
                <a:solidFill>
                  <a:srgbClr val="9DB7C1"/>
                </a:solidFill>
                <a:latin typeface="Calibri" pitchFamily="34" charset="0"/>
                <a:ea typeface="Calibri" pitchFamily="34" charset="-122"/>
                <a:cs typeface="Calibri" pitchFamily="34" charset="-120"/>
              </a:rPr>
              <a:t>US EPA scale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01 · OBSERVE THE PROBLEM</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Problem: Making Air Quality Understandable</a:t>
            </a:r>
            <a:endParaRPr lang="en-US" sz="3200" dirty="0"/>
          </a:p>
        </p:txBody>
      </p:sp>
      <p:sp>
        <p:nvSpPr>
          <p:cNvPr id="5" name="Shape 2"/>
          <p:cNvSpPr/>
          <p:nvPr/>
        </p:nvSpPr>
        <p:spPr>
          <a:xfrm>
            <a:off x="548640" y="1600200"/>
            <a:ext cx="4937760" cy="530352"/>
          </a:xfrm>
          <a:prstGeom prst="roundRect">
            <a:avLst>
              <a:gd name="adj" fmla="val 20690"/>
            </a:avLst>
          </a:prstGeom>
          <a:solidFill>
            <a:srgbClr val="12303D"/>
          </a:solidFill>
          <a:ln w="9525">
            <a:solidFill>
              <a:srgbClr val="23515F"/>
            </a:solidFill>
            <a:prstDash val="solid"/>
          </a:ln>
        </p:spPr>
      </p:sp>
      <p:sp>
        <p:nvSpPr>
          <p:cNvPr id="6" name="Text 3"/>
          <p:cNvSpPr txBox="1"/>
          <p:nvPr/>
        </p:nvSpPr>
        <p:spPr>
          <a:xfrm>
            <a:off x="548640" y="1600200"/>
            <a:ext cx="493776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Real Environment</a:t>
            </a:r>
            <a:endParaRPr lang="en-US" sz="1500" dirty="0"/>
          </a:p>
        </p:txBody>
      </p:sp>
      <p:sp>
        <p:nvSpPr>
          <p:cNvPr id="7" name="Shape 4"/>
          <p:cNvSpPr/>
          <p:nvPr/>
        </p:nvSpPr>
        <p:spPr>
          <a:xfrm>
            <a:off x="3017520" y="2157984"/>
            <a:ext cx="0" cy="201168"/>
          </a:xfrm>
          <a:prstGeom prst="line">
            <a:avLst/>
          </a:prstGeom>
          <a:noFill/>
          <a:ln w="25400">
            <a:solidFill>
              <a:srgbClr val="9DB7C1"/>
            </a:solidFill>
            <a:prstDash val="solid"/>
            <a:tailEnd type="triangle"/>
          </a:ln>
        </p:spPr>
      </p:sp>
      <p:sp>
        <p:nvSpPr>
          <p:cNvPr id="8" name="Shape 5"/>
          <p:cNvSpPr/>
          <p:nvPr/>
        </p:nvSpPr>
        <p:spPr>
          <a:xfrm>
            <a:off x="548640" y="2386584"/>
            <a:ext cx="4937760" cy="530352"/>
          </a:xfrm>
          <a:prstGeom prst="roundRect">
            <a:avLst>
              <a:gd name="adj" fmla="val 20690"/>
            </a:avLst>
          </a:prstGeom>
          <a:solidFill>
            <a:srgbClr val="12303D"/>
          </a:solidFill>
          <a:ln w="9525">
            <a:solidFill>
              <a:srgbClr val="23515F"/>
            </a:solidFill>
            <a:prstDash val="solid"/>
          </a:ln>
        </p:spPr>
      </p:sp>
      <p:sp>
        <p:nvSpPr>
          <p:cNvPr id="9" name="Text 6"/>
          <p:cNvSpPr txBox="1"/>
          <p:nvPr/>
        </p:nvSpPr>
        <p:spPr>
          <a:xfrm>
            <a:off x="548640" y="2386584"/>
            <a:ext cx="493776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Air Pollution</a:t>
            </a:r>
            <a:endParaRPr lang="en-US" sz="1500" dirty="0"/>
          </a:p>
        </p:txBody>
      </p:sp>
      <p:sp>
        <p:nvSpPr>
          <p:cNvPr id="10" name="Shape 7"/>
          <p:cNvSpPr/>
          <p:nvPr/>
        </p:nvSpPr>
        <p:spPr>
          <a:xfrm>
            <a:off x="3017520" y="2944368"/>
            <a:ext cx="0" cy="201168"/>
          </a:xfrm>
          <a:prstGeom prst="line">
            <a:avLst/>
          </a:prstGeom>
          <a:noFill/>
          <a:ln w="25400">
            <a:solidFill>
              <a:srgbClr val="9DB7C1"/>
            </a:solidFill>
            <a:prstDash val="solid"/>
            <a:tailEnd type="triangle"/>
          </a:ln>
        </p:spPr>
      </p:sp>
      <p:sp>
        <p:nvSpPr>
          <p:cNvPr id="11" name="Shape 8"/>
          <p:cNvSpPr/>
          <p:nvPr/>
        </p:nvSpPr>
        <p:spPr>
          <a:xfrm>
            <a:off x="548640" y="3172968"/>
            <a:ext cx="4937760" cy="530352"/>
          </a:xfrm>
          <a:prstGeom prst="roundRect">
            <a:avLst>
              <a:gd name="adj" fmla="val 20690"/>
            </a:avLst>
          </a:prstGeom>
          <a:solidFill>
            <a:srgbClr val="12303D"/>
          </a:solidFill>
          <a:ln w="9525">
            <a:solidFill>
              <a:srgbClr val="23515F"/>
            </a:solidFill>
            <a:prstDash val="solid"/>
          </a:ln>
        </p:spPr>
      </p:sp>
      <p:sp>
        <p:nvSpPr>
          <p:cNvPr id="12" name="Text 9"/>
          <p:cNvSpPr txBox="1"/>
          <p:nvPr/>
        </p:nvSpPr>
        <p:spPr>
          <a:xfrm>
            <a:off x="548640" y="3172968"/>
            <a:ext cx="493776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Sensor Measurements</a:t>
            </a:r>
            <a:endParaRPr lang="en-US" sz="1500" dirty="0"/>
          </a:p>
        </p:txBody>
      </p:sp>
      <p:sp>
        <p:nvSpPr>
          <p:cNvPr id="13" name="Shape 10"/>
          <p:cNvSpPr/>
          <p:nvPr/>
        </p:nvSpPr>
        <p:spPr>
          <a:xfrm>
            <a:off x="3017520" y="3730752"/>
            <a:ext cx="0" cy="201168"/>
          </a:xfrm>
          <a:prstGeom prst="line">
            <a:avLst/>
          </a:prstGeom>
          <a:noFill/>
          <a:ln w="25400">
            <a:solidFill>
              <a:srgbClr val="9DB7C1"/>
            </a:solidFill>
            <a:prstDash val="solid"/>
            <a:tailEnd type="triangle"/>
          </a:ln>
        </p:spPr>
      </p:sp>
      <p:sp>
        <p:nvSpPr>
          <p:cNvPr id="14" name="Shape 11"/>
          <p:cNvSpPr/>
          <p:nvPr/>
        </p:nvSpPr>
        <p:spPr>
          <a:xfrm>
            <a:off x="548640" y="3959352"/>
            <a:ext cx="4937760" cy="530352"/>
          </a:xfrm>
          <a:prstGeom prst="roundRect">
            <a:avLst>
              <a:gd name="adj" fmla="val 20690"/>
            </a:avLst>
          </a:prstGeom>
          <a:solidFill>
            <a:srgbClr val="12303D"/>
          </a:solidFill>
          <a:ln w="9525">
            <a:solidFill>
              <a:srgbClr val="23515F"/>
            </a:solidFill>
            <a:prstDash val="solid"/>
          </a:ln>
        </p:spPr>
      </p:sp>
      <p:sp>
        <p:nvSpPr>
          <p:cNvPr id="15" name="Text 12"/>
          <p:cNvSpPr txBox="1"/>
          <p:nvPr/>
        </p:nvSpPr>
        <p:spPr>
          <a:xfrm>
            <a:off x="548640" y="3959352"/>
            <a:ext cx="493776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Complex Environmental Data</a:t>
            </a:r>
            <a:endParaRPr lang="en-US" sz="1500" dirty="0"/>
          </a:p>
        </p:txBody>
      </p:sp>
      <p:sp>
        <p:nvSpPr>
          <p:cNvPr id="16" name="Shape 13"/>
          <p:cNvSpPr/>
          <p:nvPr/>
        </p:nvSpPr>
        <p:spPr>
          <a:xfrm>
            <a:off x="3017520" y="4517136"/>
            <a:ext cx="0" cy="201168"/>
          </a:xfrm>
          <a:prstGeom prst="line">
            <a:avLst/>
          </a:prstGeom>
          <a:noFill/>
          <a:ln w="25400">
            <a:solidFill>
              <a:srgbClr val="9DB7C1"/>
            </a:solidFill>
            <a:prstDash val="solid"/>
            <a:tailEnd type="triangle"/>
          </a:ln>
        </p:spPr>
      </p:sp>
      <p:sp>
        <p:nvSpPr>
          <p:cNvPr id="17" name="Shape 14"/>
          <p:cNvSpPr/>
          <p:nvPr/>
        </p:nvSpPr>
        <p:spPr>
          <a:xfrm>
            <a:off x="548640" y="4745736"/>
            <a:ext cx="4937760" cy="530352"/>
          </a:xfrm>
          <a:prstGeom prst="roundRect">
            <a:avLst>
              <a:gd name="adj" fmla="val 20690"/>
            </a:avLst>
          </a:prstGeom>
          <a:solidFill>
            <a:srgbClr val="12303D"/>
          </a:solidFill>
          <a:ln w="22225">
            <a:solidFill>
              <a:srgbClr val="FB923C"/>
            </a:solidFill>
            <a:prstDash val="solid"/>
          </a:ln>
        </p:spPr>
      </p:sp>
      <p:sp>
        <p:nvSpPr>
          <p:cNvPr id="18" name="Text 15"/>
          <p:cNvSpPr txBox="1"/>
          <p:nvPr/>
        </p:nvSpPr>
        <p:spPr>
          <a:xfrm>
            <a:off x="548640" y="4745736"/>
            <a:ext cx="4937760"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Information Gap</a:t>
            </a:r>
            <a:endParaRPr lang="en-US" sz="1500" dirty="0"/>
          </a:p>
        </p:txBody>
      </p:sp>
      <p:sp>
        <p:nvSpPr>
          <p:cNvPr id="19" name="Shape 16"/>
          <p:cNvSpPr/>
          <p:nvPr/>
        </p:nvSpPr>
        <p:spPr>
          <a:xfrm>
            <a:off x="3017520" y="5303520"/>
            <a:ext cx="0" cy="201168"/>
          </a:xfrm>
          <a:prstGeom prst="line">
            <a:avLst/>
          </a:prstGeom>
          <a:noFill/>
          <a:ln w="25400">
            <a:solidFill>
              <a:srgbClr val="9DB7C1"/>
            </a:solidFill>
            <a:prstDash val="solid"/>
            <a:tailEnd type="triangle"/>
          </a:ln>
        </p:spPr>
      </p:sp>
      <p:sp>
        <p:nvSpPr>
          <p:cNvPr id="20" name="Shape 17"/>
          <p:cNvSpPr/>
          <p:nvPr/>
        </p:nvSpPr>
        <p:spPr>
          <a:xfrm>
            <a:off x="548640" y="5532120"/>
            <a:ext cx="4937760" cy="530352"/>
          </a:xfrm>
          <a:prstGeom prst="roundRect">
            <a:avLst>
              <a:gd name="adj" fmla="val 20690"/>
            </a:avLst>
          </a:prstGeom>
          <a:solidFill>
            <a:srgbClr val="2DD4BF"/>
          </a:solidFill>
          <a:ln w="9525">
            <a:solidFill>
              <a:srgbClr val="2DD4BF"/>
            </a:solidFill>
            <a:prstDash val="solid"/>
          </a:ln>
        </p:spPr>
      </p:sp>
      <p:sp>
        <p:nvSpPr>
          <p:cNvPr id="21" name="Text 18"/>
          <p:cNvSpPr txBox="1"/>
          <p:nvPr/>
        </p:nvSpPr>
        <p:spPr>
          <a:xfrm>
            <a:off x="548640" y="5532120"/>
            <a:ext cx="4937760" cy="530352"/>
          </a:xfrm>
          <a:prstGeom prst="rect">
            <a:avLst/>
          </a:prstGeom>
          <a:noFill/>
          <a:ln/>
        </p:spPr>
        <p:txBody>
          <a:bodyPr wrap="square" lIns="0" tIns="0" rIns="0" bIns="0" rtlCol="0" anchor="ctr"/>
          <a:lstStyle/>
          <a:p>
            <a:pPr marL="0" indent="0" algn="ctr">
              <a:buNone/>
            </a:pPr>
            <a:r>
              <a:rPr lang="en-US" sz="1500" b="1" dirty="0">
                <a:solidFill>
                  <a:srgbClr val="0A1B26"/>
                </a:solidFill>
                <a:latin typeface="Calibri" pitchFamily="34" charset="0"/>
                <a:ea typeface="Calibri" pitchFamily="34" charset="-122"/>
                <a:cs typeface="Calibri" pitchFamily="34" charset="-120"/>
              </a:rPr>
              <a:t>Need for Accessible AI-Assisted Interpretation</a:t>
            </a:r>
            <a:endParaRPr lang="en-US" sz="1500" dirty="0"/>
          </a:p>
        </p:txBody>
      </p:sp>
      <p:sp>
        <p:nvSpPr>
          <p:cNvPr id="22" name="Shape 19"/>
          <p:cNvSpPr/>
          <p:nvPr/>
        </p:nvSpPr>
        <p:spPr>
          <a:xfrm>
            <a:off x="6035040" y="1600200"/>
            <a:ext cx="5605272" cy="822960"/>
          </a:xfrm>
          <a:prstGeom prst="roundRect">
            <a:avLst>
              <a:gd name="adj" fmla="val 13333"/>
            </a:avLst>
          </a:prstGeom>
          <a:solidFill>
            <a:srgbClr val="12303D"/>
          </a:solidFill>
          <a:ln w="9525">
            <a:solidFill>
              <a:srgbClr val="23515F"/>
            </a:solidFill>
            <a:prstDash val="solid"/>
          </a:ln>
        </p:spPr>
      </p:sp>
      <p:sp>
        <p:nvSpPr>
          <p:cNvPr id="23" name="Shape 20"/>
          <p:cNvSpPr/>
          <p:nvPr/>
        </p:nvSpPr>
        <p:spPr>
          <a:xfrm>
            <a:off x="6217920" y="1746504"/>
            <a:ext cx="530352" cy="530352"/>
          </a:xfrm>
          <a:prstGeom prst="ellipse">
            <a:avLst/>
          </a:prstGeom>
          <a:solidFill>
            <a:srgbClr val="0A1B26"/>
          </a:solidFill>
          <a:ln w="12700">
            <a:solidFill>
              <a:srgbClr val="0A1B26"/>
            </a:solidFill>
            <a:prstDash val="solid"/>
          </a:ln>
        </p:spPr>
      </p:sp>
      <p:pic>
        <p:nvPicPr>
          <p:cNvPr id="24" name="Image 0" descr="preencoded.png"/>
          <p:cNvPicPr>
            <a:picLocks noChangeAspect="1"/>
          </p:cNvPicPr>
          <p:nvPr/>
        </p:nvPicPr>
        <p:blipFill>
          <a:blip r:embed="rId3"/>
          <a:stretch>
            <a:fillRect/>
          </a:stretch>
        </p:blipFill>
        <p:spPr>
          <a:xfrm>
            <a:off x="6350508" y="1879092"/>
            <a:ext cx="265176" cy="265176"/>
          </a:xfrm>
          <a:prstGeom prst="rect">
            <a:avLst/>
          </a:prstGeom>
        </p:spPr>
      </p:pic>
      <p:sp>
        <p:nvSpPr>
          <p:cNvPr id="25" name="Text 21"/>
          <p:cNvSpPr txBox="1"/>
          <p:nvPr/>
        </p:nvSpPr>
        <p:spPr>
          <a:xfrm>
            <a:off x="6949440" y="1600200"/>
            <a:ext cx="4526280" cy="8229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Air quality changes continuously</a:t>
            </a:r>
            <a:endParaRPr lang="en-US" sz="1600" dirty="0"/>
          </a:p>
        </p:txBody>
      </p:sp>
      <p:sp>
        <p:nvSpPr>
          <p:cNvPr id="26" name="Shape 22"/>
          <p:cNvSpPr/>
          <p:nvPr/>
        </p:nvSpPr>
        <p:spPr>
          <a:xfrm>
            <a:off x="6035040" y="2532888"/>
            <a:ext cx="5605272" cy="822960"/>
          </a:xfrm>
          <a:prstGeom prst="roundRect">
            <a:avLst>
              <a:gd name="adj" fmla="val 13333"/>
            </a:avLst>
          </a:prstGeom>
          <a:solidFill>
            <a:srgbClr val="12303D"/>
          </a:solidFill>
          <a:ln w="9525">
            <a:solidFill>
              <a:srgbClr val="23515F"/>
            </a:solidFill>
            <a:prstDash val="solid"/>
          </a:ln>
        </p:spPr>
      </p:sp>
      <p:sp>
        <p:nvSpPr>
          <p:cNvPr id="27" name="Shape 23"/>
          <p:cNvSpPr/>
          <p:nvPr/>
        </p:nvSpPr>
        <p:spPr>
          <a:xfrm>
            <a:off x="6217920" y="2679192"/>
            <a:ext cx="530352" cy="530352"/>
          </a:xfrm>
          <a:prstGeom prst="ellipse">
            <a:avLst/>
          </a:prstGeom>
          <a:solidFill>
            <a:srgbClr val="0A1B26"/>
          </a:solidFill>
          <a:ln w="12700">
            <a:solidFill>
              <a:srgbClr val="0A1B26"/>
            </a:solidFill>
            <a:prstDash val="solid"/>
          </a:ln>
        </p:spPr>
      </p:sp>
      <p:pic>
        <p:nvPicPr>
          <p:cNvPr id="28" name="Image 1" descr="preencoded.png"/>
          <p:cNvPicPr>
            <a:picLocks noChangeAspect="1"/>
          </p:cNvPicPr>
          <p:nvPr/>
        </p:nvPicPr>
        <p:blipFill>
          <a:blip r:embed="rId4"/>
          <a:stretch>
            <a:fillRect/>
          </a:stretch>
        </p:blipFill>
        <p:spPr>
          <a:xfrm>
            <a:off x="6350508" y="2811780"/>
            <a:ext cx="265176" cy="265176"/>
          </a:xfrm>
          <a:prstGeom prst="rect">
            <a:avLst/>
          </a:prstGeom>
        </p:spPr>
      </p:pic>
      <p:sp>
        <p:nvSpPr>
          <p:cNvPr id="29" name="Text 24"/>
          <p:cNvSpPr txBox="1"/>
          <p:nvPr/>
        </p:nvSpPr>
        <p:spPr>
          <a:xfrm>
            <a:off x="6949440" y="2532888"/>
            <a:ext cx="4526280" cy="8229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Multiple pollutants influence air quality</a:t>
            </a:r>
            <a:endParaRPr lang="en-US" sz="1600" dirty="0"/>
          </a:p>
        </p:txBody>
      </p:sp>
      <p:sp>
        <p:nvSpPr>
          <p:cNvPr id="30" name="Shape 25"/>
          <p:cNvSpPr/>
          <p:nvPr/>
        </p:nvSpPr>
        <p:spPr>
          <a:xfrm>
            <a:off x="6035040" y="3465576"/>
            <a:ext cx="5605272" cy="822960"/>
          </a:xfrm>
          <a:prstGeom prst="roundRect">
            <a:avLst>
              <a:gd name="adj" fmla="val 13333"/>
            </a:avLst>
          </a:prstGeom>
          <a:solidFill>
            <a:srgbClr val="12303D"/>
          </a:solidFill>
          <a:ln w="9525">
            <a:solidFill>
              <a:srgbClr val="23515F"/>
            </a:solidFill>
            <a:prstDash val="solid"/>
          </a:ln>
        </p:spPr>
      </p:sp>
      <p:sp>
        <p:nvSpPr>
          <p:cNvPr id="31" name="Shape 26"/>
          <p:cNvSpPr/>
          <p:nvPr/>
        </p:nvSpPr>
        <p:spPr>
          <a:xfrm>
            <a:off x="6217920" y="3611880"/>
            <a:ext cx="530352" cy="530352"/>
          </a:xfrm>
          <a:prstGeom prst="ellipse">
            <a:avLst/>
          </a:prstGeom>
          <a:solidFill>
            <a:srgbClr val="0A1B26"/>
          </a:solidFill>
          <a:ln w="12700">
            <a:solidFill>
              <a:srgbClr val="0A1B26"/>
            </a:solidFill>
            <a:prstDash val="solid"/>
          </a:ln>
        </p:spPr>
      </p:sp>
      <p:pic>
        <p:nvPicPr>
          <p:cNvPr id="32" name="Image 2" descr="preencoded.png"/>
          <p:cNvPicPr>
            <a:picLocks noChangeAspect="1"/>
          </p:cNvPicPr>
          <p:nvPr/>
        </p:nvPicPr>
        <p:blipFill>
          <a:blip r:embed="rId5"/>
          <a:stretch>
            <a:fillRect/>
          </a:stretch>
        </p:blipFill>
        <p:spPr>
          <a:xfrm>
            <a:off x="6350508" y="3744468"/>
            <a:ext cx="265176" cy="265176"/>
          </a:xfrm>
          <a:prstGeom prst="rect">
            <a:avLst/>
          </a:prstGeom>
        </p:spPr>
      </p:pic>
      <p:sp>
        <p:nvSpPr>
          <p:cNvPr id="33" name="Text 27"/>
          <p:cNvSpPr txBox="1"/>
          <p:nvPr/>
        </p:nvSpPr>
        <p:spPr>
          <a:xfrm>
            <a:off x="6949440" y="3465576"/>
            <a:ext cx="4526280" cy="8229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Measurements can be hard for ordinary users to interpret</a:t>
            </a:r>
            <a:endParaRPr lang="en-US" sz="1600" dirty="0"/>
          </a:p>
        </p:txBody>
      </p:sp>
      <p:sp>
        <p:nvSpPr>
          <p:cNvPr id="34" name="Shape 28"/>
          <p:cNvSpPr/>
          <p:nvPr/>
        </p:nvSpPr>
        <p:spPr>
          <a:xfrm>
            <a:off x="6035040" y="4398264"/>
            <a:ext cx="5605272" cy="822960"/>
          </a:xfrm>
          <a:prstGeom prst="roundRect">
            <a:avLst>
              <a:gd name="adj" fmla="val 13333"/>
            </a:avLst>
          </a:prstGeom>
          <a:solidFill>
            <a:srgbClr val="12303D"/>
          </a:solidFill>
          <a:ln w="9525">
            <a:solidFill>
              <a:srgbClr val="23515F"/>
            </a:solidFill>
            <a:prstDash val="solid"/>
          </a:ln>
        </p:spPr>
      </p:sp>
      <p:sp>
        <p:nvSpPr>
          <p:cNvPr id="35" name="Shape 29"/>
          <p:cNvSpPr/>
          <p:nvPr/>
        </p:nvSpPr>
        <p:spPr>
          <a:xfrm>
            <a:off x="6217920" y="4544568"/>
            <a:ext cx="530352" cy="530352"/>
          </a:xfrm>
          <a:prstGeom prst="ellipse">
            <a:avLst/>
          </a:prstGeom>
          <a:solidFill>
            <a:srgbClr val="0A1B26"/>
          </a:solidFill>
          <a:ln w="12700">
            <a:solidFill>
              <a:srgbClr val="0A1B26"/>
            </a:solidFill>
            <a:prstDash val="solid"/>
          </a:ln>
        </p:spPr>
      </p:sp>
      <p:pic>
        <p:nvPicPr>
          <p:cNvPr id="36" name="Image 3" descr="preencoded.png"/>
          <p:cNvPicPr>
            <a:picLocks noChangeAspect="1"/>
          </p:cNvPicPr>
          <p:nvPr/>
        </p:nvPicPr>
        <p:blipFill>
          <a:blip r:embed="rId6"/>
          <a:stretch>
            <a:fillRect/>
          </a:stretch>
        </p:blipFill>
        <p:spPr>
          <a:xfrm>
            <a:off x="6350508" y="4677156"/>
            <a:ext cx="265176" cy="265176"/>
          </a:xfrm>
          <a:prstGeom prst="rect">
            <a:avLst/>
          </a:prstGeom>
        </p:spPr>
      </p:pic>
      <p:sp>
        <p:nvSpPr>
          <p:cNvPr id="37" name="Text 30"/>
          <p:cNvSpPr txBox="1"/>
          <p:nvPr/>
        </p:nvSpPr>
        <p:spPr>
          <a:xfrm>
            <a:off x="6949440" y="4398264"/>
            <a:ext cx="4526280" cy="8229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Information may be spread across different monitoring sources</a:t>
            </a:r>
            <a:endParaRPr lang="en-US" sz="1600" dirty="0"/>
          </a:p>
        </p:txBody>
      </p:sp>
      <p:sp>
        <p:nvSpPr>
          <p:cNvPr id="38" name="Shape 31"/>
          <p:cNvSpPr/>
          <p:nvPr/>
        </p:nvSpPr>
        <p:spPr>
          <a:xfrm>
            <a:off x="6035040" y="5330952"/>
            <a:ext cx="5605272" cy="822960"/>
          </a:xfrm>
          <a:prstGeom prst="roundRect">
            <a:avLst>
              <a:gd name="adj" fmla="val 13333"/>
            </a:avLst>
          </a:prstGeom>
          <a:solidFill>
            <a:srgbClr val="12303D"/>
          </a:solidFill>
          <a:ln w="9525">
            <a:solidFill>
              <a:srgbClr val="23515F"/>
            </a:solidFill>
            <a:prstDash val="solid"/>
          </a:ln>
        </p:spPr>
      </p:sp>
      <p:sp>
        <p:nvSpPr>
          <p:cNvPr id="39" name="Shape 32"/>
          <p:cNvSpPr/>
          <p:nvPr/>
        </p:nvSpPr>
        <p:spPr>
          <a:xfrm>
            <a:off x="6217920" y="5477256"/>
            <a:ext cx="530352" cy="530352"/>
          </a:xfrm>
          <a:prstGeom prst="ellipse">
            <a:avLst/>
          </a:prstGeom>
          <a:solidFill>
            <a:srgbClr val="0A1B26"/>
          </a:solidFill>
          <a:ln w="12700">
            <a:solidFill>
              <a:srgbClr val="0A1B26"/>
            </a:solidFill>
            <a:prstDash val="solid"/>
          </a:ln>
        </p:spPr>
      </p:sp>
      <p:pic>
        <p:nvPicPr>
          <p:cNvPr id="40" name="Image 4" descr="preencoded.png"/>
          <p:cNvPicPr>
            <a:picLocks noChangeAspect="1"/>
          </p:cNvPicPr>
          <p:nvPr/>
        </p:nvPicPr>
        <p:blipFill>
          <a:blip r:embed="rId7"/>
          <a:stretch>
            <a:fillRect/>
          </a:stretch>
        </p:blipFill>
        <p:spPr>
          <a:xfrm>
            <a:off x="6350508" y="5609844"/>
            <a:ext cx="265176" cy="265176"/>
          </a:xfrm>
          <a:prstGeom prst="rect">
            <a:avLst/>
          </a:prstGeom>
        </p:spPr>
      </p:pic>
      <p:sp>
        <p:nvSpPr>
          <p:cNvPr id="41" name="Text 33"/>
          <p:cNvSpPr txBox="1"/>
          <p:nvPr/>
        </p:nvSpPr>
        <p:spPr>
          <a:xfrm>
            <a:off x="6949440" y="5330952"/>
            <a:ext cx="4526280" cy="8229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Users need understandable, real-time information with context</a:t>
            </a:r>
            <a:endParaRPr lang="en-US" sz="16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02 · EMPATHIZE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Understanding the Users</a:t>
            </a:r>
            <a:endParaRPr lang="en-US" sz="3200" dirty="0"/>
          </a:p>
        </p:txBody>
      </p:sp>
      <p:sp>
        <p:nvSpPr>
          <p:cNvPr id="5" name="Text 2"/>
          <p:cNvSpPr txBox="1"/>
          <p:nvPr/>
        </p:nvSpPr>
        <p:spPr>
          <a:xfrm>
            <a:off x="548640" y="1508760"/>
            <a:ext cx="4572000" cy="274320"/>
          </a:xfrm>
          <a:prstGeom prst="rect">
            <a:avLst/>
          </a:prstGeom>
          <a:noFill/>
          <a:ln/>
        </p:spPr>
        <p:txBody>
          <a:bodyPr wrap="square" lIns="0" tIns="0" rIns="0" bIns="0" rtlCol="0" anchor="t"/>
          <a:lstStyle/>
          <a:p>
            <a:pPr marL="0" indent="0">
              <a:buNone/>
            </a:pPr>
            <a:r>
              <a:rPr lang="en-US" sz="1200" b="1" kern="0" spc="200" dirty="0">
                <a:solidFill>
                  <a:srgbClr val="9DB7C1"/>
                </a:solidFill>
                <a:latin typeface="Calibri" pitchFamily="34" charset="0"/>
                <a:ea typeface="Calibri" pitchFamily="34" charset="-122"/>
                <a:cs typeface="Calibri" pitchFamily="34" charset="-120"/>
              </a:rPr>
              <a:t>WHO IS AFFECTED</a:t>
            </a:r>
            <a:endParaRPr lang="en-US" sz="1200" dirty="0"/>
          </a:p>
        </p:txBody>
      </p:sp>
      <p:sp>
        <p:nvSpPr>
          <p:cNvPr id="6" name="Text 3"/>
          <p:cNvSpPr txBox="1"/>
          <p:nvPr/>
        </p:nvSpPr>
        <p:spPr>
          <a:xfrm>
            <a:off x="6035040" y="1508760"/>
            <a:ext cx="4572000" cy="274320"/>
          </a:xfrm>
          <a:prstGeom prst="rect">
            <a:avLst/>
          </a:prstGeom>
          <a:noFill/>
          <a:ln/>
        </p:spPr>
        <p:txBody>
          <a:bodyPr wrap="square" lIns="0" tIns="0" rIns="0" bIns="0" rtlCol="0" anchor="t"/>
          <a:lstStyle/>
          <a:p>
            <a:pPr marL="0" indent="0">
              <a:buNone/>
            </a:pPr>
            <a:r>
              <a:rPr lang="en-US" sz="1200" b="1" kern="0" spc="200" dirty="0">
                <a:solidFill>
                  <a:srgbClr val="9DB7C1"/>
                </a:solidFill>
                <a:latin typeface="Calibri" pitchFamily="34" charset="0"/>
                <a:ea typeface="Calibri" pitchFamily="34" charset="-122"/>
                <a:cs typeface="Calibri" pitchFamily="34" charset="-120"/>
              </a:rPr>
              <a:t>WHAT THEY WANT TO KNOW</a:t>
            </a:r>
            <a:endParaRPr lang="en-US" sz="1200" dirty="0"/>
          </a:p>
        </p:txBody>
      </p:sp>
      <p:sp>
        <p:nvSpPr>
          <p:cNvPr id="7" name="Shape 4"/>
          <p:cNvSpPr/>
          <p:nvPr/>
        </p:nvSpPr>
        <p:spPr>
          <a:xfrm>
            <a:off x="548640" y="1874520"/>
            <a:ext cx="2514600" cy="1280160"/>
          </a:xfrm>
          <a:prstGeom prst="roundRect">
            <a:avLst>
              <a:gd name="adj" fmla="val 8571"/>
            </a:avLst>
          </a:prstGeom>
          <a:solidFill>
            <a:srgbClr val="12303D"/>
          </a:solidFill>
          <a:ln w="9525">
            <a:solidFill>
              <a:srgbClr val="23515F"/>
            </a:solidFill>
            <a:prstDash val="solid"/>
          </a:ln>
        </p:spPr>
      </p:sp>
      <p:sp>
        <p:nvSpPr>
          <p:cNvPr id="8" name="Shape 5"/>
          <p:cNvSpPr/>
          <p:nvPr/>
        </p:nvSpPr>
        <p:spPr>
          <a:xfrm>
            <a:off x="713232" y="2011680"/>
            <a:ext cx="502920" cy="502920"/>
          </a:xfrm>
          <a:prstGeom prst="ellipse">
            <a:avLst/>
          </a:prstGeom>
          <a:solidFill>
            <a:srgbClr val="0A1B26"/>
          </a:solidFill>
          <a:ln w="12700">
            <a:solidFill>
              <a:srgbClr val="0A1B26"/>
            </a:solidFill>
            <a:prstDash val="solid"/>
          </a:ln>
        </p:spPr>
      </p:sp>
      <p:pic>
        <p:nvPicPr>
          <p:cNvPr id="9" name="Image 0" descr="preencoded.png"/>
          <p:cNvPicPr>
            <a:picLocks noChangeAspect="1"/>
          </p:cNvPicPr>
          <p:nvPr/>
        </p:nvPicPr>
        <p:blipFill>
          <a:blip r:embed="rId3"/>
          <a:stretch>
            <a:fillRect/>
          </a:stretch>
        </p:blipFill>
        <p:spPr>
          <a:xfrm>
            <a:off x="838962" y="2137410"/>
            <a:ext cx="251460" cy="251460"/>
          </a:xfrm>
          <a:prstGeom prst="rect">
            <a:avLst/>
          </a:prstGeom>
        </p:spPr>
      </p:pic>
      <p:sp>
        <p:nvSpPr>
          <p:cNvPr id="10" name="Text 6"/>
          <p:cNvSpPr txBox="1"/>
          <p:nvPr/>
        </p:nvSpPr>
        <p:spPr>
          <a:xfrm>
            <a:off x="713232" y="2606040"/>
            <a:ext cx="2194560" cy="45720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Citizens</a:t>
            </a:r>
            <a:endParaRPr lang="en-US" sz="1400" dirty="0"/>
          </a:p>
        </p:txBody>
      </p:sp>
      <p:sp>
        <p:nvSpPr>
          <p:cNvPr id="11" name="Shape 7"/>
          <p:cNvSpPr/>
          <p:nvPr/>
        </p:nvSpPr>
        <p:spPr>
          <a:xfrm>
            <a:off x="3246120" y="1874520"/>
            <a:ext cx="2514600" cy="1280160"/>
          </a:xfrm>
          <a:prstGeom prst="roundRect">
            <a:avLst>
              <a:gd name="adj" fmla="val 8571"/>
            </a:avLst>
          </a:prstGeom>
          <a:solidFill>
            <a:srgbClr val="12303D"/>
          </a:solidFill>
          <a:ln w="9525">
            <a:solidFill>
              <a:srgbClr val="23515F"/>
            </a:solidFill>
            <a:prstDash val="solid"/>
          </a:ln>
        </p:spPr>
      </p:sp>
      <p:sp>
        <p:nvSpPr>
          <p:cNvPr id="12" name="Shape 8"/>
          <p:cNvSpPr/>
          <p:nvPr/>
        </p:nvSpPr>
        <p:spPr>
          <a:xfrm>
            <a:off x="3410712" y="2011680"/>
            <a:ext cx="502920" cy="502920"/>
          </a:xfrm>
          <a:prstGeom prst="ellipse">
            <a:avLst/>
          </a:prstGeom>
          <a:solidFill>
            <a:srgbClr val="0A1B26"/>
          </a:solidFill>
          <a:ln w="12700">
            <a:solidFill>
              <a:srgbClr val="0A1B26"/>
            </a:solidFill>
            <a:prstDash val="solid"/>
          </a:ln>
        </p:spPr>
      </p:sp>
      <p:pic>
        <p:nvPicPr>
          <p:cNvPr id="13" name="Image 1" descr="preencoded.png"/>
          <p:cNvPicPr>
            <a:picLocks noChangeAspect="1"/>
          </p:cNvPicPr>
          <p:nvPr/>
        </p:nvPicPr>
        <p:blipFill>
          <a:blip r:embed="rId4"/>
          <a:stretch>
            <a:fillRect/>
          </a:stretch>
        </p:blipFill>
        <p:spPr>
          <a:xfrm>
            <a:off x="3536442" y="2137410"/>
            <a:ext cx="251460" cy="251460"/>
          </a:xfrm>
          <a:prstGeom prst="rect">
            <a:avLst/>
          </a:prstGeom>
        </p:spPr>
      </p:pic>
      <p:sp>
        <p:nvSpPr>
          <p:cNvPr id="14" name="Text 9"/>
          <p:cNvSpPr txBox="1"/>
          <p:nvPr/>
        </p:nvSpPr>
        <p:spPr>
          <a:xfrm>
            <a:off x="3410712" y="2606040"/>
            <a:ext cx="2194560" cy="45720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Students</a:t>
            </a:r>
            <a:endParaRPr lang="en-US" sz="1400" dirty="0"/>
          </a:p>
        </p:txBody>
      </p:sp>
      <p:sp>
        <p:nvSpPr>
          <p:cNvPr id="15" name="Shape 10"/>
          <p:cNvSpPr/>
          <p:nvPr/>
        </p:nvSpPr>
        <p:spPr>
          <a:xfrm>
            <a:off x="548640" y="3337560"/>
            <a:ext cx="2514600" cy="1280160"/>
          </a:xfrm>
          <a:prstGeom prst="roundRect">
            <a:avLst>
              <a:gd name="adj" fmla="val 8571"/>
            </a:avLst>
          </a:prstGeom>
          <a:solidFill>
            <a:srgbClr val="12303D"/>
          </a:solidFill>
          <a:ln w="9525">
            <a:solidFill>
              <a:srgbClr val="23515F"/>
            </a:solidFill>
            <a:prstDash val="solid"/>
          </a:ln>
        </p:spPr>
      </p:sp>
      <p:sp>
        <p:nvSpPr>
          <p:cNvPr id="16" name="Shape 11"/>
          <p:cNvSpPr/>
          <p:nvPr/>
        </p:nvSpPr>
        <p:spPr>
          <a:xfrm>
            <a:off x="713232" y="3474720"/>
            <a:ext cx="502920" cy="502920"/>
          </a:xfrm>
          <a:prstGeom prst="ellipse">
            <a:avLst/>
          </a:prstGeom>
          <a:solidFill>
            <a:srgbClr val="0A1B26"/>
          </a:solidFill>
          <a:ln w="12700">
            <a:solidFill>
              <a:srgbClr val="0A1B26"/>
            </a:solidFill>
            <a:prstDash val="solid"/>
          </a:ln>
        </p:spPr>
      </p:sp>
      <p:pic>
        <p:nvPicPr>
          <p:cNvPr id="17" name="Image 2" descr="preencoded.png"/>
          <p:cNvPicPr>
            <a:picLocks noChangeAspect="1"/>
          </p:cNvPicPr>
          <p:nvPr/>
        </p:nvPicPr>
        <p:blipFill>
          <a:blip r:embed="rId5"/>
          <a:stretch>
            <a:fillRect/>
          </a:stretch>
        </p:blipFill>
        <p:spPr>
          <a:xfrm>
            <a:off x="838962" y="3600450"/>
            <a:ext cx="251460" cy="251460"/>
          </a:xfrm>
          <a:prstGeom prst="rect">
            <a:avLst/>
          </a:prstGeom>
        </p:spPr>
      </p:pic>
      <p:sp>
        <p:nvSpPr>
          <p:cNvPr id="18" name="Text 12"/>
          <p:cNvSpPr txBox="1"/>
          <p:nvPr/>
        </p:nvSpPr>
        <p:spPr>
          <a:xfrm>
            <a:off x="713232" y="4069080"/>
            <a:ext cx="2194560" cy="45720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Urban communities</a:t>
            </a:r>
            <a:endParaRPr lang="en-US" sz="1400" dirty="0"/>
          </a:p>
        </p:txBody>
      </p:sp>
      <p:sp>
        <p:nvSpPr>
          <p:cNvPr id="19" name="Shape 13"/>
          <p:cNvSpPr/>
          <p:nvPr/>
        </p:nvSpPr>
        <p:spPr>
          <a:xfrm>
            <a:off x="3246120" y="3337560"/>
            <a:ext cx="2514600" cy="1280160"/>
          </a:xfrm>
          <a:prstGeom prst="roundRect">
            <a:avLst>
              <a:gd name="adj" fmla="val 8571"/>
            </a:avLst>
          </a:prstGeom>
          <a:solidFill>
            <a:srgbClr val="12303D"/>
          </a:solidFill>
          <a:ln w="9525">
            <a:solidFill>
              <a:srgbClr val="23515F"/>
            </a:solidFill>
            <a:prstDash val="solid"/>
          </a:ln>
        </p:spPr>
      </p:sp>
      <p:sp>
        <p:nvSpPr>
          <p:cNvPr id="20" name="Shape 14"/>
          <p:cNvSpPr/>
          <p:nvPr/>
        </p:nvSpPr>
        <p:spPr>
          <a:xfrm>
            <a:off x="3410712" y="3474720"/>
            <a:ext cx="502920" cy="502920"/>
          </a:xfrm>
          <a:prstGeom prst="ellipse">
            <a:avLst/>
          </a:prstGeom>
          <a:solidFill>
            <a:srgbClr val="0A1B26"/>
          </a:solidFill>
          <a:ln w="12700">
            <a:solidFill>
              <a:srgbClr val="0A1B26"/>
            </a:solidFill>
            <a:prstDash val="solid"/>
          </a:ln>
        </p:spPr>
      </p:sp>
      <p:pic>
        <p:nvPicPr>
          <p:cNvPr id="21" name="Image 3" descr="preencoded.png"/>
          <p:cNvPicPr>
            <a:picLocks noChangeAspect="1"/>
          </p:cNvPicPr>
          <p:nvPr/>
        </p:nvPicPr>
        <p:blipFill>
          <a:blip r:embed="rId6"/>
          <a:stretch>
            <a:fillRect/>
          </a:stretch>
        </p:blipFill>
        <p:spPr>
          <a:xfrm>
            <a:off x="3536442" y="3600450"/>
            <a:ext cx="251460" cy="251460"/>
          </a:xfrm>
          <a:prstGeom prst="rect">
            <a:avLst/>
          </a:prstGeom>
        </p:spPr>
      </p:pic>
      <p:sp>
        <p:nvSpPr>
          <p:cNvPr id="22" name="Text 15"/>
          <p:cNvSpPr txBox="1"/>
          <p:nvPr/>
        </p:nvSpPr>
        <p:spPr>
          <a:xfrm>
            <a:off x="3410712" y="4069080"/>
            <a:ext cx="2194560" cy="45720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Environment-conscious users</a:t>
            </a:r>
            <a:endParaRPr lang="en-US" sz="1400" dirty="0"/>
          </a:p>
        </p:txBody>
      </p:sp>
      <p:sp>
        <p:nvSpPr>
          <p:cNvPr id="23" name="Shape 16"/>
          <p:cNvSpPr/>
          <p:nvPr/>
        </p:nvSpPr>
        <p:spPr>
          <a:xfrm>
            <a:off x="548640" y="4800600"/>
            <a:ext cx="2514600" cy="1280160"/>
          </a:xfrm>
          <a:prstGeom prst="roundRect">
            <a:avLst>
              <a:gd name="adj" fmla="val 8571"/>
            </a:avLst>
          </a:prstGeom>
          <a:solidFill>
            <a:srgbClr val="12303D"/>
          </a:solidFill>
          <a:ln w="9525">
            <a:solidFill>
              <a:srgbClr val="23515F"/>
            </a:solidFill>
            <a:prstDash val="solid"/>
          </a:ln>
        </p:spPr>
      </p:sp>
      <p:sp>
        <p:nvSpPr>
          <p:cNvPr id="24" name="Shape 17"/>
          <p:cNvSpPr/>
          <p:nvPr/>
        </p:nvSpPr>
        <p:spPr>
          <a:xfrm>
            <a:off x="713232" y="4937760"/>
            <a:ext cx="502920" cy="502920"/>
          </a:xfrm>
          <a:prstGeom prst="ellipse">
            <a:avLst/>
          </a:prstGeom>
          <a:solidFill>
            <a:srgbClr val="0A1B26"/>
          </a:solidFill>
          <a:ln w="12700">
            <a:solidFill>
              <a:srgbClr val="0A1B26"/>
            </a:solidFill>
            <a:prstDash val="solid"/>
          </a:ln>
        </p:spPr>
      </p:sp>
      <p:pic>
        <p:nvPicPr>
          <p:cNvPr id="25" name="Image 4" descr="preencoded.png"/>
          <p:cNvPicPr>
            <a:picLocks noChangeAspect="1"/>
          </p:cNvPicPr>
          <p:nvPr/>
        </p:nvPicPr>
        <p:blipFill>
          <a:blip r:embed="rId7"/>
          <a:stretch>
            <a:fillRect/>
          </a:stretch>
        </p:blipFill>
        <p:spPr>
          <a:xfrm>
            <a:off x="838962" y="5063490"/>
            <a:ext cx="251460" cy="251460"/>
          </a:xfrm>
          <a:prstGeom prst="rect">
            <a:avLst/>
          </a:prstGeom>
        </p:spPr>
      </p:pic>
      <p:sp>
        <p:nvSpPr>
          <p:cNvPr id="26" name="Text 18"/>
          <p:cNvSpPr txBox="1"/>
          <p:nvPr/>
        </p:nvSpPr>
        <p:spPr>
          <a:xfrm>
            <a:off x="713232" y="5532120"/>
            <a:ext cx="2194560" cy="45720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Researchers / analysts</a:t>
            </a:r>
            <a:endParaRPr lang="en-US" sz="1400" dirty="0"/>
          </a:p>
        </p:txBody>
      </p:sp>
      <p:sp>
        <p:nvSpPr>
          <p:cNvPr id="27" name="Shape 19"/>
          <p:cNvSpPr/>
          <p:nvPr/>
        </p:nvSpPr>
        <p:spPr>
          <a:xfrm>
            <a:off x="3246120" y="4800600"/>
            <a:ext cx="2514600" cy="1280160"/>
          </a:xfrm>
          <a:prstGeom prst="roundRect">
            <a:avLst>
              <a:gd name="adj" fmla="val 8571"/>
            </a:avLst>
          </a:prstGeom>
          <a:solidFill>
            <a:srgbClr val="12303D"/>
          </a:solidFill>
          <a:ln w="9525">
            <a:solidFill>
              <a:srgbClr val="23515F"/>
            </a:solidFill>
            <a:prstDash val="solid"/>
          </a:ln>
        </p:spPr>
      </p:sp>
      <p:sp>
        <p:nvSpPr>
          <p:cNvPr id="28" name="Shape 20"/>
          <p:cNvSpPr/>
          <p:nvPr/>
        </p:nvSpPr>
        <p:spPr>
          <a:xfrm>
            <a:off x="3410712" y="4937760"/>
            <a:ext cx="502920" cy="502920"/>
          </a:xfrm>
          <a:prstGeom prst="ellipse">
            <a:avLst/>
          </a:prstGeom>
          <a:solidFill>
            <a:srgbClr val="0A1B26"/>
          </a:solidFill>
          <a:ln w="12700">
            <a:solidFill>
              <a:srgbClr val="0A1B26"/>
            </a:solidFill>
            <a:prstDash val="solid"/>
          </a:ln>
        </p:spPr>
      </p:sp>
      <p:pic>
        <p:nvPicPr>
          <p:cNvPr id="29" name="Image 5" descr="preencoded.png"/>
          <p:cNvPicPr>
            <a:picLocks noChangeAspect="1"/>
          </p:cNvPicPr>
          <p:nvPr/>
        </p:nvPicPr>
        <p:blipFill>
          <a:blip r:embed="rId8"/>
          <a:stretch>
            <a:fillRect/>
          </a:stretch>
        </p:blipFill>
        <p:spPr>
          <a:xfrm>
            <a:off x="3536442" y="5063490"/>
            <a:ext cx="251460" cy="251460"/>
          </a:xfrm>
          <a:prstGeom prst="rect">
            <a:avLst/>
          </a:prstGeom>
        </p:spPr>
      </p:pic>
      <p:sp>
        <p:nvSpPr>
          <p:cNvPr id="30" name="Text 21"/>
          <p:cNvSpPr txBox="1"/>
          <p:nvPr/>
        </p:nvSpPr>
        <p:spPr>
          <a:xfrm>
            <a:off x="3410712" y="5532120"/>
            <a:ext cx="2194560" cy="45720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Users comparing air quality across cities</a:t>
            </a:r>
            <a:endParaRPr lang="en-US" sz="1400" dirty="0"/>
          </a:p>
        </p:txBody>
      </p:sp>
      <p:sp>
        <p:nvSpPr>
          <p:cNvPr id="31" name="Shape 22"/>
          <p:cNvSpPr/>
          <p:nvPr/>
        </p:nvSpPr>
        <p:spPr>
          <a:xfrm>
            <a:off x="6035040" y="1874520"/>
            <a:ext cx="5605272" cy="749808"/>
          </a:xfrm>
          <a:prstGeom prst="roundRect">
            <a:avLst>
              <a:gd name="adj" fmla="val 14634"/>
            </a:avLst>
          </a:prstGeom>
          <a:solidFill>
            <a:srgbClr val="0F2733"/>
          </a:solidFill>
          <a:ln w="9525">
            <a:solidFill>
              <a:srgbClr val="23515F"/>
            </a:solidFill>
            <a:prstDash val="solid"/>
          </a:ln>
        </p:spPr>
      </p:sp>
      <p:sp>
        <p:nvSpPr>
          <p:cNvPr id="32" name="Shape 23"/>
          <p:cNvSpPr/>
          <p:nvPr/>
        </p:nvSpPr>
        <p:spPr>
          <a:xfrm>
            <a:off x="6199632" y="2002536"/>
            <a:ext cx="493776" cy="493776"/>
          </a:xfrm>
          <a:prstGeom prst="ellipse">
            <a:avLst/>
          </a:prstGeom>
          <a:solidFill>
            <a:srgbClr val="0A1B26"/>
          </a:solidFill>
          <a:ln w="12700">
            <a:solidFill>
              <a:srgbClr val="0A1B26"/>
            </a:solidFill>
            <a:prstDash val="solid"/>
          </a:ln>
        </p:spPr>
      </p:sp>
      <p:pic>
        <p:nvPicPr>
          <p:cNvPr id="33" name="Image 6" descr="preencoded.png"/>
          <p:cNvPicPr>
            <a:picLocks noChangeAspect="1"/>
          </p:cNvPicPr>
          <p:nvPr/>
        </p:nvPicPr>
        <p:blipFill>
          <a:blip r:embed="rId9"/>
          <a:stretch>
            <a:fillRect/>
          </a:stretch>
        </p:blipFill>
        <p:spPr>
          <a:xfrm>
            <a:off x="6323076" y="2125980"/>
            <a:ext cx="246888" cy="246888"/>
          </a:xfrm>
          <a:prstGeom prst="rect">
            <a:avLst/>
          </a:prstGeom>
        </p:spPr>
      </p:pic>
      <p:sp>
        <p:nvSpPr>
          <p:cNvPr id="34" name="Text 24"/>
          <p:cNvSpPr txBox="1"/>
          <p:nvPr/>
        </p:nvSpPr>
        <p:spPr>
          <a:xfrm>
            <a:off x="6903720" y="1874520"/>
            <a:ext cx="4572000" cy="749808"/>
          </a:xfrm>
          <a:prstGeom prst="rect">
            <a:avLst/>
          </a:prstGeom>
          <a:noFill/>
          <a:ln/>
        </p:spPr>
        <p:txBody>
          <a:bodyPr wrap="square" lIns="0" tIns="0" rIns="0" bIns="0"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“What is the air quality right now?”</a:t>
            </a:r>
            <a:endParaRPr lang="en-US" sz="1700" dirty="0"/>
          </a:p>
        </p:txBody>
      </p:sp>
      <p:sp>
        <p:nvSpPr>
          <p:cNvPr id="35" name="Shape 25"/>
          <p:cNvSpPr/>
          <p:nvPr/>
        </p:nvSpPr>
        <p:spPr>
          <a:xfrm>
            <a:off x="6035040" y="2734056"/>
            <a:ext cx="5605272" cy="749808"/>
          </a:xfrm>
          <a:prstGeom prst="roundRect">
            <a:avLst>
              <a:gd name="adj" fmla="val 14634"/>
            </a:avLst>
          </a:prstGeom>
          <a:solidFill>
            <a:srgbClr val="0F2733"/>
          </a:solidFill>
          <a:ln w="9525">
            <a:solidFill>
              <a:srgbClr val="23515F"/>
            </a:solidFill>
            <a:prstDash val="solid"/>
          </a:ln>
        </p:spPr>
      </p:sp>
      <p:sp>
        <p:nvSpPr>
          <p:cNvPr id="36" name="Shape 26"/>
          <p:cNvSpPr/>
          <p:nvPr/>
        </p:nvSpPr>
        <p:spPr>
          <a:xfrm>
            <a:off x="6199632" y="2862072"/>
            <a:ext cx="493776" cy="493776"/>
          </a:xfrm>
          <a:prstGeom prst="ellipse">
            <a:avLst/>
          </a:prstGeom>
          <a:solidFill>
            <a:srgbClr val="0A1B26"/>
          </a:solidFill>
          <a:ln w="12700">
            <a:solidFill>
              <a:srgbClr val="0A1B26"/>
            </a:solidFill>
            <a:prstDash val="solid"/>
          </a:ln>
        </p:spPr>
      </p:sp>
      <p:pic>
        <p:nvPicPr>
          <p:cNvPr id="37" name="Image 7" descr="preencoded.png"/>
          <p:cNvPicPr>
            <a:picLocks noChangeAspect="1"/>
          </p:cNvPicPr>
          <p:nvPr/>
        </p:nvPicPr>
        <p:blipFill>
          <a:blip r:embed="rId9"/>
          <a:stretch>
            <a:fillRect/>
          </a:stretch>
        </p:blipFill>
        <p:spPr>
          <a:xfrm>
            <a:off x="6323076" y="2985516"/>
            <a:ext cx="246888" cy="246888"/>
          </a:xfrm>
          <a:prstGeom prst="rect">
            <a:avLst/>
          </a:prstGeom>
        </p:spPr>
      </p:pic>
      <p:sp>
        <p:nvSpPr>
          <p:cNvPr id="38" name="Text 27"/>
          <p:cNvSpPr txBox="1"/>
          <p:nvPr/>
        </p:nvSpPr>
        <p:spPr>
          <a:xfrm>
            <a:off x="6903720" y="2734056"/>
            <a:ext cx="4572000" cy="749808"/>
          </a:xfrm>
          <a:prstGeom prst="rect">
            <a:avLst/>
          </a:prstGeom>
          <a:noFill/>
          <a:ln/>
        </p:spPr>
        <p:txBody>
          <a:bodyPr wrap="square" lIns="0" tIns="0" rIns="0" bIns="0"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“Which pollutant is dominant?”</a:t>
            </a:r>
            <a:endParaRPr lang="en-US" sz="1700" dirty="0"/>
          </a:p>
        </p:txBody>
      </p:sp>
      <p:sp>
        <p:nvSpPr>
          <p:cNvPr id="39" name="Shape 28"/>
          <p:cNvSpPr/>
          <p:nvPr/>
        </p:nvSpPr>
        <p:spPr>
          <a:xfrm>
            <a:off x="6035040" y="3593592"/>
            <a:ext cx="5605272" cy="749808"/>
          </a:xfrm>
          <a:prstGeom prst="roundRect">
            <a:avLst>
              <a:gd name="adj" fmla="val 14634"/>
            </a:avLst>
          </a:prstGeom>
          <a:solidFill>
            <a:srgbClr val="0F2733"/>
          </a:solidFill>
          <a:ln w="9525">
            <a:solidFill>
              <a:srgbClr val="23515F"/>
            </a:solidFill>
            <a:prstDash val="solid"/>
          </a:ln>
        </p:spPr>
      </p:sp>
      <p:sp>
        <p:nvSpPr>
          <p:cNvPr id="40" name="Shape 29"/>
          <p:cNvSpPr/>
          <p:nvPr/>
        </p:nvSpPr>
        <p:spPr>
          <a:xfrm>
            <a:off x="6199632" y="3721608"/>
            <a:ext cx="493776" cy="493776"/>
          </a:xfrm>
          <a:prstGeom prst="ellipse">
            <a:avLst/>
          </a:prstGeom>
          <a:solidFill>
            <a:srgbClr val="0A1B26"/>
          </a:solidFill>
          <a:ln w="12700">
            <a:solidFill>
              <a:srgbClr val="0A1B26"/>
            </a:solidFill>
            <a:prstDash val="solid"/>
          </a:ln>
        </p:spPr>
      </p:sp>
      <p:pic>
        <p:nvPicPr>
          <p:cNvPr id="41" name="Image 8" descr="preencoded.png"/>
          <p:cNvPicPr>
            <a:picLocks noChangeAspect="1"/>
          </p:cNvPicPr>
          <p:nvPr/>
        </p:nvPicPr>
        <p:blipFill>
          <a:blip r:embed="rId9"/>
          <a:stretch>
            <a:fillRect/>
          </a:stretch>
        </p:blipFill>
        <p:spPr>
          <a:xfrm>
            <a:off x="6323076" y="3845052"/>
            <a:ext cx="246888" cy="246888"/>
          </a:xfrm>
          <a:prstGeom prst="rect">
            <a:avLst/>
          </a:prstGeom>
        </p:spPr>
      </p:pic>
      <p:sp>
        <p:nvSpPr>
          <p:cNvPr id="42" name="Text 30"/>
          <p:cNvSpPr txBox="1"/>
          <p:nvPr/>
        </p:nvSpPr>
        <p:spPr>
          <a:xfrm>
            <a:off x="6903720" y="3593592"/>
            <a:ext cx="4572000" cy="749808"/>
          </a:xfrm>
          <a:prstGeom prst="rect">
            <a:avLst/>
          </a:prstGeom>
          <a:noFill/>
          <a:ln/>
        </p:spPr>
        <p:txBody>
          <a:bodyPr wrap="square" lIns="0" tIns="0" rIns="0" bIns="0"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“How is the situation changing?”</a:t>
            </a:r>
            <a:endParaRPr lang="en-US" sz="1700" dirty="0"/>
          </a:p>
        </p:txBody>
      </p:sp>
      <p:sp>
        <p:nvSpPr>
          <p:cNvPr id="43" name="Shape 31"/>
          <p:cNvSpPr/>
          <p:nvPr/>
        </p:nvSpPr>
        <p:spPr>
          <a:xfrm>
            <a:off x="6035040" y="4453128"/>
            <a:ext cx="5605272" cy="749808"/>
          </a:xfrm>
          <a:prstGeom prst="roundRect">
            <a:avLst>
              <a:gd name="adj" fmla="val 14634"/>
            </a:avLst>
          </a:prstGeom>
          <a:solidFill>
            <a:srgbClr val="0F2733"/>
          </a:solidFill>
          <a:ln w="9525">
            <a:solidFill>
              <a:srgbClr val="23515F"/>
            </a:solidFill>
            <a:prstDash val="solid"/>
          </a:ln>
        </p:spPr>
      </p:sp>
      <p:sp>
        <p:nvSpPr>
          <p:cNvPr id="44" name="Shape 32"/>
          <p:cNvSpPr/>
          <p:nvPr/>
        </p:nvSpPr>
        <p:spPr>
          <a:xfrm>
            <a:off x="6199632" y="4581144"/>
            <a:ext cx="493776" cy="493776"/>
          </a:xfrm>
          <a:prstGeom prst="ellipse">
            <a:avLst/>
          </a:prstGeom>
          <a:solidFill>
            <a:srgbClr val="0A1B26"/>
          </a:solidFill>
          <a:ln w="12700">
            <a:solidFill>
              <a:srgbClr val="0A1B26"/>
            </a:solidFill>
            <a:prstDash val="solid"/>
          </a:ln>
        </p:spPr>
      </p:sp>
      <p:pic>
        <p:nvPicPr>
          <p:cNvPr id="45" name="Image 9" descr="preencoded.png"/>
          <p:cNvPicPr>
            <a:picLocks noChangeAspect="1"/>
          </p:cNvPicPr>
          <p:nvPr/>
        </p:nvPicPr>
        <p:blipFill>
          <a:blip r:embed="rId9"/>
          <a:stretch>
            <a:fillRect/>
          </a:stretch>
        </p:blipFill>
        <p:spPr>
          <a:xfrm>
            <a:off x="6323076" y="4704588"/>
            <a:ext cx="246888" cy="246888"/>
          </a:xfrm>
          <a:prstGeom prst="rect">
            <a:avLst/>
          </a:prstGeom>
        </p:spPr>
      </p:pic>
      <p:sp>
        <p:nvSpPr>
          <p:cNvPr id="46" name="Text 33"/>
          <p:cNvSpPr txBox="1"/>
          <p:nvPr/>
        </p:nvSpPr>
        <p:spPr>
          <a:xfrm>
            <a:off x="6903720" y="4453128"/>
            <a:ext cx="4572000" cy="749808"/>
          </a:xfrm>
          <a:prstGeom prst="rect">
            <a:avLst/>
          </a:prstGeom>
          <a:noFill/>
          <a:ln/>
        </p:spPr>
        <p:txBody>
          <a:bodyPr wrap="square" lIns="0" tIns="0" rIns="0" bIns="0"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“How does my city compare with another city?”</a:t>
            </a:r>
            <a:endParaRPr lang="en-US" sz="1700" dirty="0"/>
          </a:p>
        </p:txBody>
      </p:sp>
      <p:sp>
        <p:nvSpPr>
          <p:cNvPr id="47" name="Shape 34"/>
          <p:cNvSpPr/>
          <p:nvPr/>
        </p:nvSpPr>
        <p:spPr>
          <a:xfrm>
            <a:off x="6035040" y="5312664"/>
            <a:ext cx="5605272" cy="749808"/>
          </a:xfrm>
          <a:prstGeom prst="roundRect">
            <a:avLst>
              <a:gd name="adj" fmla="val 14634"/>
            </a:avLst>
          </a:prstGeom>
          <a:solidFill>
            <a:srgbClr val="0F2733"/>
          </a:solidFill>
          <a:ln w="9525">
            <a:solidFill>
              <a:srgbClr val="23515F"/>
            </a:solidFill>
            <a:prstDash val="solid"/>
          </a:ln>
        </p:spPr>
      </p:sp>
      <p:sp>
        <p:nvSpPr>
          <p:cNvPr id="48" name="Shape 35"/>
          <p:cNvSpPr/>
          <p:nvPr/>
        </p:nvSpPr>
        <p:spPr>
          <a:xfrm>
            <a:off x="6199632" y="5440680"/>
            <a:ext cx="493776" cy="493776"/>
          </a:xfrm>
          <a:prstGeom prst="ellipse">
            <a:avLst/>
          </a:prstGeom>
          <a:solidFill>
            <a:srgbClr val="0A1B26"/>
          </a:solidFill>
          <a:ln w="12700">
            <a:solidFill>
              <a:srgbClr val="0A1B26"/>
            </a:solidFill>
            <a:prstDash val="solid"/>
          </a:ln>
        </p:spPr>
      </p:sp>
      <p:pic>
        <p:nvPicPr>
          <p:cNvPr id="49" name="Image 10" descr="preencoded.png"/>
          <p:cNvPicPr>
            <a:picLocks noChangeAspect="1"/>
          </p:cNvPicPr>
          <p:nvPr/>
        </p:nvPicPr>
        <p:blipFill>
          <a:blip r:embed="rId9"/>
          <a:stretch>
            <a:fillRect/>
          </a:stretch>
        </p:blipFill>
        <p:spPr>
          <a:xfrm>
            <a:off x="6323076" y="5564124"/>
            <a:ext cx="246888" cy="246888"/>
          </a:xfrm>
          <a:prstGeom prst="rect">
            <a:avLst/>
          </a:prstGeom>
        </p:spPr>
      </p:pic>
      <p:sp>
        <p:nvSpPr>
          <p:cNvPr id="50" name="Text 36"/>
          <p:cNvSpPr txBox="1"/>
          <p:nvPr/>
        </p:nvSpPr>
        <p:spPr>
          <a:xfrm>
            <a:off x="6903720" y="5312664"/>
            <a:ext cx="4572000" cy="749808"/>
          </a:xfrm>
          <a:prstGeom prst="rect">
            <a:avLst/>
          </a:prstGeom>
          <a:noFill/>
          <a:ln/>
        </p:spPr>
        <p:txBody>
          <a:bodyPr wrap="square" lIns="0" tIns="0" rIns="0" bIns="0"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“What does this information mean?”</a:t>
            </a:r>
            <a:endParaRPr lang="en-US" sz="17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03 · DEFINE · SDG ALIGNMENT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From Problem to Sustainability Goal</a:t>
            </a:r>
            <a:endParaRPr lang="en-US" sz="3200" dirty="0"/>
          </a:p>
        </p:txBody>
      </p:sp>
      <p:sp>
        <p:nvSpPr>
          <p:cNvPr id="5" name="Shape 2"/>
          <p:cNvSpPr/>
          <p:nvPr/>
        </p:nvSpPr>
        <p:spPr>
          <a:xfrm>
            <a:off x="548640" y="1600200"/>
            <a:ext cx="3566160" cy="4526280"/>
          </a:xfrm>
          <a:prstGeom prst="roundRect">
            <a:avLst>
              <a:gd name="adj" fmla="val 3077"/>
            </a:avLst>
          </a:prstGeom>
          <a:solidFill>
            <a:srgbClr val="3A2A0F"/>
          </a:solidFill>
          <a:ln w="9525">
            <a:solidFill>
              <a:srgbClr val="FD9D24"/>
            </a:solidFill>
            <a:prstDash val="solid"/>
          </a:ln>
        </p:spPr>
      </p:sp>
      <p:sp>
        <p:nvSpPr>
          <p:cNvPr id="6" name="Shape 3"/>
          <p:cNvSpPr/>
          <p:nvPr/>
        </p:nvSpPr>
        <p:spPr>
          <a:xfrm>
            <a:off x="777240" y="1828800"/>
            <a:ext cx="1371600" cy="310896"/>
          </a:xfrm>
          <a:prstGeom prst="roundRect">
            <a:avLst>
              <a:gd name="adj" fmla="val 50000"/>
            </a:avLst>
          </a:prstGeom>
          <a:solidFill>
            <a:srgbClr val="FD9D24"/>
          </a:solidFill>
          <a:ln w="12700">
            <a:solidFill>
              <a:srgbClr val="FD9D24"/>
            </a:solidFill>
            <a:prstDash val="solid"/>
          </a:ln>
        </p:spPr>
      </p:sp>
      <p:sp>
        <p:nvSpPr>
          <p:cNvPr id="7" name="Text 4"/>
          <p:cNvSpPr txBox="1"/>
          <p:nvPr/>
        </p:nvSpPr>
        <p:spPr>
          <a:xfrm>
            <a:off x="777240" y="1828800"/>
            <a:ext cx="1371600" cy="310896"/>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PRIMARY SDG</a:t>
            </a:r>
            <a:endParaRPr lang="en-US" sz="1100" dirty="0"/>
          </a:p>
        </p:txBody>
      </p:sp>
      <p:sp>
        <p:nvSpPr>
          <p:cNvPr id="8" name="Text 5"/>
          <p:cNvSpPr txBox="1"/>
          <p:nvPr/>
        </p:nvSpPr>
        <p:spPr>
          <a:xfrm>
            <a:off x="777240" y="2194560"/>
            <a:ext cx="3108960" cy="1371600"/>
          </a:xfrm>
          <a:prstGeom prst="rect">
            <a:avLst/>
          </a:prstGeom>
          <a:noFill/>
          <a:ln/>
        </p:spPr>
        <p:txBody>
          <a:bodyPr wrap="square" lIns="0" tIns="0" rIns="0" bIns="0" rtlCol="0" anchor="ctr"/>
          <a:lstStyle/>
          <a:p>
            <a:pPr marL="0" indent="0">
              <a:buNone/>
            </a:pPr>
            <a:r>
              <a:rPr lang="en-US" sz="9600" b="1" dirty="0">
                <a:solidFill>
                  <a:srgbClr val="FD9D24"/>
                </a:solidFill>
                <a:latin typeface="Cambria" pitchFamily="34" charset="0"/>
                <a:ea typeface="Cambria" pitchFamily="34" charset="-122"/>
                <a:cs typeface="Cambria" pitchFamily="34" charset="-120"/>
              </a:rPr>
              <a:t>11</a:t>
            </a:r>
            <a:endParaRPr lang="en-US" sz="9600" dirty="0"/>
          </a:p>
        </p:txBody>
      </p:sp>
      <p:sp>
        <p:nvSpPr>
          <p:cNvPr id="9" name="Text 6"/>
          <p:cNvSpPr txBox="1"/>
          <p:nvPr/>
        </p:nvSpPr>
        <p:spPr>
          <a:xfrm>
            <a:off x="777240" y="3611880"/>
            <a:ext cx="3108960" cy="77724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Sustainable Cities and Communities</a:t>
            </a:r>
            <a:endParaRPr lang="en-US" sz="2000" dirty="0"/>
          </a:p>
        </p:txBody>
      </p:sp>
      <p:sp>
        <p:nvSpPr>
          <p:cNvPr id="10" name="Text 7"/>
          <p:cNvSpPr txBox="1"/>
          <p:nvPr/>
        </p:nvSpPr>
        <p:spPr>
          <a:xfrm>
            <a:off x="777240" y="4480560"/>
            <a:ext cx="3108960" cy="1463040"/>
          </a:xfrm>
          <a:prstGeom prst="rect">
            <a:avLst/>
          </a:prstGeom>
          <a:noFill/>
          <a:ln/>
        </p:spPr>
        <p:txBody>
          <a:bodyPr wrap="square" lIns="0" tIns="0" rIns="0" bIns="0" rtlCol="0" anchor="t"/>
          <a:lstStyle/>
          <a:p>
            <a:pPr marL="0" indent="0">
              <a:buNone/>
            </a:pPr>
            <a:r>
              <a:rPr lang="en-US" sz="1400" dirty="0">
                <a:solidFill>
                  <a:srgbClr val="E8DCC4"/>
                </a:solidFill>
                <a:latin typeface="Calibri" pitchFamily="34" charset="0"/>
                <a:ea typeface="Calibri" pitchFamily="34" charset="-122"/>
                <a:cs typeface="Calibri" pitchFamily="34" charset="-120"/>
              </a:rPr>
              <a:t>Makes environmental information easier to access, understand, compare and interpret, supporting sustainable urban awareness.</a:t>
            </a:r>
            <a:endParaRPr lang="en-US" sz="1400" dirty="0"/>
          </a:p>
        </p:txBody>
      </p:sp>
      <p:sp>
        <p:nvSpPr>
          <p:cNvPr id="11" name="Shape 8"/>
          <p:cNvSpPr/>
          <p:nvPr/>
        </p:nvSpPr>
        <p:spPr>
          <a:xfrm>
            <a:off x="4389120" y="1600200"/>
            <a:ext cx="7251192" cy="1920240"/>
          </a:xfrm>
          <a:prstGeom prst="roundRect">
            <a:avLst>
              <a:gd name="adj" fmla="val 5714"/>
            </a:avLst>
          </a:prstGeom>
          <a:solidFill>
            <a:srgbClr val="12303D"/>
          </a:solidFill>
          <a:ln w="9525">
            <a:solidFill>
              <a:srgbClr val="23515F"/>
            </a:solidFill>
            <a:prstDash val="solid"/>
          </a:ln>
        </p:spPr>
      </p:sp>
      <p:sp>
        <p:nvSpPr>
          <p:cNvPr id="12" name="Text 9"/>
          <p:cNvSpPr txBox="1"/>
          <p:nvPr/>
        </p:nvSpPr>
        <p:spPr>
          <a:xfrm>
            <a:off x="4663440" y="1783080"/>
            <a:ext cx="4572000" cy="274320"/>
          </a:xfrm>
          <a:prstGeom prst="rect">
            <a:avLst/>
          </a:prstGeom>
          <a:noFill/>
          <a:ln/>
        </p:spPr>
        <p:txBody>
          <a:bodyPr wrap="square" lIns="0" tIns="0" rIns="0" bIns="0" rtlCol="0" anchor="t"/>
          <a:lstStyle/>
          <a:p>
            <a:pPr marL="0" indent="0">
              <a:buNone/>
            </a:pPr>
            <a:r>
              <a:rPr lang="en-US" sz="1200" b="1" kern="0" spc="200" dirty="0">
                <a:solidFill>
                  <a:srgbClr val="2DD4BF"/>
                </a:solidFill>
                <a:latin typeface="Calibri" pitchFamily="34" charset="0"/>
                <a:ea typeface="Calibri" pitchFamily="34" charset="-122"/>
                <a:cs typeface="Calibri" pitchFamily="34" charset="-120"/>
              </a:rPr>
              <a:t>PROBLEM STATEMENT</a:t>
            </a:r>
            <a:endParaRPr lang="en-US" sz="1200" dirty="0"/>
          </a:p>
        </p:txBody>
      </p:sp>
      <p:sp>
        <p:nvSpPr>
          <p:cNvPr id="13" name="Text 10"/>
          <p:cNvSpPr txBox="1"/>
          <p:nvPr/>
        </p:nvSpPr>
        <p:spPr>
          <a:xfrm>
            <a:off x="4663440" y="2148840"/>
            <a:ext cx="6720840" cy="1188720"/>
          </a:xfrm>
          <a:prstGeom prst="rect">
            <a:avLst/>
          </a:prstGeom>
          <a:noFill/>
          <a:ln/>
        </p:spPr>
        <p:txBody>
          <a:bodyPr wrap="square" lIns="0" tIns="0" rIns="0" bIns="0" rtlCol="0" anchor="ctr"/>
          <a:lstStyle/>
          <a:p>
            <a:pPr marL="0" indent="0">
              <a:buNone/>
            </a:pPr>
            <a:r>
              <a:rPr lang="en-US" sz="2100" i="1" dirty="0">
                <a:solidFill>
                  <a:srgbClr val="FFFFFF"/>
                </a:solidFill>
                <a:latin typeface="Cambria" pitchFamily="34" charset="0"/>
                <a:ea typeface="Cambria" pitchFamily="34" charset="-122"/>
                <a:cs typeface="Cambria" pitchFamily="34" charset="-120"/>
              </a:rPr>
              <a:t>“How might we use AI and real-time environmental data to make air-quality information easier to understand and use for sustainable urban awareness?”</a:t>
            </a:r>
            <a:endParaRPr lang="en-US" sz="2100" dirty="0"/>
          </a:p>
        </p:txBody>
      </p:sp>
      <p:sp>
        <p:nvSpPr>
          <p:cNvPr id="14" name="Shape 11"/>
          <p:cNvSpPr/>
          <p:nvPr/>
        </p:nvSpPr>
        <p:spPr>
          <a:xfrm>
            <a:off x="4389120" y="3703320"/>
            <a:ext cx="3520440" cy="1600200"/>
          </a:xfrm>
          <a:prstGeom prst="roundRect">
            <a:avLst>
              <a:gd name="adj" fmla="val 6857"/>
            </a:avLst>
          </a:prstGeom>
          <a:solidFill>
            <a:srgbClr val="12303D"/>
          </a:solidFill>
          <a:ln w="9525">
            <a:solidFill>
              <a:srgbClr val="23515F"/>
            </a:solidFill>
            <a:prstDash val="solid"/>
          </a:ln>
        </p:spPr>
      </p:sp>
      <p:sp>
        <p:nvSpPr>
          <p:cNvPr id="15" name="Shape 12"/>
          <p:cNvSpPr/>
          <p:nvPr/>
        </p:nvSpPr>
        <p:spPr>
          <a:xfrm>
            <a:off x="4617720" y="3886200"/>
            <a:ext cx="1737360" cy="274320"/>
          </a:xfrm>
          <a:prstGeom prst="roundRect">
            <a:avLst>
              <a:gd name="adj" fmla="val 50000"/>
            </a:avLst>
          </a:prstGeom>
          <a:solidFill>
            <a:srgbClr val="4C9F38"/>
          </a:solidFill>
          <a:ln w="12700">
            <a:solidFill>
              <a:srgbClr val="4C9F38"/>
            </a:solidFill>
            <a:prstDash val="solid"/>
          </a:ln>
        </p:spPr>
      </p:sp>
      <p:sp>
        <p:nvSpPr>
          <p:cNvPr id="16" name="Text 13"/>
          <p:cNvSpPr txBox="1"/>
          <p:nvPr/>
        </p:nvSpPr>
        <p:spPr>
          <a:xfrm>
            <a:off x="4617720" y="3886200"/>
            <a:ext cx="17373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SECONDARY · SDG 3</a:t>
            </a:r>
            <a:endParaRPr lang="en-US" sz="1000" dirty="0"/>
          </a:p>
        </p:txBody>
      </p:sp>
      <p:sp>
        <p:nvSpPr>
          <p:cNvPr id="17" name="Text 14"/>
          <p:cNvSpPr txBox="1"/>
          <p:nvPr/>
        </p:nvSpPr>
        <p:spPr>
          <a:xfrm>
            <a:off x="4617720" y="4279392"/>
            <a:ext cx="310896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Good Health and Well-being</a:t>
            </a:r>
            <a:endParaRPr lang="en-US" sz="1600" dirty="0"/>
          </a:p>
        </p:txBody>
      </p:sp>
      <p:sp>
        <p:nvSpPr>
          <p:cNvPr id="18" name="Text 15"/>
          <p:cNvSpPr txBox="1"/>
          <p:nvPr/>
        </p:nvSpPr>
        <p:spPr>
          <a:xfrm>
            <a:off x="4617720" y="4645152"/>
            <a:ext cx="3108960" cy="594360"/>
          </a:xfrm>
          <a:prstGeom prst="rect">
            <a:avLst/>
          </a:prstGeom>
          <a:noFill/>
          <a:ln/>
        </p:spPr>
        <p:txBody>
          <a:bodyPr wrap="square" lIns="0" tIns="0" rIns="0" bIns="0" rtlCol="0" anchor="t"/>
          <a:lstStyle/>
          <a:p>
            <a:pPr marL="0" indent="0">
              <a:buNone/>
            </a:pPr>
            <a:r>
              <a:rPr lang="en-US" sz="1300" dirty="0">
                <a:solidFill>
                  <a:srgbClr val="9DB7C1"/>
                </a:solidFill>
                <a:latin typeface="Calibri" pitchFamily="34" charset="0"/>
                <a:ea typeface="Calibri" pitchFamily="34" charset="-122"/>
                <a:cs typeface="Calibri" pitchFamily="34" charset="-120"/>
              </a:rPr>
              <a:t>Clearer air-quality information can support health-conscious awareness.</a:t>
            </a:r>
            <a:endParaRPr lang="en-US" sz="1300" dirty="0"/>
          </a:p>
        </p:txBody>
      </p:sp>
      <p:sp>
        <p:nvSpPr>
          <p:cNvPr id="19" name="Shape 16"/>
          <p:cNvSpPr/>
          <p:nvPr/>
        </p:nvSpPr>
        <p:spPr>
          <a:xfrm>
            <a:off x="8119872" y="3703320"/>
            <a:ext cx="3520440" cy="1600200"/>
          </a:xfrm>
          <a:prstGeom prst="roundRect">
            <a:avLst>
              <a:gd name="adj" fmla="val 6857"/>
            </a:avLst>
          </a:prstGeom>
          <a:solidFill>
            <a:srgbClr val="12303D"/>
          </a:solidFill>
          <a:ln w="9525">
            <a:solidFill>
              <a:srgbClr val="23515F"/>
            </a:solidFill>
            <a:prstDash val="solid"/>
          </a:ln>
        </p:spPr>
      </p:sp>
      <p:sp>
        <p:nvSpPr>
          <p:cNvPr id="20" name="Shape 17"/>
          <p:cNvSpPr/>
          <p:nvPr/>
        </p:nvSpPr>
        <p:spPr>
          <a:xfrm>
            <a:off x="8348472" y="3886200"/>
            <a:ext cx="1737360" cy="274320"/>
          </a:xfrm>
          <a:prstGeom prst="roundRect">
            <a:avLst>
              <a:gd name="adj" fmla="val 50000"/>
            </a:avLst>
          </a:prstGeom>
          <a:solidFill>
            <a:srgbClr val="3F7E44"/>
          </a:solidFill>
          <a:ln w="12700">
            <a:solidFill>
              <a:srgbClr val="3F7E44"/>
            </a:solidFill>
            <a:prstDash val="solid"/>
          </a:ln>
        </p:spPr>
      </p:sp>
      <p:sp>
        <p:nvSpPr>
          <p:cNvPr id="21" name="Text 18"/>
          <p:cNvSpPr txBox="1"/>
          <p:nvPr/>
        </p:nvSpPr>
        <p:spPr>
          <a:xfrm>
            <a:off x="8348472" y="3886200"/>
            <a:ext cx="17373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SECONDARY · SDG 13</a:t>
            </a:r>
            <a:endParaRPr lang="en-US" sz="1000" dirty="0"/>
          </a:p>
        </p:txBody>
      </p:sp>
      <p:sp>
        <p:nvSpPr>
          <p:cNvPr id="22" name="Text 19"/>
          <p:cNvSpPr txBox="1"/>
          <p:nvPr/>
        </p:nvSpPr>
        <p:spPr>
          <a:xfrm>
            <a:off x="8348472" y="4279392"/>
            <a:ext cx="310896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Climate Action</a:t>
            </a:r>
            <a:endParaRPr lang="en-US" sz="1600" dirty="0"/>
          </a:p>
        </p:txBody>
      </p:sp>
      <p:sp>
        <p:nvSpPr>
          <p:cNvPr id="23" name="Text 20"/>
          <p:cNvSpPr txBox="1"/>
          <p:nvPr/>
        </p:nvSpPr>
        <p:spPr>
          <a:xfrm>
            <a:off x="8348472" y="4645152"/>
            <a:ext cx="3108960" cy="594360"/>
          </a:xfrm>
          <a:prstGeom prst="rect">
            <a:avLst/>
          </a:prstGeom>
          <a:noFill/>
          <a:ln/>
        </p:spPr>
        <p:txBody>
          <a:bodyPr wrap="square" lIns="0" tIns="0" rIns="0" bIns="0" rtlCol="0" anchor="t"/>
          <a:lstStyle/>
          <a:p>
            <a:pPr marL="0" indent="0">
              <a:buNone/>
            </a:pPr>
            <a:r>
              <a:rPr lang="en-US" sz="1300" dirty="0">
                <a:solidFill>
                  <a:srgbClr val="9DB7C1"/>
                </a:solidFill>
                <a:latin typeface="Calibri" pitchFamily="34" charset="0"/>
                <a:ea typeface="Calibri" pitchFamily="34" charset="-122"/>
                <a:cs typeface="Calibri" pitchFamily="34" charset="-120"/>
              </a:rPr>
              <a:t>Visible environmental monitoring supports climate-relevant awareness.</a:t>
            </a:r>
            <a:endParaRPr lang="en-US" sz="1300" dirty="0"/>
          </a:p>
        </p:txBody>
      </p:sp>
      <p:sp>
        <p:nvSpPr>
          <p:cNvPr id="24" name="Text 21"/>
          <p:cNvSpPr txBox="1"/>
          <p:nvPr/>
        </p:nvSpPr>
        <p:spPr>
          <a:xfrm>
            <a:off x="4389120" y="5486400"/>
            <a:ext cx="7251192" cy="640080"/>
          </a:xfrm>
          <a:prstGeom prst="rect">
            <a:avLst/>
          </a:prstGeom>
          <a:noFill/>
          <a:ln/>
        </p:spPr>
        <p:txBody>
          <a:bodyPr wrap="square" lIns="0" tIns="0" rIns="0" bIns="0" rtlCol="0" anchor="ctr"/>
          <a:lstStyle/>
          <a:p>
            <a:pPr marL="0" indent="0">
              <a:buNone/>
            </a:pPr>
            <a:r>
              <a:rPr lang="en-US" sz="1300" i="1" dirty="0">
                <a:solidFill>
                  <a:srgbClr val="9DB7C1"/>
                </a:solidFill>
                <a:latin typeface="Calibri" pitchFamily="34" charset="0"/>
                <a:ea typeface="Calibri" pitchFamily="34" charset="-122"/>
                <a:cs typeface="Calibri" pitchFamily="34" charset="-120"/>
              </a:rPr>
              <a:t>A technology-based contribution toward awareness, monitoring and informed decision-making. It does not claim to directly solve any SDG.</a:t>
            </a:r>
            <a:endParaRPr lang="en-US" sz="1300" dirty="0"/>
          </a:p>
        </p:txBody>
      </p:sp>
      <p:sp>
        <p:nvSpPr>
          <p:cNvPr id="25"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04 · RESEARCH · IDEATE · REFINE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Research → Ideation → Refinement</a:t>
            </a:r>
            <a:endParaRPr lang="en-US" sz="3200" dirty="0"/>
          </a:p>
        </p:txBody>
      </p:sp>
      <p:sp>
        <p:nvSpPr>
          <p:cNvPr id="5" name="Shape 2"/>
          <p:cNvSpPr/>
          <p:nvPr/>
        </p:nvSpPr>
        <p:spPr>
          <a:xfrm>
            <a:off x="548640" y="1600200"/>
            <a:ext cx="2011680" cy="3611880"/>
          </a:xfrm>
          <a:prstGeom prst="roundRect">
            <a:avLst>
              <a:gd name="adj" fmla="val 5455"/>
            </a:avLst>
          </a:prstGeom>
          <a:solidFill>
            <a:srgbClr val="12303D"/>
          </a:solidFill>
          <a:ln w="9525">
            <a:solidFill>
              <a:srgbClr val="23515F"/>
            </a:solidFill>
            <a:prstDash val="solid"/>
          </a:ln>
        </p:spPr>
      </p:sp>
      <p:sp>
        <p:nvSpPr>
          <p:cNvPr id="6" name="Text 3"/>
          <p:cNvSpPr txBox="1"/>
          <p:nvPr/>
        </p:nvSpPr>
        <p:spPr>
          <a:xfrm>
            <a:off x="713232" y="2167128"/>
            <a:ext cx="1371600" cy="548640"/>
          </a:xfrm>
          <a:prstGeom prst="rect">
            <a:avLst/>
          </a:prstGeom>
          <a:noFill/>
          <a:ln/>
        </p:spPr>
        <p:txBody>
          <a:bodyPr wrap="square" lIns="0" tIns="0" rIns="0" bIns="0" rtlCol="0" anchor="t"/>
          <a:lstStyle/>
          <a:p>
            <a:pPr marL="0" indent="0">
              <a:buNone/>
            </a:pPr>
            <a:r>
              <a:rPr lang="en-US" sz="3000" b="1" dirty="0">
                <a:solidFill>
                  <a:srgbClr val="2DD4BF"/>
                </a:solidFill>
                <a:latin typeface="Cambria" pitchFamily="34" charset="0"/>
                <a:ea typeface="Cambria" pitchFamily="34" charset="-122"/>
                <a:cs typeface="Cambria" pitchFamily="34" charset="-120"/>
              </a:rPr>
              <a:t>01</a:t>
            </a:r>
            <a:endParaRPr lang="en-US" sz="3000" dirty="0"/>
          </a:p>
        </p:txBody>
      </p:sp>
      <p:sp>
        <p:nvSpPr>
          <p:cNvPr id="7" name="Text 4"/>
          <p:cNvSpPr txBox="1"/>
          <p:nvPr/>
        </p:nvSpPr>
        <p:spPr>
          <a:xfrm>
            <a:off x="713232" y="2743200"/>
            <a:ext cx="173736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OBSERVE</a:t>
            </a:r>
            <a:endParaRPr lang="en-US" sz="1600" dirty="0"/>
          </a:p>
        </p:txBody>
      </p:sp>
      <p:sp>
        <p:nvSpPr>
          <p:cNvPr id="8" name="Text 5"/>
          <p:cNvSpPr txBox="1"/>
          <p:nvPr/>
        </p:nvSpPr>
        <p:spPr>
          <a:xfrm>
            <a:off x="713232" y="3246120"/>
            <a:ext cx="1719072" cy="1828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Identify air-quality information challenges</a:t>
            </a:r>
            <a:endParaRPr lang="en-US" sz="1400" dirty="0"/>
          </a:p>
        </p:txBody>
      </p:sp>
      <p:sp>
        <p:nvSpPr>
          <p:cNvPr id="9" name="Shape 6"/>
          <p:cNvSpPr/>
          <p:nvPr/>
        </p:nvSpPr>
        <p:spPr>
          <a:xfrm>
            <a:off x="2587752" y="3406140"/>
            <a:ext cx="201168" cy="0"/>
          </a:xfrm>
          <a:prstGeom prst="line">
            <a:avLst/>
          </a:prstGeom>
          <a:noFill/>
          <a:ln w="25400">
            <a:solidFill>
              <a:srgbClr val="9DB7C1"/>
            </a:solidFill>
            <a:prstDash val="solid"/>
            <a:tailEnd type="triangle"/>
          </a:ln>
        </p:spPr>
      </p:sp>
      <p:sp>
        <p:nvSpPr>
          <p:cNvPr id="10" name="Shape 7"/>
          <p:cNvSpPr/>
          <p:nvPr/>
        </p:nvSpPr>
        <p:spPr>
          <a:xfrm>
            <a:off x="2816352" y="1600200"/>
            <a:ext cx="2011680" cy="3611880"/>
          </a:xfrm>
          <a:prstGeom prst="roundRect">
            <a:avLst>
              <a:gd name="adj" fmla="val 5455"/>
            </a:avLst>
          </a:prstGeom>
          <a:solidFill>
            <a:srgbClr val="16284D"/>
          </a:solidFill>
          <a:ln w="9525">
            <a:solidFill>
              <a:srgbClr val="7AA7FF"/>
            </a:solidFill>
            <a:prstDash val="solid"/>
          </a:ln>
        </p:spPr>
      </p:sp>
      <p:sp>
        <p:nvSpPr>
          <p:cNvPr id="11" name="Shape 8"/>
          <p:cNvSpPr/>
          <p:nvPr/>
        </p:nvSpPr>
        <p:spPr>
          <a:xfrm>
            <a:off x="2980944" y="1783080"/>
            <a:ext cx="914400" cy="274320"/>
          </a:xfrm>
          <a:prstGeom prst="roundRect">
            <a:avLst>
              <a:gd name="adj" fmla="val 50000"/>
            </a:avLst>
          </a:prstGeom>
          <a:solidFill>
            <a:srgbClr val="7AA7FF"/>
          </a:solidFill>
          <a:ln w="12700">
            <a:solidFill>
              <a:srgbClr val="7AA7FF"/>
            </a:solidFill>
            <a:prstDash val="solid"/>
          </a:ln>
        </p:spPr>
      </p:sp>
      <p:sp>
        <p:nvSpPr>
          <p:cNvPr id="12" name="Text 9"/>
          <p:cNvSpPr txBox="1"/>
          <p:nvPr/>
        </p:nvSpPr>
        <p:spPr>
          <a:xfrm>
            <a:off x="2980944" y="1783080"/>
            <a:ext cx="914400" cy="274320"/>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IBM Bob</a:t>
            </a:r>
            <a:endParaRPr lang="en-US" sz="1100" dirty="0"/>
          </a:p>
        </p:txBody>
      </p:sp>
      <p:sp>
        <p:nvSpPr>
          <p:cNvPr id="13" name="Text 10"/>
          <p:cNvSpPr txBox="1"/>
          <p:nvPr/>
        </p:nvSpPr>
        <p:spPr>
          <a:xfrm>
            <a:off x="2980944" y="2167128"/>
            <a:ext cx="1371600" cy="548640"/>
          </a:xfrm>
          <a:prstGeom prst="rect">
            <a:avLst/>
          </a:prstGeom>
          <a:noFill/>
          <a:ln/>
        </p:spPr>
        <p:txBody>
          <a:bodyPr wrap="square" lIns="0" tIns="0" rIns="0" bIns="0" rtlCol="0" anchor="t"/>
          <a:lstStyle/>
          <a:p>
            <a:pPr marL="0" indent="0">
              <a:buNone/>
            </a:pPr>
            <a:r>
              <a:rPr lang="en-US" sz="3000" b="1" dirty="0">
                <a:solidFill>
                  <a:srgbClr val="7AA7FF"/>
                </a:solidFill>
                <a:latin typeface="Cambria" pitchFamily="34" charset="0"/>
                <a:ea typeface="Cambria" pitchFamily="34" charset="-122"/>
                <a:cs typeface="Cambria" pitchFamily="34" charset="-120"/>
              </a:rPr>
              <a:t>02</a:t>
            </a:r>
            <a:endParaRPr lang="en-US" sz="3000" dirty="0"/>
          </a:p>
        </p:txBody>
      </p:sp>
      <p:sp>
        <p:nvSpPr>
          <p:cNvPr id="14" name="Text 11"/>
          <p:cNvSpPr txBox="1"/>
          <p:nvPr/>
        </p:nvSpPr>
        <p:spPr>
          <a:xfrm>
            <a:off x="2980944" y="2743200"/>
            <a:ext cx="173736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RESEARCH</a:t>
            </a:r>
            <a:endParaRPr lang="en-US" sz="1600" dirty="0"/>
          </a:p>
        </p:txBody>
      </p:sp>
      <p:sp>
        <p:nvSpPr>
          <p:cNvPr id="15" name="Text 12"/>
          <p:cNvSpPr txBox="1"/>
          <p:nvPr/>
        </p:nvSpPr>
        <p:spPr>
          <a:xfrm>
            <a:off x="2980944" y="3246120"/>
            <a:ext cx="1719072" cy="1828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Problem context</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Sustainability relevance</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User needs</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Possible AI applications</a:t>
            </a:r>
            <a:endParaRPr lang="en-US" sz="1400" dirty="0"/>
          </a:p>
        </p:txBody>
      </p:sp>
      <p:sp>
        <p:nvSpPr>
          <p:cNvPr id="16" name="Shape 13"/>
          <p:cNvSpPr/>
          <p:nvPr/>
        </p:nvSpPr>
        <p:spPr>
          <a:xfrm>
            <a:off x="4855464" y="3406140"/>
            <a:ext cx="201168" cy="0"/>
          </a:xfrm>
          <a:prstGeom prst="line">
            <a:avLst/>
          </a:prstGeom>
          <a:noFill/>
          <a:ln w="25400">
            <a:solidFill>
              <a:srgbClr val="9DB7C1"/>
            </a:solidFill>
            <a:prstDash val="solid"/>
            <a:tailEnd type="triangle"/>
          </a:ln>
        </p:spPr>
      </p:sp>
      <p:sp>
        <p:nvSpPr>
          <p:cNvPr id="17" name="Shape 14"/>
          <p:cNvSpPr/>
          <p:nvPr/>
        </p:nvSpPr>
        <p:spPr>
          <a:xfrm>
            <a:off x="5084064" y="1600200"/>
            <a:ext cx="2011680" cy="3611880"/>
          </a:xfrm>
          <a:prstGeom prst="roundRect">
            <a:avLst>
              <a:gd name="adj" fmla="val 5455"/>
            </a:avLst>
          </a:prstGeom>
          <a:solidFill>
            <a:srgbClr val="12303D"/>
          </a:solidFill>
          <a:ln w="9525">
            <a:solidFill>
              <a:srgbClr val="23515F"/>
            </a:solidFill>
            <a:prstDash val="solid"/>
          </a:ln>
        </p:spPr>
      </p:sp>
      <p:sp>
        <p:nvSpPr>
          <p:cNvPr id="18" name="Text 15"/>
          <p:cNvSpPr txBox="1"/>
          <p:nvPr/>
        </p:nvSpPr>
        <p:spPr>
          <a:xfrm>
            <a:off x="5248656" y="2167128"/>
            <a:ext cx="1371600" cy="548640"/>
          </a:xfrm>
          <a:prstGeom prst="rect">
            <a:avLst/>
          </a:prstGeom>
          <a:noFill/>
          <a:ln/>
        </p:spPr>
        <p:txBody>
          <a:bodyPr wrap="square" lIns="0" tIns="0" rIns="0" bIns="0" rtlCol="0" anchor="t"/>
          <a:lstStyle/>
          <a:p>
            <a:pPr marL="0" indent="0">
              <a:buNone/>
            </a:pPr>
            <a:r>
              <a:rPr lang="en-US" sz="3000" b="1" dirty="0">
                <a:solidFill>
                  <a:srgbClr val="2DD4BF"/>
                </a:solidFill>
                <a:latin typeface="Cambria" pitchFamily="34" charset="0"/>
                <a:ea typeface="Cambria" pitchFamily="34" charset="-122"/>
                <a:cs typeface="Cambria" pitchFamily="34" charset="-120"/>
              </a:rPr>
              <a:t>03</a:t>
            </a:r>
            <a:endParaRPr lang="en-US" sz="3000" dirty="0"/>
          </a:p>
        </p:txBody>
      </p:sp>
      <p:sp>
        <p:nvSpPr>
          <p:cNvPr id="19" name="Text 16"/>
          <p:cNvSpPr txBox="1"/>
          <p:nvPr/>
        </p:nvSpPr>
        <p:spPr>
          <a:xfrm>
            <a:off x="5248656" y="2743200"/>
            <a:ext cx="173736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IDEATE</a:t>
            </a:r>
            <a:endParaRPr lang="en-US" sz="1600" dirty="0"/>
          </a:p>
        </p:txBody>
      </p:sp>
      <p:sp>
        <p:nvSpPr>
          <p:cNvPr id="20" name="Text 17"/>
          <p:cNvSpPr txBox="1"/>
          <p:nvPr/>
        </p:nvSpPr>
        <p:spPr>
          <a:xfrm>
            <a:off x="5248656" y="3246120"/>
            <a:ext cx="1719072" cy="1828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Monitoring</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Analytics</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Comparison</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Conversational AI</a:t>
            </a:r>
            <a:endParaRPr lang="en-US" sz="1400" dirty="0"/>
          </a:p>
        </p:txBody>
      </p:sp>
      <p:sp>
        <p:nvSpPr>
          <p:cNvPr id="21" name="Shape 18"/>
          <p:cNvSpPr/>
          <p:nvPr/>
        </p:nvSpPr>
        <p:spPr>
          <a:xfrm>
            <a:off x="7123176" y="3406140"/>
            <a:ext cx="201168" cy="0"/>
          </a:xfrm>
          <a:prstGeom prst="line">
            <a:avLst/>
          </a:prstGeom>
          <a:noFill/>
          <a:ln w="25400">
            <a:solidFill>
              <a:srgbClr val="9DB7C1"/>
            </a:solidFill>
            <a:prstDash val="solid"/>
            <a:tailEnd type="triangle"/>
          </a:ln>
        </p:spPr>
      </p:sp>
      <p:sp>
        <p:nvSpPr>
          <p:cNvPr id="22" name="Shape 19"/>
          <p:cNvSpPr/>
          <p:nvPr/>
        </p:nvSpPr>
        <p:spPr>
          <a:xfrm>
            <a:off x="7351776" y="1600200"/>
            <a:ext cx="2011680" cy="3611880"/>
          </a:xfrm>
          <a:prstGeom prst="roundRect">
            <a:avLst>
              <a:gd name="adj" fmla="val 5455"/>
            </a:avLst>
          </a:prstGeom>
          <a:solidFill>
            <a:srgbClr val="16284D"/>
          </a:solidFill>
          <a:ln w="9525">
            <a:solidFill>
              <a:srgbClr val="7AA7FF"/>
            </a:solidFill>
            <a:prstDash val="solid"/>
          </a:ln>
        </p:spPr>
      </p:sp>
      <p:sp>
        <p:nvSpPr>
          <p:cNvPr id="23" name="Shape 20"/>
          <p:cNvSpPr/>
          <p:nvPr/>
        </p:nvSpPr>
        <p:spPr>
          <a:xfrm>
            <a:off x="7516368" y="1783080"/>
            <a:ext cx="914400" cy="274320"/>
          </a:xfrm>
          <a:prstGeom prst="roundRect">
            <a:avLst>
              <a:gd name="adj" fmla="val 50000"/>
            </a:avLst>
          </a:prstGeom>
          <a:solidFill>
            <a:srgbClr val="7AA7FF"/>
          </a:solidFill>
          <a:ln w="12700">
            <a:solidFill>
              <a:srgbClr val="7AA7FF"/>
            </a:solidFill>
            <a:prstDash val="solid"/>
          </a:ln>
        </p:spPr>
      </p:sp>
      <p:sp>
        <p:nvSpPr>
          <p:cNvPr id="24" name="Text 21"/>
          <p:cNvSpPr txBox="1"/>
          <p:nvPr/>
        </p:nvSpPr>
        <p:spPr>
          <a:xfrm>
            <a:off x="7516368" y="1783080"/>
            <a:ext cx="914400" cy="274320"/>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IBM Bob</a:t>
            </a:r>
            <a:endParaRPr lang="en-US" sz="1100" dirty="0"/>
          </a:p>
        </p:txBody>
      </p:sp>
      <p:sp>
        <p:nvSpPr>
          <p:cNvPr id="25" name="Text 22"/>
          <p:cNvSpPr txBox="1"/>
          <p:nvPr/>
        </p:nvSpPr>
        <p:spPr>
          <a:xfrm>
            <a:off x="7516368" y="2167128"/>
            <a:ext cx="1371600" cy="548640"/>
          </a:xfrm>
          <a:prstGeom prst="rect">
            <a:avLst/>
          </a:prstGeom>
          <a:noFill/>
          <a:ln/>
        </p:spPr>
        <p:txBody>
          <a:bodyPr wrap="square" lIns="0" tIns="0" rIns="0" bIns="0" rtlCol="0" anchor="t"/>
          <a:lstStyle/>
          <a:p>
            <a:pPr marL="0" indent="0">
              <a:buNone/>
            </a:pPr>
            <a:r>
              <a:rPr lang="en-US" sz="3000" b="1" dirty="0">
                <a:solidFill>
                  <a:srgbClr val="7AA7FF"/>
                </a:solidFill>
                <a:latin typeface="Cambria" pitchFamily="34" charset="0"/>
                <a:ea typeface="Cambria" pitchFamily="34" charset="-122"/>
                <a:cs typeface="Cambria" pitchFamily="34" charset="-120"/>
              </a:rPr>
              <a:t>04</a:t>
            </a:r>
            <a:endParaRPr lang="en-US" sz="3000" dirty="0"/>
          </a:p>
        </p:txBody>
      </p:sp>
      <p:sp>
        <p:nvSpPr>
          <p:cNvPr id="26" name="Text 23"/>
          <p:cNvSpPr txBox="1"/>
          <p:nvPr/>
        </p:nvSpPr>
        <p:spPr>
          <a:xfrm>
            <a:off x="7516368" y="2743200"/>
            <a:ext cx="173736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REFINE</a:t>
            </a:r>
            <a:endParaRPr lang="en-US" sz="1600" dirty="0"/>
          </a:p>
        </p:txBody>
      </p:sp>
      <p:sp>
        <p:nvSpPr>
          <p:cNvPr id="27" name="Text 24"/>
          <p:cNvSpPr txBox="1"/>
          <p:nvPr/>
        </p:nvSpPr>
        <p:spPr>
          <a:xfrm>
            <a:off x="7516368" y="3246120"/>
            <a:ext cx="1719072" cy="1828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Problem-statement refinement</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AI workflow refinement</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Responsible AI review</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UX / concept refinement</a:t>
            </a:r>
            <a:endParaRPr lang="en-US" sz="1400" dirty="0"/>
          </a:p>
        </p:txBody>
      </p:sp>
      <p:sp>
        <p:nvSpPr>
          <p:cNvPr id="28" name="Shape 25"/>
          <p:cNvSpPr/>
          <p:nvPr/>
        </p:nvSpPr>
        <p:spPr>
          <a:xfrm>
            <a:off x="9390888" y="3406140"/>
            <a:ext cx="201168" cy="0"/>
          </a:xfrm>
          <a:prstGeom prst="line">
            <a:avLst/>
          </a:prstGeom>
          <a:noFill/>
          <a:ln w="25400">
            <a:solidFill>
              <a:srgbClr val="9DB7C1"/>
            </a:solidFill>
            <a:prstDash val="solid"/>
            <a:tailEnd type="triangle"/>
          </a:ln>
        </p:spPr>
      </p:sp>
      <p:sp>
        <p:nvSpPr>
          <p:cNvPr id="29" name="Shape 26"/>
          <p:cNvSpPr/>
          <p:nvPr/>
        </p:nvSpPr>
        <p:spPr>
          <a:xfrm>
            <a:off x="9619488" y="1600200"/>
            <a:ext cx="2011680" cy="3611880"/>
          </a:xfrm>
          <a:prstGeom prst="roundRect">
            <a:avLst>
              <a:gd name="adj" fmla="val 5455"/>
            </a:avLst>
          </a:prstGeom>
          <a:solidFill>
            <a:srgbClr val="12303D"/>
          </a:solidFill>
          <a:ln w="9525">
            <a:solidFill>
              <a:srgbClr val="23515F"/>
            </a:solidFill>
            <a:prstDash val="solid"/>
          </a:ln>
        </p:spPr>
      </p:sp>
      <p:sp>
        <p:nvSpPr>
          <p:cNvPr id="30" name="Text 27"/>
          <p:cNvSpPr txBox="1"/>
          <p:nvPr/>
        </p:nvSpPr>
        <p:spPr>
          <a:xfrm>
            <a:off x="9784080" y="2167128"/>
            <a:ext cx="1371600" cy="548640"/>
          </a:xfrm>
          <a:prstGeom prst="rect">
            <a:avLst/>
          </a:prstGeom>
          <a:noFill/>
          <a:ln/>
        </p:spPr>
        <p:txBody>
          <a:bodyPr wrap="square" lIns="0" tIns="0" rIns="0" bIns="0" rtlCol="0" anchor="t"/>
          <a:lstStyle/>
          <a:p>
            <a:pPr marL="0" indent="0">
              <a:buNone/>
            </a:pPr>
            <a:r>
              <a:rPr lang="en-US" sz="3000" b="1" dirty="0">
                <a:solidFill>
                  <a:srgbClr val="2DD4BF"/>
                </a:solidFill>
                <a:latin typeface="Cambria" pitchFamily="34" charset="0"/>
                <a:ea typeface="Cambria" pitchFamily="34" charset="-122"/>
                <a:cs typeface="Cambria" pitchFamily="34" charset="-120"/>
              </a:rPr>
              <a:t>05</a:t>
            </a:r>
            <a:endParaRPr lang="en-US" sz="3000" dirty="0"/>
          </a:p>
        </p:txBody>
      </p:sp>
      <p:sp>
        <p:nvSpPr>
          <p:cNvPr id="31" name="Text 28"/>
          <p:cNvSpPr txBox="1"/>
          <p:nvPr/>
        </p:nvSpPr>
        <p:spPr>
          <a:xfrm>
            <a:off x="9784080" y="2743200"/>
            <a:ext cx="173736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BUILD</a:t>
            </a:r>
            <a:endParaRPr lang="en-US" sz="1600" dirty="0"/>
          </a:p>
        </p:txBody>
      </p:sp>
      <p:sp>
        <p:nvSpPr>
          <p:cNvPr id="32" name="Text 29"/>
          <p:cNvSpPr txBox="1"/>
          <p:nvPr/>
        </p:nvSpPr>
        <p:spPr>
          <a:xfrm>
            <a:off x="9784080" y="3246120"/>
            <a:ext cx="1719072" cy="1828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Develop CleanAir AI</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Live data, analytics, map and grounded assistant</a:t>
            </a:r>
            <a:endParaRPr lang="en-US" sz="1400" dirty="0"/>
          </a:p>
        </p:txBody>
      </p:sp>
      <p:sp>
        <p:nvSpPr>
          <p:cNvPr id="33" name="Shape 30"/>
          <p:cNvSpPr/>
          <p:nvPr/>
        </p:nvSpPr>
        <p:spPr>
          <a:xfrm>
            <a:off x="548640" y="5440680"/>
            <a:ext cx="11091672" cy="777240"/>
          </a:xfrm>
          <a:prstGeom prst="roundRect">
            <a:avLst>
              <a:gd name="adj" fmla="val 14118"/>
            </a:avLst>
          </a:prstGeom>
          <a:solidFill>
            <a:srgbClr val="16284D"/>
          </a:solidFill>
          <a:ln w="9525">
            <a:solidFill>
              <a:srgbClr val="7AA7FF"/>
            </a:solidFill>
            <a:prstDash val="solid"/>
          </a:ln>
        </p:spPr>
      </p:sp>
      <p:sp>
        <p:nvSpPr>
          <p:cNvPr id="34" name="Shape 31"/>
          <p:cNvSpPr/>
          <p:nvPr/>
        </p:nvSpPr>
        <p:spPr>
          <a:xfrm>
            <a:off x="777240" y="5687568"/>
            <a:ext cx="731520" cy="274320"/>
          </a:xfrm>
          <a:prstGeom prst="roundRect">
            <a:avLst>
              <a:gd name="adj" fmla="val 50000"/>
            </a:avLst>
          </a:prstGeom>
          <a:solidFill>
            <a:srgbClr val="7AA7FF"/>
          </a:solidFill>
          <a:ln w="12700">
            <a:solidFill>
              <a:srgbClr val="7AA7FF"/>
            </a:solidFill>
            <a:prstDash val="solid"/>
          </a:ln>
        </p:spPr>
      </p:sp>
      <p:sp>
        <p:nvSpPr>
          <p:cNvPr id="35" name="Text 32"/>
          <p:cNvSpPr txBox="1"/>
          <p:nvPr/>
        </p:nvSpPr>
        <p:spPr>
          <a:xfrm>
            <a:off x="777240" y="5687568"/>
            <a:ext cx="731520" cy="274320"/>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NOTE</a:t>
            </a:r>
            <a:endParaRPr lang="en-US" sz="1100" dirty="0"/>
          </a:p>
        </p:txBody>
      </p:sp>
      <p:sp>
        <p:nvSpPr>
          <p:cNvPr id="36" name="Text 33"/>
          <p:cNvSpPr txBox="1"/>
          <p:nvPr/>
        </p:nvSpPr>
        <p:spPr>
          <a:xfrm>
            <a:off x="1737360" y="5440680"/>
            <a:ext cx="9692640" cy="7772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IBM Bob was used as a research and project-refinement aid, </a:t>
            </a:r>
            <a:r>
              <a:rPr lang="en-US" sz="1500" dirty="0">
                <a:solidFill>
                  <a:srgbClr val="FFFFFF"/>
                </a:solidFill>
                <a:latin typeface="Calibri" pitchFamily="34" charset="0"/>
                <a:ea typeface="Calibri" pitchFamily="34" charset="-122"/>
                <a:cs typeface="Calibri" pitchFamily="34" charset="-120"/>
              </a:rPr>
              <a:t>while the implemented production AI assistant uses Groq + Llama 3.3 70B.</a:t>
            </a:r>
            <a:endParaRPr lang="en-US" sz="15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05 · THE SOLUTION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Introducing CleanAir AI</a:t>
            </a:r>
            <a:endParaRPr lang="en-US" sz="3200" dirty="0"/>
          </a:p>
        </p:txBody>
      </p:sp>
      <p:sp>
        <p:nvSpPr>
          <p:cNvPr id="5" name="Shape 2"/>
          <p:cNvSpPr/>
          <p:nvPr/>
        </p:nvSpPr>
        <p:spPr>
          <a:xfrm>
            <a:off x="548640" y="1600200"/>
            <a:ext cx="3566160" cy="1371600"/>
          </a:xfrm>
          <a:prstGeom prst="roundRect">
            <a:avLst>
              <a:gd name="adj" fmla="val 8000"/>
            </a:avLst>
          </a:prstGeom>
          <a:solidFill>
            <a:srgbClr val="12303D"/>
          </a:solidFill>
          <a:ln w="9525">
            <a:solidFill>
              <a:srgbClr val="23515F"/>
            </a:solidFill>
            <a:prstDash val="solid"/>
          </a:ln>
        </p:spPr>
      </p:sp>
      <p:sp>
        <p:nvSpPr>
          <p:cNvPr id="6" name="Shape 3"/>
          <p:cNvSpPr/>
          <p:nvPr/>
        </p:nvSpPr>
        <p:spPr>
          <a:xfrm>
            <a:off x="731520" y="1783080"/>
            <a:ext cx="566928" cy="566928"/>
          </a:xfrm>
          <a:prstGeom prst="ellipse">
            <a:avLst/>
          </a:prstGeom>
          <a:solidFill>
            <a:srgbClr val="0A1B26"/>
          </a:solidFill>
          <a:ln w="12700">
            <a:solidFill>
              <a:srgbClr val="0A1B26"/>
            </a:solidFill>
            <a:prstDash val="solid"/>
          </a:ln>
        </p:spPr>
      </p:sp>
      <p:pic>
        <p:nvPicPr>
          <p:cNvPr id="7" name="Image 0" descr="preencoded.png"/>
          <p:cNvPicPr>
            <a:picLocks noChangeAspect="1"/>
          </p:cNvPicPr>
          <p:nvPr/>
        </p:nvPicPr>
        <p:blipFill>
          <a:blip r:embed="rId3"/>
          <a:stretch>
            <a:fillRect/>
          </a:stretch>
        </p:blipFill>
        <p:spPr>
          <a:xfrm>
            <a:off x="873252" y="1924812"/>
            <a:ext cx="283464" cy="283464"/>
          </a:xfrm>
          <a:prstGeom prst="rect">
            <a:avLst/>
          </a:prstGeom>
        </p:spPr>
      </p:pic>
      <p:sp>
        <p:nvSpPr>
          <p:cNvPr id="8" name="Text 4"/>
          <p:cNvSpPr txBox="1"/>
          <p:nvPr/>
        </p:nvSpPr>
        <p:spPr>
          <a:xfrm>
            <a:off x="1463040" y="1783080"/>
            <a:ext cx="2514600" cy="56692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Live Air Quality Dashboard</a:t>
            </a:r>
            <a:endParaRPr lang="en-US" sz="1550" dirty="0"/>
          </a:p>
        </p:txBody>
      </p:sp>
      <p:sp>
        <p:nvSpPr>
          <p:cNvPr id="9" name="Text 5"/>
          <p:cNvSpPr txBox="1"/>
          <p:nvPr/>
        </p:nvSpPr>
        <p:spPr>
          <a:xfrm>
            <a:off x="731520" y="2441448"/>
            <a:ext cx="3246120" cy="50292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AQI hero card, health category, dominant pollutant, live sync timestamp</a:t>
            </a:r>
            <a:endParaRPr lang="en-US" sz="1200" dirty="0"/>
          </a:p>
        </p:txBody>
      </p:sp>
      <p:sp>
        <p:nvSpPr>
          <p:cNvPr id="10" name="Shape 6"/>
          <p:cNvSpPr/>
          <p:nvPr/>
        </p:nvSpPr>
        <p:spPr>
          <a:xfrm>
            <a:off x="4311396" y="1600200"/>
            <a:ext cx="3566160" cy="1371600"/>
          </a:xfrm>
          <a:prstGeom prst="roundRect">
            <a:avLst>
              <a:gd name="adj" fmla="val 8000"/>
            </a:avLst>
          </a:prstGeom>
          <a:solidFill>
            <a:srgbClr val="12303D"/>
          </a:solidFill>
          <a:ln w="9525">
            <a:solidFill>
              <a:srgbClr val="23515F"/>
            </a:solidFill>
            <a:prstDash val="solid"/>
          </a:ln>
        </p:spPr>
      </p:sp>
      <p:sp>
        <p:nvSpPr>
          <p:cNvPr id="11" name="Shape 7"/>
          <p:cNvSpPr/>
          <p:nvPr/>
        </p:nvSpPr>
        <p:spPr>
          <a:xfrm>
            <a:off x="4494276" y="1783080"/>
            <a:ext cx="566928" cy="566928"/>
          </a:xfrm>
          <a:prstGeom prst="ellipse">
            <a:avLst/>
          </a:prstGeom>
          <a:solidFill>
            <a:srgbClr val="0A1B26"/>
          </a:solidFill>
          <a:ln w="12700">
            <a:solidFill>
              <a:srgbClr val="0A1B26"/>
            </a:solidFill>
            <a:prstDash val="solid"/>
          </a:ln>
        </p:spPr>
      </p:sp>
      <p:pic>
        <p:nvPicPr>
          <p:cNvPr id="12" name="Image 1" descr="preencoded.png"/>
          <p:cNvPicPr>
            <a:picLocks noChangeAspect="1"/>
          </p:cNvPicPr>
          <p:nvPr/>
        </p:nvPicPr>
        <p:blipFill>
          <a:blip r:embed="rId4"/>
          <a:stretch>
            <a:fillRect/>
          </a:stretch>
        </p:blipFill>
        <p:spPr>
          <a:xfrm>
            <a:off x="4636008" y="1924812"/>
            <a:ext cx="283464" cy="283464"/>
          </a:xfrm>
          <a:prstGeom prst="rect">
            <a:avLst/>
          </a:prstGeom>
        </p:spPr>
      </p:pic>
      <p:sp>
        <p:nvSpPr>
          <p:cNvPr id="13" name="Text 8"/>
          <p:cNvSpPr txBox="1"/>
          <p:nvPr/>
        </p:nvSpPr>
        <p:spPr>
          <a:xfrm>
            <a:off x="5225796" y="1783080"/>
            <a:ext cx="2514600" cy="56692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Criteria Pollutant Monitoring</a:t>
            </a:r>
            <a:endParaRPr lang="en-US" sz="1550" dirty="0"/>
          </a:p>
        </p:txBody>
      </p:sp>
      <p:sp>
        <p:nvSpPr>
          <p:cNvPr id="14" name="Text 9"/>
          <p:cNvSpPr txBox="1"/>
          <p:nvPr/>
        </p:nvSpPr>
        <p:spPr>
          <a:xfrm>
            <a:off x="4494276" y="2441448"/>
            <a:ext cx="3246120" cy="50292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PM2.5, PM10, NO₂, SO₂, CO and O₃ with units and threshold comparison</a:t>
            </a:r>
            <a:endParaRPr lang="en-US" sz="1200" dirty="0"/>
          </a:p>
        </p:txBody>
      </p:sp>
      <p:sp>
        <p:nvSpPr>
          <p:cNvPr id="15" name="Shape 10"/>
          <p:cNvSpPr/>
          <p:nvPr/>
        </p:nvSpPr>
        <p:spPr>
          <a:xfrm>
            <a:off x="8074152" y="1600200"/>
            <a:ext cx="3566160" cy="1371600"/>
          </a:xfrm>
          <a:prstGeom prst="roundRect">
            <a:avLst>
              <a:gd name="adj" fmla="val 8000"/>
            </a:avLst>
          </a:prstGeom>
          <a:solidFill>
            <a:srgbClr val="12303D"/>
          </a:solidFill>
          <a:ln w="9525">
            <a:solidFill>
              <a:srgbClr val="23515F"/>
            </a:solidFill>
            <a:prstDash val="solid"/>
          </a:ln>
        </p:spPr>
      </p:sp>
      <p:sp>
        <p:nvSpPr>
          <p:cNvPr id="16" name="Shape 11"/>
          <p:cNvSpPr/>
          <p:nvPr/>
        </p:nvSpPr>
        <p:spPr>
          <a:xfrm>
            <a:off x="8257032" y="1783080"/>
            <a:ext cx="566928" cy="566928"/>
          </a:xfrm>
          <a:prstGeom prst="ellipse">
            <a:avLst/>
          </a:prstGeom>
          <a:solidFill>
            <a:srgbClr val="0A1B26"/>
          </a:solidFill>
          <a:ln w="12700">
            <a:solidFill>
              <a:srgbClr val="0A1B26"/>
            </a:solidFill>
            <a:prstDash val="solid"/>
          </a:ln>
        </p:spPr>
      </p:sp>
      <p:pic>
        <p:nvPicPr>
          <p:cNvPr id="17" name="Image 2" descr="preencoded.png"/>
          <p:cNvPicPr>
            <a:picLocks noChangeAspect="1"/>
          </p:cNvPicPr>
          <p:nvPr/>
        </p:nvPicPr>
        <p:blipFill>
          <a:blip r:embed="rId5"/>
          <a:stretch>
            <a:fillRect/>
          </a:stretch>
        </p:blipFill>
        <p:spPr>
          <a:xfrm>
            <a:off x="8398764" y="1924812"/>
            <a:ext cx="283464" cy="283464"/>
          </a:xfrm>
          <a:prstGeom prst="rect">
            <a:avLst/>
          </a:prstGeom>
        </p:spPr>
      </p:pic>
      <p:sp>
        <p:nvSpPr>
          <p:cNvPr id="18" name="Text 12"/>
          <p:cNvSpPr txBox="1"/>
          <p:nvPr/>
        </p:nvSpPr>
        <p:spPr>
          <a:xfrm>
            <a:off x="8988552" y="1783080"/>
            <a:ext cx="2514600" cy="56692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Major Cities Catalog</a:t>
            </a:r>
            <a:endParaRPr lang="en-US" sz="1550" dirty="0"/>
          </a:p>
        </p:txBody>
      </p:sp>
      <p:sp>
        <p:nvSpPr>
          <p:cNvPr id="19" name="Text 13"/>
          <p:cNvSpPr txBox="1"/>
          <p:nvPr/>
        </p:nvSpPr>
        <p:spPr>
          <a:xfrm>
            <a:off x="8257032" y="2441448"/>
            <a:ext cx="3246120" cy="50292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9 Indian and 9 international cities, e.g. Delhi, Dehradun, London, Tokyo</a:t>
            </a:r>
            <a:endParaRPr lang="en-US" sz="1200" dirty="0"/>
          </a:p>
        </p:txBody>
      </p:sp>
      <p:sp>
        <p:nvSpPr>
          <p:cNvPr id="20" name="Shape 14"/>
          <p:cNvSpPr/>
          <p:nvPr/>
        </p:nvSpPr>
        <p:spPr>
          <a:xfrm>
            <a:off x="548640" y="3136392"/>
            <a:ext cx="3566160" cy="1371600"/>
          </a:xfrm>
          <a:prstGeom prst="roundRect">
            <a:avLst>
              <a:gd name="adj" fmla="val 8000"/>
            </a:avLst>
          </a:prstGeom>
          <a:solidFill>
            <a:srgbClr val="12303D"/>
          </a:solidFill>
          <a:ln w="9525">
            <a:solidFill>
              <a:srgbClr val="23515F"/>
            </a:solidFill>
            <a:prstDash val="solid"/>
          </a:ln>
        </p:spPr>
      </p:sp>
      <p:sp>
        <p:nvSpPr>
          <p:cNvPr id="21" name="Shape 15"/>
          <p:cNvSpPr/>
          <p:nvPr/>
        </p:nvSpPr>
        <p:spPr>
          <a:xfrm>
            <a:off x="731520" y="3319272"/>
            <a:ext cx="566928" cy="566928"/>
          </a:xfrm>
          <a:prstGeom prst="ellipse">
            <a:avLst/>
          </a:prstGeom>
          <a:solidFill>
            <a:srgbClr val="0A1B26"/>
          </a:solidFill>
          <a:ln w="12700">
            <a:solidFill>
              <a:srgbClr val="0A1B26"/>
            </a:solidFill>
            <a:prstDash val="solid"/>
          </a:ln>
        </p:spPr>
      </p:sp>
      <p:pic>
        <p:nvPicPr>
          <p:cNvPr id="22" name="Image 3" descr="preencoded.png"/>
          <p:cNvPicPr>
            <a:picLocks noChangeAspect="1"/>
          </p:cNvPicPr>
          <p:nvPr/>
        </p:nvPicPr>
        <p:blipFill>
          <a:blip r:embed="rId6"/>
          <a:stretch>
            <a:fillRect/>
          </a:stretch>
        </p:blipFill>
        <p:spPr>
          <a:xfrm>
            <a:off x="873252" y="3461004"/>
            <a:ext cx="283464" cy="283464"/>
          </a:xfrm>
          <a:prstGeom prst="rect">
            <a:avLst/>
          </a:prstGeom>
        </p:spPr>
      </p:pic>
      <p:sp>
        <p:nvSpPr>
          <p:cNvPr id="23" name="Text 16"/>
          <p:cNvSpPr txBox="1"/>
          <p:nvPr/>
        </p:nvSpPr>
        <p:spPr>
          <a:xfrm>
            <a:off x="1463040" y="3319272"/>
            <a:ext cx="2514600" cy="56692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Historical Analytics</a:t>
            </a:r>
            <a:endParaRPr lang="en-US" sz="1550" dirty="0"/>
          </a:p>
        </p:txBody>
      </p:sp>
      <p:sp>
        <p:nvSpPr>
          <p:cNvPr id="24" name="Text 17"/>
          <p:cNvSpPr txBox="1"/>
          <p:nvPr/>
        </p:nvSpPr>
        <p:spPr>
          <a:xfrm>
            <a:off x="731520" y="3977640"/>
            <a:ext cx="3246120" cy="50292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Interactive time-series trends for 24 hours, 7 days and 30 days</a:t>
            </a:r>
            <a:endParaRPr lang="en-US" sz="1200" dirty="0"/>
          </a:p>
        </p:txBody>
      </p:sp>
      <p:sp>
        <p:nvSpPr>
          <p:cNvPr id="25" name="Shape 18"/>
          <p:cNvSpPr/>
          <p:nvPr/>
        </p:nvSpPr>
        <p:spPr>
          <a:xfrm>
            <a:off x="4311396" y="3136392"/>
            <a:ext cx="3566160" cy="1371600"/>
          </a:xfrm>
          <a:prstGeom prst="roundRect">
            <a:avLst>
              <a:gd name="adj" fmla="val 8000"/>
            </a:avLst>
          </a:prstGeom>
          <a:solidFill>
            <a:srgbClr val="12303D"/>
          </a:solidFill>
          <a:ln w="9525">
            <a:solidFill>
              <a:srgbClr val="23515F"/>
            </a:solidFill>
            <a:prstDash val="solid"/>
          </a:ln>
        </p:spPr>
      </p:sp>
      <p:sp>
        <p:nvSpPr>
          <p:cNvPr id="26" name="Shape 19"/>
          <p:cNvSpPr/>
          <p:nvPr/>
        </p:nvSpPr>
        <p:spPr>
          <a:xfrm>
            <a:off x="4494276" y="3319272"/>
            <a:ext cx="566928" cy="566928"/>
          </a:xfrm>
          <a:prstGeom prst="ellipse">
            <a:avLst/>
          </a:prstGeom>
          <a:solidFill>
            <a:srgbClr val="0A1B26"/>
          </a:solidFill>
          <a:ln w="12700">
            <a:solidFill>
              <a:srgbClr val="0A1B26"/>
            </a:solidFill>
            <a:prstDash val="solid"/>
          </a:ln>
        </p:spPr>
      </p:sp>
      <p:pic>
        <p:nvPicPr>
          <p:cNvPr id="27" name="Image 4" descr="preencoded.png"/>
          <p:cNvPicPr>
            <a:picLocks noChangeAspect="1"/>
          </p:cNvPicPr>
          <p:nvPr/>
        </p:nvPicPr>
        <p:blipFill>
          <a:blip r:embed="rId7"/>
          <a:stretch>
            <a:fillRect/>
          </a:stretch>
        </p:blipFill>
        <p:spPr>
          <a:xfrm>
            <a:off x="4636008" y="3461004"/>
            <a:ext cx="283464" cy="283464"/>
          </a:xfrm>
          <a:prstGeom prst="rect">
            <a:avLst/>
          </a:prstGeom>
        </p:spPr>
      </p:pic>
      <p:sp>
        <p:nvSpPr>
          <p:cNvPr id="28" name="Text 20"/>
          <p:cNvSpPr txBox="1"/>
          <p:nvPr/>
        </p:nvSpPr>
        <p:spPr>
          <a:xfrm>
            <a:off x="5225796" y="3319272"/>
            <a:ext cx="2514600" cy="56692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Multi-City Comparison</a:t>
            </a:r>
            <a:endParaRPr lang="en-US" sz="1550" dirty="0"/>
          </a:p>
        </p:txBody>
      </p:sp>
      <p:sp>
        <p:nvSpPr>
          <p:cNvPr id="29" name="Text 21"/>
          <p:cNvSpPr txBox="1"/>
          <p:nvPr/>
        </p:nvSpPr>
        <p:spPr>
          <a:xfrm>
            <a:off x="4494276" y="3977640"/>
            <a:ext cx="3246120" cy="50292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Side-by-side matrix and bar charts for up to 5 cities</a:t>
            </a:r>
            <a:endParaRPr lang="en-US" sz="1200" dirty="0"/>
          </a:p>
        </p:txBody>
      </p:sp>
      <p:sp>
        <p:nvSpPr>
          <p:cNvPr id="30" name="Shape 22"/>
          <p:cNvSpPr/>
          <p:nvPr/>
        </p:nvSpPr>
        <p:spPr>
          <a:xfrm>
            <a:off x="8074152" y="3136392"/>
            <a:ext cx="3566160" cy="1371600"/>
          </a:xfrm>
          <a:prstGeom prst="roundRect">
            <a:avLst>
              <a:gd name="adj" fmla="val 8000"/>
            </a:avLst>
          </a:prstGeom>
          <a:solidFill>
            <a:srgbClr val="12303D"/>
          </a:solidFill>
          <a:ln w="9525">
            <a:solidFill>
              <a:srgbClr val="23515F"/>
            </a:solidFill>
            <a:prstDash val="solid"/>
          </a:ln>
        </p:spPr>
      </p:sp>
      <p:sp>
        <p:nvSpPr>
          <p:cNvPr id="31" name="Shape 23"/>
          <p:cNvSpPr/>
          <p:nvPr/>
        </p:nvSpPr>
        <p:spPr>
          <a:xfrm>
            <a:off x="8257032" y="3319272"/>
            <a:ext cx="566928" cy="566928"/>
          </a:xfrm>
          <a:prstGeom prst="ellipse">
            <a:avLst/>
          </a:prstGeom>
          <a:solidFill>
            <a:srgbClr val="0A1B26"/>
          </a:solidFill>
          <a:ln w="12700">
            <a:solidFill>
              <a:srgbClr val="0A1B26"/>
            </a:solidFill>
            <a:prstDash val="solid"/>
          </a:ln>
        </p:spPr>
      </p:sp>
      <p:pic>
        <p:nvPicPr>
          <p:cNvPr id="32" name="Image 5" descr="preencoded.png"/>
          <p:cNvPicPr>
            <a:picLocks noChangeAspect="1"/>
          </p:cNvPicPr>
          <p:nvPr/>
        </p:nvPicPr>
        <p:blipFill>
          <a:blip r:embed="rId8"/>
          <a:stretch>
            <a:fillRect/>
          </a:stretch>
        </p:blipFill>
        <p:spPr>
          <a:xfrm>
            <a:off x="8398764" y="3461004"/>
            <a:ext cx="283464" cy="283464"/>
          </a:xfrm>
          <a:prstGeom prst="rect">
            <a:avLst/>
          </a:prstGeom>
        </p:spPr>
      </p:pic>
      <p:sp>
        <p:nvSpPr>
          <p:cNvPr id="33" name="Text 24"/>
          <p:cNvSpPr txBox="1"/>
          <p:nvPr/>
        </p:nvSpPr>
        <p:spPr>
          <a:xfrm>
            <a:off x="8988552" y="3319272"/>
            <a:ext cx="2514600" cy="56692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Monitoring Station Map</a:t>
            </a:r>
            <a:endParaRPr lang="en-US" sz="1550" dirty="0"/>
          </a:p>
        </p:txBody>
      </p:sp>
      <p:sp>
        <p:nvSpPr>
          <p:cNvPr id="34" name="Text 25"/>
          <p:cNvSpPr txBox="1"/>
          <p:nvPr/>
        </p:nvSpPr>
        <p:spPr>
          <a:xfrm>
            <a:off x="8257032" y="3977640"/>
            <a:ext cx="3246120" cy="50292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Leaflet + OpenStreetMap plotting real sensor coordinates</a:t>
            </a:r>
            <a:endParaRPr lang="en-US" sz="1200" dirty="0"/>
          </a:p>
        </p:txBody>
      </p:sp>
      <p:sp>
        <p:nvSpPr>
          <p:cNvPr id="35" name="Shape 26"/>
          <p:cNvSpPr/>
          <p:nvPr/>
        </p:nvSpPr>
        <p:spPr>
          <a:xfrm>
            <a:off x="548640" y="4672584"/>
            <a:ext cx="3566160" cy="1371600"/>
          </a:xfrm>
          <a:prstGeom prst="roundRect">
            <a:avLst>
              <a:gd name="adj" fmla="val 8000"/>
            </a:avLst>
          </a:prstGeom>
          <a:solidFill>
            <a:srgbClr val="0F3A3D"/>
          </a:solidFill>
          <a:ln w="9525">
            <a:solidFill>
              <a:srgbClr val="2DD4BF"/>
            </a:solidFill>
            <a:prstDash val="solid"/>
          </a:ln>
        </p:spPr>
      </p:sp>
      <p:sp>
        <p:nvSpPr>
          <p:cNvPr id="36" name="Shape 27"/>
          <p:cNvSpPr/>
          <p:nvPr/>
        </p:nvSpPr>
        <p:spPr>
          <a:xfrm>
            <a:off x="731520" y="4855464"/>
            <a:ext cx="566928" cy="566928"/>
          </a:xfrm>
          <a:prstGeom prst="ellipse">
            <a:avLst/>
          </a:prstGeom>
          <a:solidFill>
            <a:srgbClr val="2DD4BF"/>
          </a:solidFill>
          <a:ln w="12700">
            <a:solidFill>
              <a:srgbClr val="2DD4BF"/>
            </a:solidFill>
            <a:prstDash val="solid"/>
          </a:ln>
        </p:spPr>
      </p:sp>
      <p:pic>
        <p:nvPicPr>
          <p:cNvPr id="37" name="Image 6" descr="preencoded.png"/>
          <p:cNvPicPr>
            <a:picLocks noChangeAspect="1"/>
          </p:cNvPicPr>
          <p:nvPr/>
        </p:nvPicPr>
        <p:blipFill>
          <a:blip r:embed="rId9"/>
          <a:stretch>
            <a:fillRect/>
          </a:stretch>
        </p:blipFill>
        <p:spPr>
          <a:xfrm>
            <a:off x="873252" y="4997196"/>
            <a:ext cx="283464" cy="283464"/>
          </a:xfrm>
          <a:prstGeom prst="rect">
            <a:avLst/>
          </a:prstGeom>
        </p:spPr>
      </p:pic>
      <p:sp>
        <p:nvSpPr>
          <p:cNvPr id="38" name="Text 28"/>
          <p:cNvSpPr txBox="1"/>
          <p:nvPr/>
        </p:nvSpPr>
        <p:spPr>
          <a:xfrm>
            <a:off x="1463040" y="4855464"/>
            <a:ext cx="2514600" cy="56692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AI Assistant</a:t>
            </a:r>
            <a:endParaRPr lang="en-US" sz="1550" dirty="0"/>
          </a:p>
        </p:txBody>
      </p:sp>
      <p:sp>
        <p:nvSpPr>
          <p:cNvPr id="39" name="Text 29"/>
          <p:cNvSpPr txBox="1"/>
          <p:nvPr/>
        </p:nvSpPr>
        <p:spPr>
          <a:xfrm>
            <a:off x="731520" y="5513832"/>
            <a:ext cx="3246120" cy="50292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Groq-powered, grounded explanations, pollutant risks and mitigation</a:t>
            </a:r>
            <a:endParaRPr lang="en-US" sz="1200" dirty="0"/>
          </a:p>
        </p:txBody>
      </p:sp>
      <p:sp>
        <p:nvSpPr>
          <p:cNvPr id="40" name="Shape 30"/>
          <p:cNvSpPr/>
          <p:nvPr/>
        </p:nvSpPr>
        <p:spPr>
          <a:xfrm>
            <a:off x="4311396" y="4672584"/>
            <a:ext cx="3566160" cy="1371600"/>
          </a:xfrm>
          <a:prstGeom prst="roundRect">
            <a:avLst>
              <a:gd name="adj" fmla="val 8000"/>
            </a:avLst>
          </a:prstGeom>
          <a:solidFill>
            <a:srgbClr val="12303D"/>
          </a:solidFill>
          <a:ln w="9525">
            <a:solidFill>
              <a:srgbClr val="23515F"/>
            </a:solidFill>
            <a:prstDash val="solid"/>
          </a:ln>
        </p:spPr>
      </p:sp>
      <p:sp>
        <p:nvSpPr>
          <p:cNvPr id="41" name="Shape 31"/>
          <p:cNvSpPr/>
          <p:nvPr/>
        </p:nvSpPr>
        <p:spPr>
          <a:xfrm>
            <a:off x="4494276" y="4855464"/>
            <a:ext cx="566928" cy="566928"/>
          </a:xfrm>
          <a:prstGeom prst="ellipse">
            <a:avLst/>
          </a:prstGeom>
          <a:solidFill>
            <a:srgbClr val="0A1B26"/>
          </a:solidFill>
          <a:ln w="12700">
            <a:solidFill>
              <a:srgbClr val="0A1B26"/>
            </a:solidFill>
            <a:prstDash val="solid"/>
          </a:ln>
        </p:spPr>
      </p:sp>
      <p:pic>
        <p:nvPicPr>
          <p:cNvPr id="42" name="Image 7" descr="preencoded.png"/>
          <p:cNvPicPr>
            <a:picLocks noChangeAspect="1"/>
          </p:cNvPicPr>
          <p:nvPr/>
        </p:nvPicPr>
        <p:blipFill>
          <a:blip r:embed="rId10"/>
          <a:stretch>
            <a:fillRect/>
          </a:stretch>
        </p:blipFill>
        <p:spPr>
          <a:xfrm>
            <a:off x="4636008" y="4997196"/>
            <a:ext cx="283464" cy="283464"/>
          </a:xfrm>
          <a:prstGeom prst="rect">
            <a:avLst/>
          </a:prstGeom>
        </p:spPr>
      </p:pic>
      <p:sp>
        <p:nvSpPr>
          <p:cNvPr id="43" name="Text 32"/>
          <p:cNvSpPr txBox="1"/>
          <p:nvPr/>
        </p:nvSpPr>
        <p:spPr>
          <a:xfrm>
            <a:off x="5225796" y="4855464"/>
            <a:ext cx="2514600" cy="56692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Responsible AI &amp; Ethics</a:t>
            </a:r>
            <a:endParaRPr lang="en-US" sz="1550" dirty="0"/>
          </a:p>
        </p:txBody>
      </p:sp>
      <p:sp>
        <p:nvSpPr>
          <p:cNvPr id="44" name="Text 33"/>
          <p:cNvSpPr txBox="1"/>
          <p:nvPr/>
        </p:nvSpPr>
        <p:spPr>
          <a:xfrm>
            <a:off x="4494276" y="5513832"/>
            <a:ext cx="3246120" cy="50292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Data provenance, grounding, limitations and credential protection</a:t>
            </a:r>
            <a:endParaRPr lang="en-US" sz="1200" dirty="0"/>
          </a:p>
        </p:txBody>
      </p:sp>
      <p:sp>
        <p:nvSpPr>
          <p:cNvPr id="45" name="Shape 34"/>
          <p:cNvSpPr/>
          <p:nvPr/>
        </p:nvSpPr>
        <p:spPr>
          <a:xfrm>
            <a:off x="8074152" y="4672584"/>
            <a:ext cx="3566160" cy="1371600"/>
          </a:xfrm>
          <a:prstGeom prst="roundRect">
            <a:avLst>
              <a:gd name="adj" fmla="val 8000"/>
            </a:avLst>
          </a:prstGeom>
          <a:solidFill>
            <a:srgbClr val="12303D"/>
          </a:solidFill>
          <a:ln w="9525">
            <a:solidFill>
              <a:srgbClr val="23515F"/>
            </a:solidFill>
            <a:prstDash val="solid"/>
          </a:ln>
        </p:spPr>
      </p:sp>
      <p:sp>
        <p:nvSpPr>
          <p:cNvPr id="46" name="Shape 35"/>
          <p:cNvSpPr/>
          <p:nvPr/>
        </p:nvSpPr>
        <p:spPr>
          <a:xfrm>
            <a:off x="8257032" y="4855464"/>
            <a:ext cx="566928" cy="566928"/>
          </a:xfrm>
          <a:prstGeom prst="ellipse">
            <a:avLst/>
          </a:prstGeom>
          <a:solidFill>
            <a:srgbClr val="0A1B26"/>
          </a:solidFill>
          <a:ln w="12700">
            <a:solidFill>
              <a:srgbClr val="0A1B26"/>
            </a:solidFill>
            <a:prstDash val="solid"/>
          </a:ln>
        </p:spPr>
      </p:sp>
      <p:pic>
        <p:nvPicPr>
          <p:cNvPr id="47" name="Image 8" descr="preencoded.png"/>
          <p:cNvPicPr>
            <a:picLocks noChangeAspect="1"/>
          </p:cNvPicPr>
          <p:nvPr/>
        </p:nvPicPr>
        <p:blipFill>
          <a:blip r:embed="rId11"/>
          <a:stretch>
            <a:fillRect/>
          </a:stretch>
        </p:blipFill>
        <p:spPr>
          <a:xfrm>
            <a:off x="8398764" y="4997196"/>
            <a:ext cx="283464" cy="283464"/>
          </a:xfrm>
          <a:prstGeom prst="rect">
            <a:avLst/>
          </a:prstGeom>
        </p:spPr>
      </p:pic>
      <p:sp>
        <p:nvSpPr>
          <p:cNvPr id="48" name="Text 36"/>
          <p:cNvSpPr txBox="1"/>
          <p:nvPr/>
        </p:nvSpPr>
        <p:spPr>
          <a:xfrm>
            <a:off x="8988552" y="4855464"/>
            <a:ext cx="2514600" cy="56692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Resilient Data Architecture</a:t>
            </a:r>
            <a:endParaRPr lang="en-US" sz="1550" dirty="0"/>
          </a:p>
        </p:txBody>
      </p:sp>
      <p:sp>
        <p:nvSpPr>
          <p:cNvPr id="49" name="Text 37"/>
          <p:cNvSpPr txBox="1"/>
          <p:nvPr/>
        </p:nvSpPr>
        <p:spPr>
          <a:xfrm>
            <a:off x="8257032" y="5513832"/>
            <a:ext cx="3246120" cy="50292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“AQI Unavailable” handling and fallback from live OpenAQ to demo data</a:t>
            </a:r>
            <a:endParaRPr lang="en-US" sz="12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06 · WHERE AI IS USED</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AI at the Core of CleanAir AI</a:t>
            </a:r>
            <a:endParaRPr lang="en-US" sz="3200" dirty="0"/>
          </a:p>
        </p:txBody>
      </p:sp>
      <p:sp>
        <p:nvSpPr>
          <p:cNvPr id="5" name="Shape 2"/>
          <p:cNvSpPr/>
          <p:nvPr/>
        </p:nvSpPr>
        <p:spPr>
          <a:xfrm>
            <a:off x="548640" y="1600200"/>
            <a:ext cx="5029200" cy="3931920"/>
          </a:xfrm>
          <a:prstGeom prst="roundRect">
            <a:avLst>
              <a:gd name="adj" fmla="val 2791"/>
            </a:avLst>
          </a:prstGeom>
          <a:solidFill>
            <a:srgbClr val="16284D"/>
          </a:solidFill>
          <a:ln w="9525">
            <a:solidFill>
              <a:srgbClr val="7AA7FF"/>
            </a:solidFill>
            <a:prstDash val="solid"/>
          </a:ln>
        </p:spPr>
      </p:sp>
      <p:sp>
        <p:nvSpPr>
          <p:cNvPr id="6" name="Shape 3"/>
          <p:cNvSpPr/>
          <p:nvPr/>
        </p:nvSpPr>
        <p:spPr>
          <a:xfrm>
            <a:off x="777240" y="1810512"/>
            <a:ext cx="3840480" cy="292608"/>
          </a:xfrm>
          <a:prstGeom prst="roundRect">
            <a:avLst>
              <a:gd name="adj" fmla="val 50000"/>
            </a:avLst>
          </a:prstGeom>
          <a:solidFill>
            <a:srgbClr val="7AA7FF"/>
          </a:solidFill>
          <a:ln w="12700">
            <a:solidFill>
              <a:srgbClr val="7AA7FF"/>
            </a:solidFill>
            <a:prstDash val="solid"/>
          </a:ln>
        </p:spPr>
      </p:sp>
      <p:sp>
        <p:nvSpPr>
          <p:cNvPr id="7" name="Text 4"/>
          <p:cNvSpPr txBox="1"/>
          <p:nvPr/>
        </p:nvSpPr>
        <p:spPr>
          <a:xfrm>
            <a:off x="777240" y="1810512"/>
            <a:ext cx="3840480" cy="292608"/>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DEVELOPMENT-TIME · RESEARCH &amp; REFINEMENT</a:t>
            </a:r>
            <a:endParaRPr lang="en-US" sz="1100" dirty="0"/>
          </a:p>
        </p:txBody>
      </p:sp>
      <p:sp>
        <p:nvSpPr>
          <p:cNvPr id="8" name="Text 5"/>
          <p:cNvSpPr txBox="1"/>
          <p:nvPr/>
        </p:nvSpPr>
        <p:spPr>
          <a:xfrm>
            <a:off x="777240" y="2240280"/>
            <a:ext cx="4572000" cy="640080"/>
          </a:xfrm>
          <a:prstGeom prst="rect">
            <a:avLst/>
          </a:prstGeom>
          <a:noFill/>
          <a:ln/>
        </p:spPr>
        <p:txBody>
          <a:bodyPr wrap="square" lIns="0" tIns="0" rIns="0" bIns="0" rtlCol="0" anchor="t"/>
          <a:lstStyle/>
          <a:p>
            <a:pPr marL="0" indent="0">
              <a:buNone/>
            </a:pPr>
            <a:r>
              <a:rPr lang="en-US" sz="3600" b="1" dirty="0">
                <a:solidFill>
                  <a:srgbClr val="7AA7FF"/>
                </a:solidFill>
                <a:latin typeface="Cambria" pitchFamily="34" charset="0"/>
                <a:ea typeface="Cambria" pitchFamily="34" charset="-122"/>
                <a:cs typeface="Cambria" pitchFamily="34" charset="-120"/>
              </a:rPr>
              <a:t>IBM Bob</a:t>
            </a:r>
            <a:endParaRPr lang="en-US" sz="3600" dirty="0"/>
          </a:p>
        </p:txBody>
      </p:sp>
      <p:sp>
        <p:nvSpPr>
          <p:cNvPr id="9" name="Text 6"/>
          <p:cNvSpPr txBox="1"/>
          <p:nvPr/>
        </p:nvSpPr>
        <p:spPr>
          <a:xfrm>
            <a:off x="777240" y="2880360"/>
            <a:ext cx="4572000" cy="320040"/>
          </a:xfrm>
          <a:prstGeom prst="rect">
            <a:avLst/>
          </a:prstGeom>
          <a:noFill/>
          <a:ln/>
        </p:spPr>
        <p:txBody>
          <a:bodyPr wrap="square" lIns="0" tIns="0" rIns="0" bIns="0" rtlCol="0" anchor="t"/>
          <a:lstStyle/>
          <a:p>
            <a:pPr marL="0" indent="0">
              <a:buNone/>
            </a:pPr>
            <a:r>
              <a:rPr lang="en-US" sz="1500" dirty="0">
                <a:solidFill>
                  <a:srgbClr val="9DB7C1"/>
                </a:solidFill>
                <a:latin typeface="Calibri" pitchFamily="34" charset="0"/>
                <a:ea typeface="Calibri" pitchFamily="34" charset="-122"/>
                <a:cs typeface="Calibri" pitchFamily="34" charset="-120"/>
              </a:rPr>
              <a:t>AI research, ideation &amp; project refinement</a:t>
            </a:r>
            <a:endParaRPr lang="en-US" sz="1500" dirty="0"/>
          </a:p>
        </p:txBody>
      </p:sp>
      <p:sp>
        <p:nvSpPr>
          <p:cNvPr id="10" name="Text 7"/>
          <p:cNvSpPr txBox="1"/>
          <p:nvPr/>
        </p:nvSpPr>
        <p:spPr>
          <a:xfrm>
            <a:off x="777240" y="3383280"/>
            <a:ext cx="4572000" cy="20116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Research</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Brainstorming</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Problem refinement</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Solution ideation</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Workflow refinement</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Responsible AI consideration</a:t>
            </a:r>
            <a:endParaRPr lang="en-US" sz="1400" dirty="0"/>
          </a:p>
        </p:txBody>
      </p:sp>
      <p:sp>
        <p:nvSpPr>
          <p:cNvPr id="11" name="Shape 8"/>
          <p:cNvSpPr/>
          <p:nvPr/>
        </p:nvSpPr>
        <p:spPr>
          <a:xfrm>
            <a:off x="6611112" y="1600200"/>
            <a:ext cx="5029200" cy="3931920"/>
          </a:xfrm>
          <a:prstGeom prst="roundRect">
            <a:avLst>
              <a:gd name="adj" fmla="val 2791"/>
            </a:avLst>
          </a:prstGeom>
          <a:solidFill>
            <a:srgbClr val="0F3A3D"/>
          </a:solidFill>
          <a:ln w="9525">
            <a:solidFill>
              <a:srgbClr val="2DD4BF"/>
            </a:solidFill>
            <a:prstDash val="solid"/>
          </a:ln>
        </p:spPr>
      </p:sp>
      <p:sp>
        <p:nvSpPr>
          <p:cNvPr id="12" name="Shape 9"/>
          <p:cNvSpPr/>
          <p:nvPr/>
        </p:nvSpPr>
        <p:spPr>
          <a:xfrm>
            <a:off x="6839712" y="1810512"/>
            <a:ext cx="2743200" cy="292608"/>
          </a:xfrm>
          <a:prstGeom prst="roundRect">
            <a:avLst>
              <a:gd name="adj" fmla="val 50000"/>
            </a:avLst>
          </a:prstGeom>
          <a:solidFill>
            <a:srgbClr val="2DD4BF"/>
          </a:solidFill>
          <a:ln w="12700">
            <a:solidFill>
              <a:srgbClr val="2DD4BF"/>
            </a:solidFill>
            <a:prstDash val="solid"/>
          </a:ln>
        </p:spPr>
      </p:sp>
      <p:sp>
        <p:nvSpPr>
          <p:cNvPr id="13" name="Text 10"/>
          <p:cNvSpPr txBox="1"/>
          <p:nvPr/>
        </p:nvSpPr>
        <p:spPr>
          <a:xfrm>
            <a:off x="6839712" y="1810512"/>
            <a:ext cx="2743200" cy="292608"/>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PRODUCTION · FINAL PRODUCT</a:t>
            </a:r>
            <a:endParaRPr lang="en-US" sz="1100" dirty="0"/>
          </a:p>
        </p:txBody>
      </p:sp>
      <p:sp>
        <p:nvSpPr>
          <p:cNvPr id="14" name="Text 11"/>
          <p:cNvSpPr txBox="1"/>
          <p:nvPr/>
        </p:nvSpPr>
        <p:spPr>
          <a:xfrm>
            <a:off x="6839712" y="2240280"/>
            <a:ext cx="4663440" cy="640080"/>
          </a:xfrm>
          <a:prstGeom prst="rect">
            <a:avLst/>
          </a:prstGeom>
          <a:noFill/>
          <a:ln/>
        </p:spPr>
        <p:txBody>
          <a:bodyPr wrap="square" lIns="0" tIns="0" rIns="0" bIns="0" rtlCol="0" anchor="t"/>
          <a:lstStyle/>
          <a:p>
            <a:pPr marL="0" indent="0">
              <a:buNone/>
            </a:pPr>
            <a:r>
              <a:rPr lang="en-US" sz="3200" b="1" dirty="0">
                <a:solidFill>
                  <a:srgbClr val="2DD4BF"/>
                </a:solidFill>
                <a:latin typeface="Cambria" pitchFamily="34" charset="0"/>
                <a:ea typeface="Cambria" pitchFamily="34" charset="-122"/>
                <a:cs typeface="Cambria" pitchFamily="34" charset="-120"/>
              </a:rPr>
              <a:t>Groq + Llama 3.3 70B</a:t>
            </a:r>
            <a:endParaRPr lang="en-US" sz="3200" dirty="0"/>
          </a:p>
        </p:txBody>
      </p:sp>
      <p:sp>
        <p:nvSpPr>
          <p:cNvPr id="15" name="Text 12"/>
          <p:cNvSpPr txBox="1"/>
          <p:nvPr/>
        </p:nvSpPr>
        <p:spPr>
          <a:xfrm>
            <a:off x="6839712" y="2880360"/>
            <a:ext cx="4572000" cy="320040"/>
          </a:xfrm>
          <a:prstGeom prst="rect">
            <a:avLst/>
          </a:prstGeom>
          <a:noFill/>
          <a:ln/>
        </p:spPr>
        <p:txBody>
          <a:bodyPr wrap="square" lIns="0" tIns="0" rIns="0" bIns="0" rtlCol="0" anchor="t"/>
          <a:lstStyle/>
          <a:p>
            <a:pPr marL="0" indent="0">
              <a:buNone/>
            </a:pPr>
            <a:r>
              <a:rPr lang="en-US" sz="1500" dirty="0">
                <a:solidFill>
                  <a:srgbClr val="9DB7C1"/>
                </a:solidFill>
                <a:latin typeface="Calibri" pitchFamily="34" charset="0"/>
                <a:ea typeface="Calibri" pitchFamily="34" charset="-122"/>
                <a:cs typeface="Calibri" pitchFamily="34" charset="-120"/>
              </a:rPr>
              <a:t>The CleanAir AI Assistant</a:t>
            </a:r>
            <a:endParaRPr lang="en-US" sz="1500" dirty="0"/>
          </a:p>
        </p:txBody>
      </p:sp>
      <p:sp>
        <p:nvSpPr>
          <p:cNvPr id="16" name="Text 13"/>
          <p:cNvSpPr txBox="1"/>
          <p:nvPr/>
        </p:nvSpPr>
        <p:spPr>
          <a:xfrm>
            <a:off x="6839712" y="3383280"/>
            <a:ext cx="4572000" cy="13716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Conversational interaction</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Air-quality explanations</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Pollutant interpretation</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Environmental guidance</a:t>
            </a:r>
            <a:endParaRPr lang="en-US" sz="1400" dirty="0"/>
          </a:p>
        </p:txBody>
      </p:sp>
      <p:sp>
        <p:nvSpPr>
          <p:cNvPr id="17" name="Text 14"/>
          <p:cNvSpPr txBox="1"/>
          <p:nvPr/>
        </p:nvSpPr>
        <p:spPr>
          <a:xfrm>
            <a:off x="6839712" y="4892040"/>
            <a:ext cx="4572000" cy="457200"/>
          </a:xfrm>
          <a:prstGeom prst="rect">
            <a:avLst/>
          </a:prstGeom>
          <a:noFill/>
          <a:ln/>
        </p:spPr>
        <p:txBody>
          <a:bodyPr wrap="square" lIns="0" tIns="0" rIns="0" bIns="0" rtlCol="0" anchor="t"/>
          <a:lstStyle/>
          <a:p>
            <a:pPr marL="0" indent="0">
              <a:buNone/>
            </a:pPr>
            <a:r>
              <a:rPr lang="en-US" sz="1300" i="1" dirty="0">
                <a:solidFill>
                  <a:srgbClr val="2DD4BF"/>
                </a:solidFill>
                <a:latin typeface="Calibri" pitchFamily="34" charset="0"/>
                <a:ea typeface="Calibri" pitchFamily="34" charset="-122"/>
                <a:cs typeface="Calibri" pitchFamily="34" charset="-120"/>
              </a:rPr>
              <a:t>Grounded in live sensor context · no medical diagnoses</a:t>
            </a:r>
            <a:endParaRPr lang="en-US" sz="1300" dirty="0"/>
          </a:p>
        </p:txBody>
      </p:sp>
      <p:sp>
        <p:nvSpPr>
          <p:cNvPr id="18" name="Shape 15"/>
          <p:cNvSpPr/>
          <p:nvPr/>
        </p:nvSpPr>
        <p:spPr>
          <a:xfrm>
            <a:off x="5760720" y="3200400"/>
            <a:ext cx="667512" cy="667512"/>
          </a:xfrm>
          <a:prstGeom prst="ellipse">
            <a:avLst/>
          </a:prstGeom>
          <a:solidFill>
            <a:srgbClr val="0A1B26"/>
          </a:solidFill>
          <a:ln w="19050">
            <a:solidFill>
              <a:srgbClr val="9DB7C1"/>
            </a:solidFill>
            <a:prstDash val="solid"/>
          </a:ln>
        </p:spPr>
      </p:sp>
      <p:sp>
        <p:nvSpPr>
          <p:cNvPr id="19" name="Text 16"/>
          <p:cNvSpPr txBox="1"/>
          <p:nvPr/>
        </p:nvSpPr>
        <p:spPr>
          <a:xfrm>
            <a:off x="5760720" y="3200400"/>
            <a:ext cx="667512" cy="667512"/>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0" name="Text 17"/>
          <p:cNvSpPr txBox="1"/>
          <p:nvPr/>
        </p:nvSpPr>
        <p:spPr>
          <a:xfrm>
            <a:off x="5532120" y="3931920"/>
            <a:ext cx="1124712" cy="365760"/>
          </a:xfrm>
          <a:prstGeom prst="rect">
            <a:avLst/>
          </a:prstGeom>
          <a:noFill/>
          <a:ln/>
        </p:spPr>
        <p:txBody>
          <a:bodyPr wrap="square" lIns="0" tIns="0" rIns="0" bIns="0" rtlCol="0" anchor="t"/>
          <a:lstStyle/>
          <a:p>
            <a:pPr marL="0" indent="0" algn="ctr">
              <a:buNone/>
            </a:pPr>
            <a:r>
              <a:rPr lang="en-US" sz="900" b="1" kern="0" spc="100" dirty="0">
                <a:solidFill>
                  <a:srgbClr val="9DB7C1"/>
                </a:solidFill>
                <a:latin typeface="Calibri" pitchFamily="34" charset="0"/>
                <a:ea typeface="Calibri" pitchFamily="34" charset="-122"/>
                <a:cs typeface="Calibri" pitchFamily="34" charset="-120"/>
              </a:rPr>
              <a:t>SEPARATE ROLES</a:t>
            </a:r>
            <a:endParaRPr lang="en-US" sz="900" dirty="0"/>
          </a:p>
        </p:txBody>
      </p:sp>
      <p:sp>
        <p:nvSpPr>
          <p:cNvPr id="21" name="Shape 18"/>
          <p:cNvSpPr/>
          <p:nvPr/>
        </p:nvSpPr>
        <p:spPr>
          <a:xfrm>
            <a:off x="548640" y="5715000"/>
            <a:ext cx="11091672" cy="548640"/>
          </a:xfrm>
          <a:prstGeom prst="roundRect">
            <a:avLst>
              <a:gd name="adj" fmla="val 20000"/>
            </a:avLst>
          </a:prstGeom>
          <a:solidFill>
            <a:srgbClr val="0F2733"/>
          </a:solidFill>
          <a:ln w="9525">
            <a:solidFill>
              <a:srgbClr val="23515F"/>
            </a:solidFill>
            <a:prstDash val="solid"/>
          </a:ln>
        </p:spPr>
      </p:sp>
      <p:sp>
        <p:nvSpPr>
          <p:cNvPr id="22" name="Text 19"/>
          <p:cNvSpPr txBox="1"/>
          <p:nvPr/>
        </p:nvSpPr>
        <p:spPr>
          <a:xfrm>
            <a:off x="777240" y="5715000"/>
            <a:ext cx="1060704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IBM Bob does not power the CleanAir AI chatbot. It supported the process; Groq + Llama 3.3 70B is the AI inside the product.</a:t>
            </a:r>
            <a:endParaRPr lang="en-US" sz="1500" dirty="0"/>
          </a:p>
        </p:txBody>
      </p:sp>
      <p:sp>
        <p:nvSpPr>
          <p:cNvPr id="25"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07 · AI WORKFLOW</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How the CleanAir AI Assistant Works</a:t>
            </a:r>
            <a:endParaRPr lang="en-US" sz="3200" dirty="0"/>
          </a:p>
        </p:txBody>
      </p:sp>
      <p:sp>
        <p:nvSpPr>
          <p:cNvPr id="5" name="Shape 2"/>
          <p:cNvSpPr/>
          <p:nvPr/>
        </p:nvSpPr>
        <p:spPr>
          <a:xfrm>
            <a:off x="548640" y="1600200"/>
            <a:ext cx="2377440" cy="1280160"/>
          </a:xfrm>
          <a:prstGeom prst="roundRect">
            <a:avLst>
              <a:gd name="adj" fmla="val 8571"/>
            </a:avLst>
          </a:prstGeom>
          <a:solidFill>
            <a:srgbClr val="12303D"/>
          </a:solidFill>
          <a:ln w="9525">
            <a:solidFill>
              <a:srgbClr val="23515F"/>
            </a:solidFill>
            <a:prstDash val="solid"/>
          </a:ln>
        </p:spPr>
      </p:sp>
      <p:sp>
        <p:nvSpPr>
          <p:cNvPr id="6" name="Text 3"/>
          <p:cNvSpPr txBox="1"/>
          <p:nvPr/>
        </p:nvSpPr>
        <p:spPr>
          <a:xfrm>
            <a:off x="731520" y="1737360"/>
            <a:ext cx="548640" cy="457200"/>
          </a:xfrm>
          <a:prstGeom prst="rect">
            <a:avLst/>
          </a:prstGeom>
          <a:noFill/>
          <a:ln/>
        </p:spPr>
        <p:txBody>
          <a:bodyPr wrap="square" lIns="0" tIns="0" rIns="0" bIns="0" rtlCol="0" anchor="t"/>
          <a:lstStyle/>
          <a:p>
            <a:pPr marL="0" indent="0">
              <a:buNone/>
            </a:pPr>
            <a:r>
              <a:rPr lang="en-US" sz="2400" b="1" dirty="0">
                <a:solidFill>
                  <a:srgbClr val="4ADE80"/>
                </a:solidFill>
                <a:latin typeface="Cambria" pitchFamily="34" charset="0"/>
                <a:ea typeface="Cambria" pitchFamily="34" charset="-122"/>
                <a:cs typeface="Cambria" pitchFamily="34" charset="-120"/>
              </a:rPr>
              <a:t>1</a:t>
            </a:r>
            <a:endParaRPr lang="en-US" sz="2400" dirty="0"/>
          </a:p>
        </p:txBody>
      </p:sp>
      <p:sp>
        <p:nvSpPr>
          <p:cNvPr id="7" name="Text 4"/>
          <p:cNvSpPr txBox="1"/>
          <p:nvPr/>
        </p:nvSpPr>
        <p:spPr>
          <a:xfrm>
            <a:off x="731520" y="2148840"/>
            <a:ext cx="2011680" cy="68580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Live OpenAQ Sensor Data</a:t>
            </a:r>
            <a:endParaRPr lang="en-US" sz="1500" dirty="0"/>
          </a:p>
        </p:txBody>
      </p:sp>
      <p:sp>
        <p:nvSpPr>
          <p:cNvPr id="8" name="Shape 5"/>
          <p:cNvSpPr/>
          <p:nvPr/>
        </p:nvSpPr>
        <p:spPr>
          <a:xfrm>
            <a:off x="3453689" y="1600200"/>
            <a:ext cx="2377440" cy="1280160"/>
          </a:xfrm>
          <a:prstGeom prst="roundRect">
            <a:avLst>
              <a:gd name="adj" fmla="val 8571"/>
            </a:avLst>
          </a:prstGeom>
          <a:solidFill>
            <a:srgbClr val="12303D"/>
          </a:solidFill>
          <a:ln w="9525">
            <a:solidFill>
              <a:srgbClr val="23515F"/>
            </a:solidFill>
            <a:prstDash val="solid"/>
          </a:ln>
        </p:spPr>
      </p:sp>
      <p:sp>
        <p:nvSpPr>
          <p:cNvPr id="9" name="Text 6"/>
          <p:cNvSpPr txBox="1"/>
          <p:nvPr/>
        </p:nvSpPr>
        <p:spPr>
          <a:xfrm>
            <a:off x="3636569" y="1737360"/>
            <a:ext cx="548640" cy="457200"/>
          </a:xfrm>
          <a:prstGeom prst="rect">
            <a:avLst/>
          </a:prstGeom>
          <a:noFill/>
          <a:ln/>
        </p:spPr>
        <p:txBody>
          <a:bodyPr wrap="square" lIns="0" tIns="0" rIns="0" bIns="0" rtlCol="0" anchor="t"/>
          <a:lstStyle/>
          <a:p>
            <a:pPr marL="0" indent="0">
              <a:buNone/>
            </a:pPr>
            <a:r>
              <a:rPr lang="en-US" sz="2400" b="1" dirty="0">
                <a:solidFill>
                  <a:srgbClr val="4ADE80"/>
                </a:solidFill>
                <a:latin typeface="Cambria" pitchFamily="34" charset="0"/>
                <a:ea typeface="Cambria" pitchFamily="34" charset="-122"/>
                <a:cs typeface="Cambria" pitchFamily="34" charset="-120"/>
              </a:rPr>
              <a:t>2</a:t>
            </a:r>
            <a:endParaRPr lang="en-US" sz="2400" dirty="0"/>
          </a:p>
        </p:txBody>
      </p:sp>
      <p:sp>
        <p:nvSpPr>
          <p:cNvPr id="10" name="Text 7"/>
          <p:cNvSpPr txBox="1"/>
          <p:nvPr/>
        </p:nvSpPr>
        <p:spPr>
          <a:xfrm>
            <a:off x="3636569" y="2148840"/>
            <a:ext cx="2011680" cy="68580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Current City Air-Quality Data</a:t>
            </a:r>
            <a:endParaRPr lang="en-US" sz="1500" dirty="0"/>
          </a:p>
        </p:txBody>
      </p:sp>
      <p:sp>
        <p:nvSpPr>
          <p:cNvPr id="11" name="Shape 8"/>
          <p:cNvSpPr/>
          <p:nvPr/>
        </p:nvSpPr>
        <p:spPr>
          <a:xfrm>
            <a:off x="6358738" y="1600200"/>
            <a:ext cx="2377440" cy="1280160"/>
          </a:xfrm>
          <a:prstGeom prst="roundRect">
            <a:avLst>
              <a:gd name="adj" fmla="val 8571"/>
            </a:avLst>
          </a:prstGeom>
          <a:solidFill>
            <a:srgbClr val="12303D"/>
          </a:solidFill>
          <a:ln w="9525">
            <a:solidFill>
              <a:srgbClr val="23515F"/>
            </a:solidFill>
            <a:prstDash val="solid"/>
          </a:ln>
        </p:spPr>
      </p:sp>
      <p:sp>
        <p:nvSpPr>
          <p:cNvPr id="12" name="Text 9"/>
          <p:cNvSpPr txBox="1"/>
          <p:nvPr/>
        </p:nvSpPr>
        <p:spPr>
          <a:xfrm>
            <a:off x="6541618" y="1737360"/>
            <a:ext cx="548640" cy="457200"/>
          </a:xfrm>
          <a:prstGeom prst="rect">
            <a:avLst/>
          </a:prstGeom>
          <a:noFill/>
          <a:ln/>
        </p:spPr>
        <p:txBody>
          <a:bodyPr wrap="square" lIns="0" tIns="0" rIns="0" bIns="0" rtlCol="0" anchor="t"/>
          <a:lstStyle/>
          <a:p>
            <a:pPr marL="0" indent="0">
              <a:buNone/>
            </a:pPr>
            <a:r>
              <a:rPr lang="en-US" sz="2400" b="1" dirty="0">
                <a:solidFill>
                  <a:srgbClr val="9DB7C1"/>
                </a:solidFill>
                <a:latin typeface="Cambria" pitchFamily="34" charset="0"/>
                <a:ea typeface="Cambria" pitchFamily="34" charset="-122"/>
                <a:cs typeface="Cambria" pitchFamily="34" charset="-120"/>
              </a:rPr>
              <a:t>3</a:t>
            </a:r>
            <a:endParaRPr lang="en-US" sz="2400" dirty="0"/>
          </a:p>
        </p:txBody>
      </p:sp>
      <p:sp>
        <p:nvSpPr>
          <p:cNvPr id="13" name="Text 10"/>
          <p:cNvSpPr txBox="1"/>
          <p:nvPr/>
        </p:nvSpPr>
        <p:spPr>
          <a:xfrm>
            <a:off x="6541618" y="2148840"/>
            <a:ext cx="2011680" cy="68580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Context / Data Packet</a:t>
            </a:r>
            <a:endParaRPr lang="en-US" sz="1500" dirty="0"/>
          </a:p>
        </p:txBody>
      </p:sp>
      <p:sp>
        <p:nvSpPr>
          <p:cNvPr id="14" name="Shape 11"/>
          <p:cNvSpPr/>
          <p:nvPr/>
        </p:nvSpPr>
        <p:spPr>
          <a:xfrm>
            <a:off x="9263786" y="1600200"/>
            <a:ext cx="2377440" cy="1280160"/>
          </a:xfrm>
          <a:prstGeom prst="roundRect">
            <a:avLst>
              <a:gd name="adj" fmla="val 8571"/>
            </a:avLst>
          </a:prstGeom>
          <a:solidFill>
            <a:srgbClr val="12303D"/>
          </a:solidFill>
          <a:ln w="9525">
            <a:solidFill>
              <a:srgbClr val="23515F"/>
            </a:solidFill>
            <a:prstDash val="solid"/>
          </a:ln>
        </p:spPr>
      </p:sp>
      <p:sp>
        <p:nvSpPr>
          <p:cNvPr id="15" name="Text 12"/>
          <p:cNvSpPr txBox="1"/>
          <p:nvPr/>
        </p:nvSpPr>
        <p:spPr>
          <a:xfrm>
            <a:off x="9446666" y="1737360"/>
            <a:ext cx="548640" cy="457200"/>
          </a:xfrm>
          <a:prstGeom prst="rect">
            <a:avLst/>
          </a:prstGeom>
          <a:noFill/>
          <a:ln/>
        </p:spPr>
        <p:txBody>
          <a:bodyPr wrap="square" lIns="0" tIns="0" rIns="0" bIns="0" rtlCol="0" anchor="t"/>
          <a:lstStyle/>
          <a:p>
            <a:pPr marL="0" indent="0">
              <a:buNone/>
            </a:pPr>
            <a:r>
              <a:rPr lang="en-US" sz="2400" b="1" dirty="0">
                <a:solidFill>
                  <a:srgbClr val="9DB7C1"/>
                </a:solidFill>
                <a:latin typeface="Cambria" pitchFamily="34" charset="0"/>
                <a:ea typeface="Cambria" pitchFamily="34" charset="-122"/>
                <a:cs typeface="Cambria" pitchFamily="34" charset="-120"/>
              </a:rPr>
              <a:t>4</a:t>
            </a:r>
            <a:endParaRPr lang="en-US" sz="2400" dirty="0"/>
          </a:p>
        </p:txBody>
      </p:sp>
      <p:sp>
        <p:nvSpPr>
          <p:cNvPr id="16" name="Text 13"/>
          <p:cNvSpPr txBox="1"/>
          <p:nvPr/>
        </p:nvSpPr>
        <p:spPr>
          <a:xfrm>
            <a:off x="9446666" y="2148840"/>
            <a:ext cx="2011680" cy="68580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Grounded AI Prompt</a:t>
            </a:r>
            <a:endParaRPr lang="en-US" sz="1500" dirty="0"/>
          </a:p>
        </p:txBody>
      </p:sp>
      <p:sp>
        <p:nvSpPr>
          <p:cNvPr id="17" name="Shape 14"/>
          <p:cNvSpPr/>
          <p:nvPr/>
        </p:nvSpPr>
        <p:spPr>
          <a:xfrm>
            <a:off x="9263786" y="3566160"/>
            <a:ext cx="2377440" cy="1280160"/>
          </a:xfrm>
          <a:prstGeom prst="roundRect">
            <a:avLst>
              <a:gd name="adj" fmla="val 8571"/>
            </a:avLst>
          </a:prstGeom>
          <a:solidFill>
            <a:srgbClr val="0F3A3D"/>
          </a:solidFill>
          <a:ln w="9525">
            <a:solidFill>
              <a:srgbClr val="2DD4BF"/>
            </a:solidFill>
            <a:prstDash val="solid"/>
          </a:ln>
        </p:spPr>
      </p:sp>
      <p:sp>
        <p:nvSpPr>
          <p:cNvPr id="18" name="Text 15"/>
          <p:cNvSpPr txBox="1"/>
          <p:nvPr/>
        </p:nvSpPr>
        <p:spPr>
          <a:xfrm>
            <a:off x="9446666" y="3703320"/>
            <a:ext cx="548640" cy="457200"/>
          </a:xfrm>
          <a:prstGeom prst="rect">
            <a:avLst/>
          </a:prstGeom>
          <a:noFill/>
          <a:ln/>
        </p:spPr>
        <p:txBody>
          <a:bodyPr wrap="square" lIns="0" tIns="0" rIns="0" bIns="0" rtlCol="0" anchor="t"/>
          <a:lstStyle/>
          <a:p>
            <a:pPr marL="0" indent="0">
              <a:buNone/>
            </a:pPr>
            <a:r>
              <a:rPr lang="en-US" sz="2400" b="1" dirty="0">
                <a:solidFill>
                  <a:srgbClr val="2DD4BF"/>
                </a:solidFill>
                <a:latin typeface="Cambria" pitchFamily="34" charset="0"/>
                <a:ea typeface="Cambria" pitchFamily="34" charset="-122"/>
                <a:cs typeface="Cambria" pitchFamily="34" charset="-120"/>
              </a:rPr>
              <a:t>5</a:t>
            </a:r>
            <a:endParaRPr lang="en-US" sz="2400" dirty="0"/>
          </a:p>
        </p:txBody>
      </p:sp>
      <p:sp>
        <p:nvSpPr>
          <p:cNvPr id="19" name="Text 16"/>
          <p:cNvSpPr txBox="1"/>
          <p:nvPr/>
        </p:nvSpPr>
        <p:spPr>
          <a:xfrm>
            <a:off x="9446666" y="4114800"/>
            <a:ext cx="2011680" cy="68580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Groq API</a:t>
            </a:r>
            <a:endParaRPr lang="en-US" sz="1500" dirty="0"/>
          </a:p>
        </p:txBody>
      </p:sp>
      <p:sp>
        <p:nvSpPr>
          <p:cNvPr id="20" name="Shape 17"/>
          <p:cNvSpPr/>
          <p:nvPr/>
        </p:nvSpPr>
        <p:spPr>
          <a:xfrm>
            <a:off x="6358738" y="3566160"/>
            <a:ext cx="2377440" cy="1280160"/>
          </a:xfrm>
          <a:prstGeom prst="roundRect">
            <a:avLst>
              <a:gd name="adj" fmla="val 8571"/>
            </a:avLst>
          </a:prstGeom>
          <a:solidFill>
            <a:srgbClr val="0F3A3D"/>
          </a:solidFill>
          <a:ln w="9525">
            <a:solidFill>
              <a:srgbClr val="2DD4BF"/>
            </a:solidFill>
            <a:prstDash val="solid"/>
          </a:ln>
        </p:spPr>
      </p:sp>
      <p:sp>
        <p:nvSpPr>
          <p:cNvPr id="21" name="Text 18"/>
          <p:cNvSpPr txBox="1"/>
          <p:nvPr/>
        </p:nvSpPr>
        <p:spPr>
          <a:xfrm>
            <a:off x="6541618" y="3703320"/>
            <a:ext cx="548640" cy="457200"/>
          </a:xfrm>
          <a:prstGeom prst="rect">
            <a:avLst/>
          </a:prstGeom>
          <a:noFill/>
          <a:ln/>
        </p:spPr>
        <p:txBody>
          <a:bodyPr wrap="square" lIns="0" tIns="0" rIns="0" bIns="0" rtlCol="0" anchor="t"/>
          <a:lstStyle/>
          <a:p>
            <a:pPr marL="0" indent="0">
              <a:buNone/>
            </a:pPr>
            <a:r>
              <a:rPr lang="en-US" sz="2400" b="1" dirty="0">
                <a:solidFill>
                  <a:srgbClr val="2DD4BF"/>
                </a:solidFill>
                <a:latin typeface="Cambria" pitchFamily="34" charset="0"/>
                <a:ea typeface="Cambria" pitchFamily="34" charset="-122"/>
                <a:cs typeface="Cambria" pitchFamily="34" charset="-120"/>
              </a:rPr>
              <a:t>6</a:t>
            </a:r>
            <a:endParaRPr lang="en-US" sz="2400" dirty="0"/>
          </a:p>
        </p:txBody>
      </p:sp>
      <p:sp>
        <p:nvSpPr>
          <p:cNvPr id="22" name="Text 19"/>
          <p:cNvSpPr txBox="1"/>
          <p:nvPr/>
        </p:nvSpPr>
        <p:spPr>
          <a:xfrm>
            <a:off x="6541618" y="4114800"/>
            <a:ext cx="2011680" cy="68580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Llama 3.3 70B</a:t>
            </a:r>
            <a:endParaRPr lang="en-US" sz="1500" dirty="0"/>
          </a:p>
        </p:txBody>
      </p:sp>
      <p:sp>
        <p:nvSpPr>
          <p:cNvPr id="23" name="Shape 20"/>
          <p:cNvSpPr/>
          <p:nvPr/>
        </p:nvSpPr>
        <p:spPr>
          <a:xfrm>
            <a:off x="3453689" y="3566160"/>
            <a:ext cx="2377440" cy="1280160"/>
          </a:xfrm>
          <a:prstGeom prst="roundRect">
            <a:avLst>
              <a:gd name="adj" fmla="val 8571"/>
            </a:avLst>
          </a:prstGeom>
          <a:solidFill>
            <a:srgbClr val="12402F"/>
          </a:solidFill>
          <a:ln w="9525">
            <a:solidFill>
              <a:srgbClr val="4ADE80"/>
            </a:solidFill>
            <a:prstDash val="solid"/>
          </a:ln>
        </p:spPr>
      </p:sp>
      <p:sp>
        <p:nvSpPr>
          <p:cNvPr id="24" name="Text 21"/>
          <p:cNvSpPr txBox="1"/>
          <p:nvPr/>
        </p:nvSpPr>
        <p:spPr>
          <a:xfrm>
            <a:off x="3636569" y="3703320"/>
            <a:ext cx="548640" cy="457200"/>
          </a:xfrm>
          <a:prstGeom prst="rect">
            <a:avLst/>
          </a:prstGeom>
          <a:noFill/>
          <a:ln/>
        </p:spPr>
        <p:txBody>
          <a:bodyPr wrap="square" lIns="0" tIns="0" rIns="0" bIns="0" rtlCol="0" anchor="t"/>
          <a:lstStyle/>
          <a:p>
            <a:pPr marL="0" indent="0">
              <a:buNone/>
            </a:pPr>
            <a:r>
              <a:rPr lang="en-US" sz="2400" b="1" dirty="0">
                <a:solidFill>
                  <a:srgbClr val="4ADE80"/>
                </a:solidFill>
                <a:latin typeface="Cambria" pitchFamily="34" charset="0"/>
                <a:ea typeface="Cambria" pitchFamily="34" charset="-122"/>
                <a:cs typeface="Cambria" pitchFamily="34" charset="-120"/>
              </a:rPr>
              <a:t>7</a:t>
            </a:r>
            <a:endParaRPr lang="en-US" sz="2400" dirty="0"/>
          </a:p>
        </p:txBody>
      </p:sp>
      <p:sp>
        <p:nvSpPr>
          <p:cNvPr id="25" name="Text 22"/>
          <p:cNvSpPr txBox="1"/>
          <p:nvPr/>
        </p:nvSpPr>
        <p:spPr>
          <a:xfrm>
            <a:off x="3636569" y="4114800"/>
            <a:ext cx="2011680" cy="68580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CleanAir AI Assistant</a:t>
            </a:r>
            <a:endParaRPr lang="en-US" sz="1500" dirty="0"/>
          </a:p>
        </p:txBody>
      </p:sp>
      <p:sp>
        <p:nvSpPr>
          <p:cNvPr id="26" name="Shape 23"/>
          <p:cNvSpPr/>
          <p:nvPr/>
        </p:nvSpPr>
        <p:spPr>
          <a:xfrm>
            <a:off x="548640" y="3566160"/>
            <a:ext cx="2377440" cy="1280160"/>
          </a:xfrm>
          <a:prstGeom prst="roundRect">
            <a:avLst>
              <a:gd name="adj" fmla="val 8571"/>
            </a:avLst>
          </a:prstGeom>
          <a:solidFill>
            <a:srgbClr val="12402F"/>
          </a:solidFill>
          <a:ln w="9525">
            <a:solidFill>
              <a:srgbClr val="4ADE80"/>
            </a:solidFill>
            <a:prstDash val="solid"/>
          </a:ln>
        </p:spPr>
      </p:sp>
      <p:sp>
        <p:nvSpPr>
          <p:cNvPr id="27" name="Text 24"/>
          <p:cNvSpPr txBox="1"/>
          <p:nvPr/>
        </p:nvSpPr>
        <p:spPr>
          <a:xfrm>
            <a:off x="731520" y="3703320"/>
            <a:ext cx="548640" cy="457200"/>
          </a:xfrm>
          <a:prstGeom prst="rect">
            <a:avLst/>
          </a:prstGeom>
          <a:noFill/>
          <a:ln/>
        </p:spPr>
        <p:txBody>
          <a:bodyPr wrap="square" lIns="0" tIns="0" rIns="0" bIns="0" rtlCol="0" anchor="t"/>
          <a:lstStyle/>
          <a:p>
            <a:pPr marL="0" indent="0">
              <a:buNone/>
            </a:pPr>
            <a:r>
              <a:rPr lang="en-US" sz="2400" b="1" dirty="0">
                <a:solidFill>
                  <a:srgbClr val="4ADE80"/>
                </a:solidFill>
                <a:latin typeface="Cambria" pitchFamily="34" charset="0"/>
                <a:ea typeface="Cambria" pitchFamily="34" charset="-122"/>
                <a:cs typeface="Cambria" pitchFamily="34" charset="-120"/>
              </a:rPr>
              <a:t>8</a:t>
            </a:r>
            <a:endParaRPr lang="en-US" sz="2400" dirty="0"/>
          </a:p>
        </p:txBody>
      </p:sp>
      <p:sp>
        <p:nvSpPr>
          <p:cNvPr id="28" name="Text 25"/>
          <p:cNvSpPr txBox="1"/>
          <p:nvPr/>
        </p:nvSpPr>
        <p:spPr>
          <a:xfrm>
            <a:off x="731520" y="4114800"/>
            <a:ext cx="2011680" cy="68580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Grounded Environmental Explanation</a:t>
            </a:r>
            <a:endParaRPr lang="en-US" sz="1500" dirty="0"/>
          </a:p>
        </p:txBody>
      </p:sp>
      <p:sp>
        <p:nvSpPr>
          <p:cNvPr id="29" name="Shape 26"/>
          <p:cNvSpPr/>
          <p:nvPr/>
        </p:nvSpPr>
        <p:spPr>
          <a:xfrm>
            <a:off x="2962656" y="2240280"/>
            <a:ext cx="454457" cy="0"/>
          </a:xfrm>
          <a:prstGeom prst="line">
            <a:avLst/>
          </a:prstGeom>
          <a:noFill/>
          <a:ln w="25400">
            <a:solidFill>
              <a:srgbClr val="9DB7C1"/>
            </a:solidFill>
            <a:prstDash val="solid"/>
            <a:tailEnd type="triangle"/>
          </a:ln>
        </p:spPr>
      </p:sp>
      <p:sp>
        <p:nvSpPr>
          <p:cNvPr id="30" name="Shape 27"/>
          <p:cNvSpPr/>
          <p:nvPr/>
        </p:nvSpPr>
        <p:spPr>
          <a:xfrm>
            <a:off x="5867705" y="2240280"/>
            <a:ext cx="454457" cy="0"/>
          </a:xfrm>
          <a:prstGeom prst="line">
            <a:avLst/>
          </a:prstGeom>
          <a:noFill/>
          <a:ln w="25400">
            <a:solidFill>
              <a:srgbClr val="9DB7C1"/>
            </a:solidFill>
            <a:prstDash val="solid"/>
            <a:tailEnd type="triangle"/>
          </a:ln>
        </p:spPr>
      </p:sp>
      <p:sp>
        <p:nvSpPr>
          <p:cNvPr id="31" name="Shape 28"/>
          <p:cNvSpPr/>
          <p:nvPr/>
        </p:nvSpPr>
        <p:spPr>
          <a:xfrm>
            <a:off x="8772754" y="2240280"/>
            <a:ext cx="454457" cy="0"/>
          </a:xfrm>
          <a:prstGeom prst="line">
            <a:avLst/>
          </a:prstGeom>
          <a:noFill/>
          <a:ln w="25400">
            <a:solidFill>
              <a:srgbClr val="9DB7C1"/>
            </a:solidFill>
            <a:prstDash val="solid"/>
            <a:tailEnd type="triangle"/>
          </a:ln>
        </p:spPr>
      </p:sp>
      <p:sp>
        <p:nvSpPr>
          <p:cNvPr id="32" name="Shape 29"/>
          <p:cNvSpPr/>
          <p:nvPr/>
        </p:nvSpPr>
        <p:spPr>
          <a:xfrm>
            <a:off x="10452506" y="2916936"/>
            <a:ext cx="0" cy="612648"/>
          </a:xfrm>
          <a:prstGeom prst="line">
            <a:avLst/>
          </a:prstGeom>
          <a:noFill/>
          <a:ln w="25400">
            <a:solidFill>
              <a:srgbClr val="9DB7C1"/>
            </a:solidFill>
            <a:prstDash val="solid"/>
            <a:tailEnd type="triangle"/>
          </a:ln>
        </p:spPr>
      </p:sp>
      <p:sp>
        <p:nvSpPr>
          <p:cNvPr id="33" name="Shape 30"/>
          <p:cNvSpPr/>
          <p:nvPr/>
        </p:nvSpPr>
        <p:spPr>
          <a:xfrm flipH="1">
            <a:off x="8772754" y="4206240"/>
            <a:ext cx="454457" cy="0"/>
          </a:xfrm>
          <a:prstGeom prst="line">
            <a:avLst/>
          </a:prstGeom>
          <a:noFill/>
          <a:ln w="25400">
            <a:solidFill>
              <a:srgbClr val="9DB7C1"/>
            </a:solidFill>
            <a:prstDash val="solid"/>
            <a:tailEnd type="triangle"/>
          </a:ln>
        </p:spPr>
      </p:sp>
      <p:sp>
        <p:nvSpPr>
          <p:cNvPr id="34" name="Shape 31"/>
          <p:cNvSpPr/>
          <p:nvPr/>
        </p:nvSpPr>
        <p:spPr>
          <a:xfrm flipH="1">
            <a:off x="5867705" y="4206240"/>
            <a:ext cx="454457" cy="0"/>
          </a:xfrm>
          <a:prstGeom prst="line">
            <a:avLst/>
          </a:prstGeom>
          <a:noFill/>
          <a:ln w="25400">
            <a:solidFill>
              <a:srgbClr val="9DB7C1"/>
            </a:solidFill>
            <a:prstDash val="solid"/>
            <a:tailEnd type="triangle"/>
          </a:ln>
        </p:spPr>
      </p:sp>
      <p:sp>
        <p:nvSpPr>
          <p:cNvPr id="35" name="Shape 32"/>
          <p:cNvSpPr/>
          <p:nvPr/>
        </p:nvSpPr>
        <p:spPr>
          <a:xfrm flipH="1">
            <a:off x="2962656" y="4206240"/>
            <a:ext cx="454457" cy="0"/>
          </a:xfrm>
          <a:prstGeom prst="line">
            <a:avLst/>
          </a:prstGeom>
          <a:noFill/>
          <a:ln w="25400">
            <a:solidFill>
              <a:srgbClr val="9DB7C1"/>
            </a:solidFill>
            <a:prstDash val="solid"/>
            <a:tailEnd type="triangle"/>
          </a:ln>
        </p:spPr>
      </p:sp>
      <p:sp>
        <p:nvSpPr>
          <p:cNvPr id="36" name="Shape 33"/>
          <p:cNvSpPr/>
          <p:nvPr/>
        </p:nvSpPr>
        <p:spPr>
          <a:xfrm>
            <a:off x="548640" y="5166360"/>
            <a:ext cx="11091672" cy="1051560"/>
          </a:xfrm>
          <a:prstGeom prst="roundRect">
            <a:avLst>
              <a:gd name="adj" fmla="val 10435"/>
            </a:avLst>
          </a:prstGeom>
          <a:solidFill>
            <a:srgbClr val="0F2733"/>
          </a:solidFill>
          <a:ln w="9525">
            <a:solidFill>
              <a:srgbClr val="23515F"/>
            </a:solidFill>
            <a:prstDash val="solid"/>
          </a:ln>
        </p:spPr>
      </p:sp>
      <p:sp>
        <p:nvSpPr>
          <p:cNvPr id="37" name="Text 34"/>
          <p:cNvSpPr txBox="1"/>
          <p:nvPr/>
        </p:nvSpPr>
        <p:spPr>
          <a:xfrm>
            <a:off x="822960" y="5257800"/>
            <a:ext cx="10515600" cy="548640"/>
          </a:xfrm>
          <a:prstGeom prst="rect">
            <a:avLst/>
          </a:prstGeom>
          <a:noFill/>
          <a:ln/>
        </p:spPr>
        <p:txBody>
          <a:bodyPr wrap="square" lIns="0" tIns="0" rIns="0" bIns="0" rtlCol="0" anchor="ctr"/>
          <a:lstStyle/>
          <a:p>
            <a:pPr marL="0" indent="0">
              <a:buNone/>
            </a:pPr>
            <a:r>
              <a:rPr lang="en-US" sz="2600" b="1" i="1" dirty="0">
                <a:solidFill>
                  <a:srgbClr val="2DD4BF"/>
                </a:solidFill>
                <a:latin typeface="Cambria" pitchFamily="34" charset="0"/>
                <a:ea typeface="Cambria" pitchFamily="34" charset="-122"/>
                <a:cs typeface="Cambria" pitchFamily="34" charset="-120"/>
              </a:rPr>
              <a:t>“The LLM does not invent the sensor readings.”</a:t>
            </a:r>
            <a:endParaRPr lang="en-US" sz="2600" dirty="0"/>
          </a:p>
        </p:txBody>
      </p:sp>
      <p:sp>
        <p:nvSpPr>
          <p:cNvPr id="38" name="Text 35"/>
          <p:cNvSpPr txBox="1"/>
          <p:nvPr/>
        </p:nvSpPr>
        <p:spPr>
          <a:xfrm>
            <a:off x="822960" y="5806440"/>
            <a:ext cx="10515600" cy="320040"/>
          </a:xfrm>
          <a:prstGeom prst="rect">
            <a:avLst/>
          </a:prstGeom>
          <a:noFill/>
          <a:ln/>
        </p:spPr>
        <p:txBody>
          <a:bodyPr wrap="square" lIns="0" tIns="0" rIns="0" bIns="0" rtlCol="0" anchor="t"/>
          <a:lstStyle/>
          <a:p>
            <a:pPr marL="0" indent="0">
              <a:buNone/>
            </a:pPr>
            <a:r>
              <a:rPr lang="en-US" sz="1400" dirty="0">
                <a:solidFill>
                  <a:srgbClr val="9DB7C1"/>
                </a:solidFill>
                <a:latin typeface="Calibri" pitchFamily="34" charset="0"/>
                <a:ea typeface="Calibri" pitchFamily="34" charset="-122"/>
                <a:cs typeface="Calibri" pitchFamily="34" charset="-120"/>
              </a:rPr>
              <a:t>The assistant receives the current city's live sensor data packet as explicit system context.</a:t>
            </a:r>
            <a:endParaRPr lang="en-US" sz="14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08 · SYSTEM ARCHITECTURE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Technical Architecture</a:t>
            </a:r>
            <a:endParaRPr lang="en-US" sz="3200" dirty="0"/>
          </a:p>
        </p:txBody>
      </p:sp>
      <p:sp>
        <p:nvSpPr>
          <p:cNvPr id="5" name="Shape 2"/>
          <p:cNvSpPr/>
          <p:nvPr/>
        </p:nvSpPr>
        <p:spPr>
          <a:xfrm>
            <a:off x="548640" y="1600200"/>
            <a:ext cx="6949440" cy="1234440"/>
          </a:xfrm>
          <a:prstGeom prst="roundRect">
            <a:avLst>
              <a:gd name="adj" fmla="val 8889"/>
            </a:avLst>
          </a:prstGeom>
          <a:solidFill>
            <a:srgbClr val="12303D"/>
          </a:solidFill>
          <a:ln w="9525">
            <a:solidFill>
              <a:srgbClr val="23515F"/>
            </a:solidFill>
            <a:prstDash val="solid"/>
          </a:ln>
        </p:spPr>
      </p:sp>
      <p:sp>
        <p:nvSpPr>
          <p:cNvPr id="6" name="Text 3"/>
          <p:cNvSpPr txBox="1"/>
          <p:nvPr/>
        </p:nvSpPr>
        <p:spPr>
          <a:xfrm>
            <a:off x="777240" y="1737360"/>
            <a:ext cx="6400800" cy="36576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React + Vite Frontend</a:t>
            </a:r>
            <a:endParaRPr lang="en-US" sz="1900" dirty="0"/>
          </a:p>
        </p:txBody>
      </p:sp>
      <p:sp>
        <p:nvSpPr>
          <p:cNvPr id="7" name="Shape 4"/>
          <p:cNvSpPr/>
          <p:nvPr/>
        </p:nvSpPr>
        <p:spPr>
          <a:xfrm>
            <a:off x="777240" y="2286000"/>
            <a:ext cx="1463040" cy="329184"/>
          </a:xfrm>
          <a:prstGeom prst="roundRect">
            <a:avLst>
              <a:gd name="adj" fmla="val 50000"/>
            </a:avLst>
          </a:prstGeom>
          <a:solidFill>
            <a:srgbClr val="0A1B26"/>
          </a:solidFill>
          <a:ln w="12700">
            <a:solidFill>
              <a:srgbClr val="0A1B26"/>
            </a:solidFill>
            <a:prstDash val="solid"/>
          </a:ln>
        </p:spPr>
      </p:sp>
      <p:sp>
        <p:nvSpPr>
          <p:cNvPr id="8" name="Text 5"/>
          <p:cNvSpPr txBox="1"/>
          <p:nvPr/>
        </p:nvSpPr>
        <p:spPr>
          <a:xfrm>
            <a:off x="777240" y="2286000"/>
            <a:ext cx="1463040" cy="329184"/>
          </a:xfrm>
          <a:prstGeom prst="rect">
            <a:avLst/>
          </a:prstGeom>
          <a:noFill/>
          <a:ln/>
        </p:spPr>
        <p:txBody>
          <a:bodyPr wrap="square" lIns="0" tIns="0" rIns="0" bIns="0" rtlCol="0" anchor="ctr"/>
          <a:lstStyle/>
          <a:p>
            <a:pPr marL="0" indent="0" algn="ctr">
              <a:buNone/>
            </a:pPr>
            <a:r>
              <a:rPr lang="en-US" sz="1200" b="1" dirty="0">
                <a:solidFill>
                  <a:srgbClr val="2DD4BF"/>
                </a:solidFill>
                <a:latin typeface="Calibri" pitchFamily="34" charset="0"/>
                <a:ea typeface="Calibri" pitchFamily="34" charset="-122"/>
                <a:cs typeface="Calibri" pitchFamily="34" charset="-120"/>
              </a:rPr>
              <a:t>Tailwind CSS</a:t>
            </a:r>
            <a:endParaRPr lang="en-US" sz="1200" dirty="0"/>
          </a:p>
        </p:txBody>
      </p:sp>
      <p:sp>
        <p:nvSpPr>
          <p:cNvPr id="9" name="Shape 6"/>
          <p:cNvSpPr/>
          <p:nvPr/>
        </p:nvSpPr>
        <p:spPr>
          <a:xfrm>
            <a:off x="2377440" y="2286000"/>
            <a:ext cx="1463040" cy="329184"/>
          </a:xfrm>
          <a:prstGeom prst="roundRect">
            <a:avLst>
              <a:gd name="adj" fmla="val 50000"/>
            </a:avLst>
          </a:prstGeom>
          <a:solidFill>
            <a:srgbClr val="0A1B26"/>
          </a:solidFill>
          <a:ln w="12700">
            <a:solidFill>
              <a:srgbClr val="0A1B26"/>
            </a:solidFill>
            <a:prstDash val="solid"/>
          </a:ln>
        </p:spPr>
      </p:sp>
      <p:sp>
        <p:nvSpPr>
          <p:cNvPr id="10" name="Text 7"/>
          <p:cNvSpPr txBox="1"/>
          <p:nvPr/>
        </p:nvSpPr>
        <p:spPr>
          <a:xfrm>
            <a:off x="2377440" y="2286000"/>
            <a:ext cx="1463040" cy="329184"/>
          </a:xfrm>
          <a:prstGeom prst="rect">
            <a:avLst/>
          </a:prstGeom>
          <a:noFill/>
          <a:ln/>
        </p:spPr>
        <p:txBody>
          <a:bodyPr wrap="square" lIns="0" tIns="0" rIns="0" bIns="0" rtlCol="0" anchor="ctr"/>
          <a:lstStyle/>
          <a:p>
            <a:pPr marL="0" indent="0" algn="ctr">
              <a:buNone/>
            </a:pPr>
            <a:r>
              <a:rPr lang="en-US" sz="1200" b="1" dirty="0">
                <a:solidFill>
                  <a:srgbClr val="2DD4BF"/>
                </a:solidFill>
                <a:latin typeface="Calibri" pitchFamily="34" charset="0"/>
                <a:ea typeface="Calibri" pitchFamily="34" charset="-122"/>
                <a:cs typeface="Calibri" pitchFamily="34" charset="-120"/>
              </a:rPr>
              <a:t>Recharts</a:t>
            </a:r>
            <a:endParaRPr lang="en-US" sz="1200" dirty="0"/>
          </a:p>
        </p:txBody>
      </p:sp>
      <p:sp>
        <p:nvSpPr>
          <p:cNvPr id="11" name="Shape 8"/>
          <p:cNvSpPr/>
          <p:nvPr/>
        </p:nvSpPr>
        <p:spPr>
          <a:xfrm>
            <a:off x="3977640" y="2286000"/>
            <a:ext cx="1463040" cy="329184"/>
          </a:xfrm>
          <a:prstGeom prst="roundRect">
            <a:avLst>
              <a:gd name="adj" fmla="val 50000"/>
            </a:avLst>
          </a:prstGeom>
          <a:solidFill>
            <a:srgbClr val="0A1B26"/>
          </a:solidFill>
          <a:ln w="12700">
            <a:solidFill>
              <a:srgbClr val="0A1B26"/>
            </a:solidFill>
            <a:prstDash val="solid"/>
          </a:ln>
        </p:spPr>
      </p:sp>
      <p:sp>
        <p:nvSpPr>
          <p:cNvPr id="12" name="Text 9"/>
          <p:cNvSpPr txBox="1"/>
          <p:nvPr/>
        </p:nvSpPr>
        <p:spPr>
          <a:xfrm>
            <a:off x="3977640" y="2286000"/>
            <a:ext cx="1463040" cy="329184"/>
          </a:xfrm>
          <a:prstGeom prst="rect">
            <a:avLst/>
          </a:prstGeom>
          <a:noFill/>
          <a:ln/>
        </p:spPr>
        <p:txBody>
          <a:bodyPr wrap="square" lIns="0" tIns="0" rIns="0" bIns="0" rtlCol="0" anchor="ctr"/>
          <a:lstStyle/>
          <a:p>
            <a:pPr marL="0" indent="0" algn="ctr">
              <a:buNone/>
            </a:pPr>
            <a:r>
              <a:rPr lang="en-US" sz="1200" b="1" dirty="0">
                <a:solidFill>
                  <a:srgbClr val="2DD4BF"/>
                </a:solidFill>
                <a:latin typeface="Calibri" pitchFamily="34" charset="0"/>
                <a:ea typeface="Calibri" pitchFamily="34" charset="-122"/>
                <a:cs typeface="Calibri" pitchFamily="34" charset="-120"/>
              </a:rPr>
              <a:t>Leaflet</a:t>
            </a:r>
            <a:endParaRPr lang="en-US" sz="1200" dirty="0"/>
          </a:p>
        </p:txBody>
      </p:sp>
      <p:sp>
        <p:nvSpPr>
          <p:cNvPr id="13" name="Shape 10"/>
          <p:cNvSpPr/>
          <p:nvPr/>
        </p:nvSpPr>
        <p:spPr>
          <a:xfrm>
            <a:off x="5577840" y="2286000"/>
            <a:ext cx="1463040" cy="329184"/>
          </a:xfrm>
          <a:prstGeom prst="roundRect">
            <a:avLst>
              <a:gd name="adj" fmla="val 50000"/>
            </a:avLst>
          </a:prstGeom>
          <a:solidFill>
            <a:srgbClr val="0A1B26"/>
          </a:solidFill>
          <a:ln w="12700">
            <a:solidFill>
              <a:srgbClr val="0A1B26"/>
            </a:solidFill>
            <a:prstDash val="solid"/>
          </a:ln>
        </p:spPr>
      </p:sp>
      <p:sp>
        <p:nvSpPr>
          <p:cNvPr id="14" name="Text 11"/>
          <p:cNvSpPr txBox="1"/>
          <p:nvPr/>
        </p:nvSpPr>
        <p:spPr>
          <a:xfrm>
            <a:off x="5577840" y="2286000"/>
            <a:ext cx="1463040" cy="329184"/>
          </a:xfrm>
          <a:prstGeom prst="rect">
            <a:avLst/>
          </a:prstGeom>
          <a:noFill/>
          <a:ln/>
        </p:spPr>
        <p:txBody>
          <a:bodyPr wrap="square" lIns="0" tIns="0" rIns="0" bIns="0" rtlCol="0" anchor="ctr"/>
          <a:lstStyle/>
          <a:p>
            <a:pPr marL="0" indent="0" algn="ctr">
              <a:buNone/>
            </a:pPr>
            <a:r>
              <a:rPr lang="en-US" sz="1200" b="1" dirty="0">
                <a:solidFill>
                  <a:srgbClr val="2DD4BF"/>
                </a:solidFill>
                <a:latin typeface="Calibri" pitchFamily="34" charset="0"/>
                <a:ea typeface="Calibri" pitchFamily="34" charset="-122"/>
                <a:cs typeface="Calibri" pitchFamily="34" charset="-120"/>
              </a:rPr>
              <a:t>OpenStreetMap</a:t>
            </a:r>
            <a:endParaRPr lang="en-US" sz="1200" dirty="0"/>
          </a:p>
        </p:txBody>
      </p:sp>
      <p:sp>
        <p:nvSpPr>
          <p:cNvPr id="15" name="Shape 12"/>
          <p:cNvSpPr/>
          <p:nvPr/>
        </p:nvSpPr>
        <p:spPr>
          <a:xfrm>
            <a:off x="4023360" y="2862072"/>
            <a:ext cx="0" cy="384048"/>
          </a:xfrm>
          <a:prstGeom prst="line">
            <a:avLst/>
          </a:prstGeom>
          <a:noFill/>
          <a:ln w="25400">
            <a:solidFill>
              <a:srgbClr val="2DD4BF"/>
            </a:solidFill>
            <a:prstDash val="solid"/>
            <a:tailEnd type="triangle"/>
          </a:ln>
        </p:spPr>
      </p:sp>
      <p:sp>
        <p:nvSpPr>
          <p:cNvPr id="16" name="Shape 13"/>
          <p:cNvSpPr/>
          <p:nvPr/>
        </p:nvSpPr>
        <p:spPr>
          <a:xfrm>
            <a:off x="548640" y="3273552"/>
            <a:ext cx="6949440" cy="960120"/>
          </a:xfrm>
          <a:prstGeom prst="roundRect">
            <a:avLst>
              <a:gd name="adj" fmla="val 11429"/>
            </a:avLst>
          </a:prstGeom>
          <a:solidFill>
            <a:srgbClr val="0F3A3D"/>
          </a:solidFill>
          <a:ln w="9525">
            <a:solidFill>
              <a:srgbClr val="2DD4BF"/>
            </a:solidFill>
            <a:prstDash val="solid"/>
          </a:ln>
        </p:spPr>
      </p:sp>
      <p:sp>
        <p:nvSpPr>
          <p:cNvPr id="17" name="Text 14"/>
          <p:cNvSpPr txBox="1"/>
          <p:nvPr/>
        </p:nvSpPr>
        <p:spPr>
          <a:xfrm>
            <a:off x="777240" y="3383280"/>
            <a:ext cx="6400800" cy="36576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FastAPI Backend</a:t>
            </a:r>
            <a:endParaRPr lang="en-US" sz="1900" dirty="0"/>
          </a:p>
        </p:txBody>
      </p:sp>
      <p:sp>
        <p:nvSpPr>
          <p:cNvPr id="18" name="Text 15"/>
          <p:cNvSpPr txBox="1"/>
          <p:nvPr/>
        </p:nvSpPr>
        <p:spPr>
          <a:xfrm>
            <a:off x="777240" y="3776472"/>
            <a:ext cx="6400800" cy="320040"/>
          </a:xfrm>
          <a:prstGeom prst="rect">
            <a:avLst/>
          </a:prstGeom>
          <a:noFill/>
          <a:ln/>
        </p:spPr>
        <p:txBody>
          <a:bodyPr wrap="square" lIns="0" tIns="0" rIns="0" bIns="0" rtlCol="0" anchor="t"/>
          <a:lstStyle/>
          <a:p>
            <a:pPr marL="0" indent="0">
              <a:buNone/>
            </a:pPr>
            <a:r>
              <a:rPr lang="en-US" sz="1300" dirty="0">
                <a:solidFill>
                  <a:srgbClr val="9DB7C1"/>
                </a:solidFill>
                <a:latin typeface="Calibri" pitchFamily="34" charset="0"/>
                <a:ea typeface="Calibri" pitchFamily="34" charset="-122"/>
                <a:cs typeface="Calibri" pitchFamily="34" charset="-120"/>
              </a:rPr>
              <a:t>Port 8000 · /api proxy · 8 REST endpoints</a:t>
            </a:r>
            <a:endParaRPr lang="en-US" sz="1300" dirty="0"/>
          </a:p>
        </p:txBody>
      </p:sp>
      <p:sp>
        <p:nvSpPr>
          <p:cNvPr id="19" name="Shape 16"/>
          <p:cNvSpPr/>
          <p:nvPr/>
        </p:nvSpPr>
        <p:spPr>
          <a:xfrm>
            <a:off x="2194560" y="4261104"/>
            <a:ext cx="0" cy="384048"/>
          </a:xfrm>
          <a:prstGeom prst="line">
            <a:avLst/>
          </a:prstGeom>
          <a:noFill/>
          <a:ln w="25400">
            <a:solidFill>
              <a:srgbClr val="2DD4BF"/>
            </a:solidFill>
            <a:prstDash val="solid"/>
            <a:tailEnd type="triangle"/>
          </a:ln>
        </p:spPr>
      </p:sp>
      <p:sp>
        <p:nvSpPr>
          <p:cNvPr id="20" name="Shape 17"/>
          <p:cNvSpPr/>
          <p:nvPr/>
        </p:nvSpPr>
        <p:spPr>
          <a:xfrm>
            <a:off x="5852160" y="4261104"/>
            <a:ext cx="0" cy="384048"/>
          </a:xfrm>
          <a:prstGeom prst="line">
            <a:avLst/>
          </a:prstGeom>
          <a:noFill/>
          <a:ln w="25400">
            <a:solidFill>
              <a:srgbClr val="2DD4BF"/>
            </a:solidFill>
            <a:prstDash val="solid"/>
            <a:tailEnd type="triangle"/>
          </a:ln>
        </p:spPr>
      </p:sp>
      <p:sp>
        <p:nvSpPr>
          <p:cNvPr id="21" name="Shape 18"/>
          <p:cNvSpPr/>
          <p:nvPr/>
        </p:nvSpPr>
        <p:spPr>
          <a:xfrm>
            <a:off x="548640" y="4663440"/>
            <a:ext cx="3291840" cy="1371600"/>
          </a:xfrm>
          <a:prstGeom prst="roundRect">
            <a:avLst>
              <a:gd name="adj" fmla="val 8000"/>
            </a:avLst>
          </a:prstGeom>
          <a:solidFill>
            <a:srgbClr val="12303D"/>
          </a:solidFill>
          <a:ln w="9525">
            <a:solidFill>
              <a:srgbClr val="23515F"/>
            </a:solidFill>
            <a:prstDash val="solid"/>
          </a:ln>
        </p:spPr>
      </p:sp>
      <p:sp>
        <p:nvSpPr>
          <p:cNvPr id="22" name="Text 19"/>
          <p:cNvSpPr txBox="1"/>
          <p:nvPr/>
        </p:nvSpPr>
        <p:spPr>
          <a:xfrm>
            <a:off x="777240" y="4800600"/>
            <a:ext cx="292608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OpenAQ REST v3</a:t>
            </a:r>
            <a:endParaRPr lang="en-US" sz="1800" dirty="0"/>
          </a:p>
        </p:txBody>
      </p:sp>
      <p:sp>
        <p:nvSpPr>
          <p:cNvPr id="23" name="Text 20"/>
          <p:cNvSpPr txBox="1"/>
          <p:nvPr/>
        </p:nvSpPr>
        <p:spPr>
          <a:xfrm>
            <a:off x="777240" y="5212080"/>
            <a:ext cx="2926080" cy="320040"/>
          </a:xfrm>
          <a:prstGeom prst="rect">
            <a:avLst/>
          </a:prstGeom>
          <a:noFill/>
          <a:ln/>
        </p:spPr>
        <p:txBody>
          <a:bodyPr wrap="square" lIns="0" tIns="0" rIns="0" bIns="0" rtlCol="0" anchor="t"/>
          <a:lstStyle/>
          <a:p>
            <a:pPr marL="0" indent="0">
              <a:buNone/>
            </a:pPr>
            <a:r>
              <a:rPr lang="en-US" sz="1400" dirty="0">
                <a:solidFill>
                  <a:srgbClr val="9DB7C1"/>
                </a:solidFill>
                <a:latin typeface="Calibri" pitchFamily="34" charset="0"/>
                <a:ea typeface="Calibri" pitchFamily="34" charset="-122"/>
                <a:cs typeface="Calibri" pitchFamily="34" charset="-120"/>
              </a:rPr>
              <a:t>Air-quality telemetry</a:t>
            </a:r>
            <a:endParaRPr lang="en-US" sz="1400" dirty="0"/>
          </a:p>
        </p:txBody>
      </p:sp>
      <p:sp>
        <p:nvSpPr>
          <p:cNvPr id="24" name="Shape 21"/>
          <p:cNvSpPr/>
          <p:nvPr/>
        </p:nvSpPr>
        <p:spPr>
          <a:xfrm>
            <a:off x="4206240" y="4663440"/>
            <a:ext cx="3291840" cy="1371600"/>
          </a:xfrm>
          <a:prstGeom prst="roundRect">
            <a:avLst>
              <a:gd name="adj" fmla="val 8000"/>
            </a:avLst>
          </a:prstGeom>
          <a:solidFill>
            <a:srgbClr val="0F3A3D"/>
          </a:solidFill>
          <a:ln w="9525">
            <a:solidFill>
              <a:srgbClr val="2DD4BF"/>
            </a:solidFill>
            <a:prstDash val="solid"/>
          </a:ln>
        </p:spPr>
      </p:sp>
      <p:sp>
        <p:nvSpPr>
          <p:cNvPr id="25" name="Text 22"/>
          <p:cNvSpPr txBox="1"/>
          <p:nvPr/>
        </p:nvSpPr>
        <p:spPr>
          <a:xfrm>
            <a:off x="4434840" y="4800600"/>
            <a:ext cx="292608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Groq API</a:t>
            </a:r>
            <a:endParaRPr lang="en-US" sz="1800" dirty="0"/>
          </a:p>
        </p:txBody>
      </p:sp>
      <p:sp>
        <p:nvSpPr>
          <p:cNvPr id="26" name="Text 23"/>
          <p:cNvSpPr txBox="1"/>
          <p:nvPr/>
        </p:nvSpPr>
        <p:spPr>
          <a:xfrm>
            <a:off x="4434840" y="5212080"/>
            <a:ext cx="2926080" cy="274320"/>
          </a:xfrm>
          <a:prstGeom prst="rect">
            <a:avLst/>
          </a:prstGeom>
          <a:noFill/>
          <a:ln/>
        </p:spPr>
        <p:txBody>
          <a:bodyPr wrap="square" lIns="0" tIns="0" rIns="0" bIns="0" rtlCol="0" anchor="t"/>
          <a:lstStyle/>
          <a:p>
            <a:pPr marL="0" indent="0">
              <a:buNone/>
            </a:pPr>
            <a:r>
              <a:rPr lang="en-US" sz="1400" b="1" dirty="0">
                <a:solidFill>
                  <a:srgbClr val="2DD4BF"/>
                </a:solidFill>
                <a:latin typeface="Calibri" pitchFamily="34" charset="0"/>
                <a:ea typeface="Calibri" pitchFamily="34" charset="-122"/>
                <a:cs typeface="Calibri" pitchFamily="34" charset="-120"/>
              </a:rPr>
              <a:t>Llama 3.3 70B</a:t>
            </a:r>
            <a:endParaRPr lang="en-US" sz="1400" dirty="0"/>
          </a:p>
        </p:txBody>
      </p:sp>
      <p:sp>
        <p:nvSpPr>
          <p:cNvPr id="27" name="Text 24"/>
          <p:cNvSpPr txBox="1"/>
          <p:nvPr/>
        </p:nvSpPr>
        <p:spPr>
          <a:xfrm>
            <a:off x="4434840" y="5486400"/>
            <a:ext cx="2926080" cy="274320"/>
          </a:xfrm>
          <a:prstGeom prst="rect">
            <a:avLst/>
          </a:prstGeom>
          <a:noFill/>
          <a:ln/>
        </p:spPr>
        <p:txBody>
          <a:bodyPr wrap="square" lIns="0" tIns="0" rIns="0" bIns="0" rtlCol="0" anchor="t"/>
          <a:lstStyle/>
          <a:p>
            <a:pPr marL="0" indent="0">
              <a:buNone/>
            </a:pPr>
            <a:r>
              <a:rPr lang="en-US" sz="1400" dirty="0">
                <a:solidFill>
                  <a:srgbClr val="9DB7C1"/>
                </a:solidFill>
                <a:latin typeface="Calibri" pitchFamily="34" charset="0"/>
                <a:ea typeface="Calibri" pitchFamily="34" charset="-122"/>
                <a:cs typeface="Calibri" pitchFamily="34" charset="-120"/>
              </a:rPr>
              <a:t>AI Assistant</a:t>
            </a:r>
            <a:endParaRPr lang="en-US" sz="1400" dirty="0"/>
          </a:p>
        </p:txBody>
      </p:sp>
      <p:sp>
        <p:nvSpPr>
          <p:cNvPr id="28" name="Shape 25"/>
          <p:cNvSpPr/>
          <p:nvPr/>
        </p:nvSpPr>
        <p:spPr>
          <a:xfrm>
            <a:off x="7863840" y="1600200"/>
            <a:ext cx="3776472" cy="4434840"/>
          </a:xfrm>
          <a:prstGeom prst="roundRect">
            <a:avLst>
              <a:gd name="adj" fmla="val 2906"/>
            </a:avLst>
          </a:prstGeom>
          <a:solidFill>
            <a:srgbClr val="16283A"/>
          </a:solidFill>
          <a:ln w="9525">
            <a:solidFill>
              <a:srgbClr val="FB923C"/>
            </a:solidFill>
            <a:prstDash val="solid"/>
          </a:ln>
        </p:spPr>
      </p:sp>
      <p:sp>
        <p:nvSpPr>
          <p:cNvPr id="29" name="Shape 26"/>
          <p:cNvSpPr/>
          <p:nvPr/>
        </p:nvSpPr>
        <p:spPr>
          <a:xfrm>
            <a:off x="8092440" y="1828800"/>
            <a:ext cx="640080" cy="640080"/>
          </a:xfrm>
          <a:prstGeom prst="ellipse">
            <a:avLst/>
          </a:prstGeom>
          <a:solidFill>
            <a:srgbClr val="0A1B26"/>
          </a:solidFill>
          <a:ln w="12700">
            <a:solidFill>
              <a:srgbClr val="0A1B26"/>
            </a:solidFill>
            <a:prstDash val="solid"/>
          </a:ln>
        </p:spPr>
      </p:sp>
      <p:pic>
        <p:nvPicPr>
          <p:cNvPr id="30" name="Image 0" descr="preencoded.png"/>
          <p:cNvPicPr>
            <a:picLocks noChangeAspect="1"/>
          </p:cNvPicPr>
          <p:nvPr/>
        </p:nvPicPr>
        <p:blipFill>
          <a:blip r:embed="rId3"/>
          <a:stretch>
            <a:fillRect/>
          </a:stretch>
        </p:blipFill>
        <p:spPr>
          <a:xfrm>
            <a:off x="8252460" y="1988820"/>
            <a:ext cx="320040" cy="320040"/>
          </a:xfrm>
          <a:prstGeom prst="rect">
            <a:avLst/>
          </a:prstGeom>
        </p:spPr>
      </p:pic>
      <p:sp>
        <p:nvSpPr>
          <p:cNvPr id="31" name="Text 27"/>
          <p:cNvSpPr txBox="1"/>
          <p:nvPr/>
        </p:nvSpPr>
        <p:spPr>
          <a:xfrm>
            <a:off x="8915400" y="1828800"/>
            <a:ext cx="2651760"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Security Layer</a:t>
            </a:r>
            <a:endParaRPr lang="en-US" sz="2000" dirty="0"/>
          </a:p>
        </p:txBody>
      </p:sp>
      <p:sp>
        <p:nvSpPr>
          <p:cNvPr id="32" name="Shape 28"/>
          <p:cNvSpPr/>
          <p:nvPr/>
        </p:nvSpPr>
        <p:spPr>
          <a:xfrm>
            <a:off x="8092440" y="2788920"/>
            <a:ext cx="2377440" cy="329184"/>
          </a:xfrm>
          <a:prstGeom prst="roundRect">
            <a:avLst>
              <a:gd name="adj" fmla="val 50000"/>
            </a:avLst>
          </a:prstGeom>
          <a:solidFill>
            <a:srgbClr val="0A1B26"/>
          </a:solidFill>
          <a:ln w="12700">
            <a:solidFill>
              <a:srgbClr val="0A1B26"/>
            </a:solidFill>
            <a:prstDash val="solid"/>
          </a:ln>
        </p:spPr>
      </p:sp>
      <p:sp>
        <p:nvSpPr>
          <p:cNvPr id="33" name="Text 29"/>
          <p:cNvSpPr txBox="1"/>
          <p:nvPr/>
        </p:nvSpPr>
        <p:spPr>
          <a:xfrm>
            <a:off x="8092440" y="2788920"/>
            <a:ext cx="2377440" cy="329184"/>
          </a:xfrm>
          <a:prstGeom prst="rect">
            <a:avLst/>
          </a:prstGeom>
          <a:noFill/>
          <a:ln/>
        </p:spPr>
        <p:txBody>
          <a:bodyPr wrap="square" lIns="0" tIns="0" rIns="0" bIns="0" rtlCol="0" anchor="ctr"/>
          <a:lstStyle/>
          <a:p>
            <a:pPr marL="0" indent="0" algn="ctr">
              <a:buNone/>
            </a:pPr>
            <a:r>
              <a:rPr lang="en-US" sz="1200" b="1" dirty="0">
                <a:solidFill>
                  <a:srgbClr val="FB923C"/>
                </a:solidFill>
                <a:latin typeface="Calibri" pitchFamily="34" charset="0"/>
                <a:ea typeface="Calibri" pitchFamily="34" charset="-122"/>
                <a:cs typeface="Calibri" pitchFamily="34" charset="-120"/>
              </a:rPr>
              <a:t>OPENAQ_API_KEY</a:t>
            </a:r>
            <a:endParaRPr lang="en-US" sz="1200" dirty="0"/>
          </a:p>
        </p:txBody>
      </p:sp>
      <p:sp>
        <p:nvSpPr>
          <p:cNvPr id="34" name="Shape 30"/>
          <p:cNvSpPr/>
          <p:nvPr/>
        </p:nvSpPr>
        <p:spPr>
          <a:xfrm>
            <a:off x="8092440" y="3246120"/>
            <a:ext cx="2377440" cy="329184"/>
          </a:xfrm>
          <a:prstGeom prst="roundRect">
            <a:avLst>
              <a:gd name="adj" fmla="val 50000"/>
            </a:avLst>
          </a:prstGeom>
          <a:solidFill>
            <a:srgbClr val="0A1B26"/>
          </a:solidFill>
          <a:ln w="12700">
            <a:solidFill>
              <a:srgbClr val="0A1B26"/>
            </a:solidFill>
            <a:prstDash val="solid"/>
          </a:ln>
        </p:spPr>
      </p:sp>
      <p:sp>
        <p:nvSpPr>
          <p:cNvPr id="35" name="Text 31"/>
          <p:cNvSpPr txBox="1"/>
          <p:nvPr/>
        </p:nvSpPr>
        <p:spPr>
          <a:xfrm>
            <a:off x="8092440" y="3246120"/>
            <a:ext cx="2377440" cy="329184"/>
          </a:xfrm>
          <a:prstGeom prst="rect">
            <a:avLst/>
          </a:prstGeom>
          <a:noFill/>
          <a:ln/>
        </p:spPr>
        <p:txBody>
          <a:bodyPr wrap="square" lIns="0" tIns="0" rIns="0" bIns="0" rtlCol="0" anchor="ctr"/>
          <a:lstStyle/>
          <a:p>
            <a:pPr marL="0" indent="0" algn="ctr">
              <a:buNone/>
            </a:pPr>
            <a:r>
              <a:rPr lang="en-US" sz="1200" b="1" dirty="0">
                <a:solidFill>
                  <a:srgbClr val="FB923C"/>
                </a:solidFill>
                <a:latin typeface="Calibri" pitchFamily="34" charset="0"/>
                <a:ea typeface="Calibri" pitchFamily="34" charset="-122"/>
                <a:cs typeface="Calibri" pitchFamily="34" charset="-120"/>
              </a:rPr>
              <a:t>GROQ_API_KEY</a:t>
            </a:r>
            <a:endParaRPr lang="en-US" sz="1200" dirty="0"/>
          </a:p>
        </p:txBody>
      </p:sp>
      <p:sp>
        <p:nvSpPr>
          <p:cNvPr id="36" name="Shape 32"/>
          <p:cNvSpPr/>
          <p:nvPr/>
        </p:nvSpPr>
        <p:spPr>
          <a:xfrm>
            <a:off x="9281160" y="3657600"/>
            <a:ext cx="0" cy="411480"/>
          </a:xfrm>
          <a:prstGeom prst="line">
            <a:avLst/>
          </a:prstGeom>
          <a:noFill/>
          <a:ln w="25400">
            <a:solidFill>
              <a:srgbClr val="FB923C"/>
            </a:solidFill>
            <a:prstDash val="solid"/>
            <a:tailEnd type="triangle"/>
          </a:ln>
        </p:spPr>
      </p:sp>
      <p:sp>
        <p:nvSpPr>
          <p:cNvPr id="37" name="Shape 33"/>
          <p:cNvSpPr/>
          <p:nvPr/>
        </p:nvSpPr>
        <p:spPr>
          <a:xfrm>
            <a:off x="8092440" y="4096512"/>
            <a:ext cx="2377440" cy="365760"/>
          </a:xfrm>
          <a:prstGeom prst="roundRect">
            <a:avLst>
              <a:gd name="adj" fmla="val 50000"/>
            </a:avLst>
          </a:prstGeom>
          <a:solidFill>
            <a:srgbClr val="FB923C"/>
          </a:solidFill>
          <a:ln w="12700">
            <a:solidFill>
              <a:srgbClr val="FB923C"/>
            </a:solidFill>
            <a:prstDash val="solid"/>
          </a:ln>
        </p:spPr>
      </p:sp>
      <p:sp>
        <p:nvSpPr>
          <p:cNvPr id="38" name="Text 34"/>
          <p:cNvSpPr txBox="1"/>
          <p:nvPr/>
        </p:nvSpPr>
        <p:spPr>
          <a:xfrm>
            <a:off x="8092440" y="4096512"/>
            <a:ext cx="2377440" cy="365760"/>
          </a:xfrm>
          <a:prstGeom prst="rect">
            <a:avLst/>
          </a:prstGeom>
          <a:noFill/>
          <a:ln/>
        </p:spPr>
        <p:txBody>
          <a:bodyPr wrap="square" lIns="0" tIns="0" rIns="0" bIns="0" rtlCol="0" anchor="ctr"/>
          <a:lstStyle/>
          <a:p>
            <a:pPr marL="0" indent="0" algn="ctr">
              <a:buNone/>
            </a:pPr>
            <a:r>
              <a:rPr lang="en-US" sz="1300" b="1" dirty="0">
                <a:solidFill>
                  <a:srgbClr val="0A1B26"/>
                </a:solidFill>
                <a:latin typeface="Calibri" pitchFamily="34" charset="0"/>
                <a:ea typeface="Calibri" pitchFamily="34" charset="-122"/>
                <a:cs typeface="Calibri" pitchFamily="34" charset="-120"/>
              </a:rPr>
              <a:t>Server-side only</a:t>
            </a:r>
            <a:endParaRPr lang="en-US" sz="1300" dirty="0"/>
          </a:p>
        </p:txBody>
      </p:sp>
      <p:sp>
        <p:nvSpPr>
          <p:cNvPr id="39" name="Text 35"/>
          <p:cNvSpPr txBox="1"/>
          <p:nvPr/>
        </p:nvSpPr>
        <p:spPr>
          <a:xfrm>
            <a:off x="8092440" y="4709160"/>
            <a:ext cx="3337560" cy="109728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The React frontend never touches or exposes API keys.</a:t>
            </a:r>
            <a:endParaRPr lang="en-US" sz="15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09 · TECHNOLOGY STACK</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Technology Stack</a:t>
            </a:r>
            <a:endParaRPr lang="en-US" sz="3200" dirty="0"/>
          </a:p>
        </p:txBody>
      </p:sp>
      <p:sp>
        <p:nvSpPr>
          <p:cNvPr id="5" name="Shape 2"/>
          <p:cNvSpPr/>
          <p:nvPr/>
        </p:nvSpPr>
        <p:spPr>
          <a:xfrm>
            <a:off x="548640" y="1600200"/>
            <a:ext cx="3657600" cy="3063240"/>
          </a:xfrm>
          <a:prstGeom prst="roundRect">
            <a:avLst>
              <a:gd name="adj" fmla="val 3582"/>
            </a:avLst>
          </a:prstGeom>
          <a:solidFill>
            <a:srgbClr val="12303D"/>
          </a:solidFill>
          <a:ln w="9525">
            <a:solidFill>
              <a:srgbClr val="23515F"/>
            </a:solidFill>
            <a:prstDash val="solid"/>
          </a:ln>
        </p:spPr>
      </p:sp>
      <p:sp>
        <p:nvSpPr>
          <p:cNvPr id="6" name="Text 3"/>
          <p:cNvSpPr txBox="1"/>
          <p:nvPr/>
        </p:nvSpPr>
        <p:spPr>
          <a:xfrm>
            <a:off x="777240" y="1783080"/>
            <a:ext cx="2743200" cy="274320"/>
          </a:xfrm>
          <a:prstGeom prst="rect">
            <a:avLst/>
          </a:prstGeom>
          <a:noFill/>
          <a:ln/>
        </p:spPr>
        <p:txBody>
          <a:bodyPr wrap="square" lIns="0" tIns="0" rIns="0" bIns="0" rtlCol="0" anchor="t"/>
          <a:lstStyle/>
          <a:p>
            <a:pPr marL="0" indent="0">
              <a:buNone/>
            </a:pPr>
            <a:r>
              <a:rPr lang="en-US" sz="1200" b="1" kern="0" spc="200" dirty="0">
                <a:solidFill>
                  <a:srgbClr val="2DD4BF"/>
                </a:solidFill>
                <a:latin typeface="Calibri" pitchFamily="34" charset="0"/>
                <a:ea typeface="Calibri" pitchFamily="34" charset="-122"/>
                <a:cs typeface="Calibri" pitchFamily="34" charset="-120"/>
              </a:rPr>
              <a:t>FRONTEND</a:t>
            </a:r>
            <a:endParaRPr lang="en-US" sz="1200" dirty="0"/>
          </a:p>
        </p:txBody>
      </p:sp>
      <p:sp>
        <p:nvSpPr>
          <p:cNvPr id="7" name="Text 4"/>
          <p:cNvSpPr txBox="1"/>
          <p:nvPr/>
        </p:nvSpPr>
        <p:spPr>
          <a:xfrm>
            <a:off x="777240" y="2148840"/>
            <a:ext cx="3200400" cy="24688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React 18</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Vite</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Tailwind CSS</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Recharts</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Lucide React</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Leaflet</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OpenStreetMap</a:t>
            </a:r>
            <a:endParaRPr lang="en-US" sz="1400" dirty="0"/>
          </a:p>
        </p:txBody>
      </p:sp>
      <p:sp>
        <p:nvSpPr>
          <p:cNvPr id="8" name="Shape 5"/>
          <p:cNvSpPr/>
          <p:nvPr/>
        </p:nvSpPr>
        <p:spPr>
          <a:xfrm>
            <a:off x="4389120" y="1600200"/>
            <a:ext cx="3657600" cy="3063240"/>
          </a:xfrm>
          <a:prstGeom prst="roundRect">
            <a:avLst>
              <a:gd name="adj" fmla="val 3582"/>
            </a:avLst>
          </a:prstGeom>
          <a:solidFill>
            <a:srgbClr val="12303D"/>
          </a:solidFill>
          <a:ln w="9525">
            <a:solidFill>
              <a:srgbClr val="23515F"/>
            </a:solidFill>
            <a:prstDash val="solid"/>
          </a:ln>
        </p:spPr>
      </p:sp>
      <p:sp>
        <p:nvSpPr>
          <p:cNvPr id="9" name="Text 6"/>
          <p:cNvSpPr txBox="1"/>
          <p:nvPr/>
        </p:nvSpPr>
        <p:spPr>
          <a:xfrm>
            <a:off x="4617720" y="1783080"/>
            <a:ext cx="2743200" cy="274320"/>
          </a:xfrm>
          <a:prstGeom prst="rect">
            <a:avLst/>
          </a:prstGeom>
          <a:noFill/>
          <a:ln/>
        </p:spPr>
        <p:txBody>
          <a:bodyPr wrap="square" lIns="0" tIns="0" rIns="0" bIns="0" rtlCol="0" anchor="t"/>
          <a:lstStyle/>
          <a:p>
            <a:pPr marL="0" indent="0">
              <a:buNone/>
            </a:pPr>
            <a:r>
              <a:rPr lang="en-US" sz="1200" b="1" kern="0" spc="200" dirty="0">
                <a:solidFill>
                  <a:srgbClr val="2DD4BF"/>
                </a:solidFill>
                <a:latin typeface="Calibri" pitchFamily="34" charset="0"/>
                <a:ea typeface="Calibri" pitchFamily="34" charset="-122"/>
                <a:cs typeface="Calibri" pitchFamily="34" charset="-120"/>
              </a:rPr>
              <a:t>BACKEND</a:t>
            </a:r>
            <a:endParaRPr lang="en-US" sz="1200" dirty="0"/>
          </a:p>
        </p:txBody>
      </p:sp>
      <p:sp>
        <p:nvSpPr>
          <p:cNvPr id="10" name="Text 7"/>
          <p:cNvSpPr txBox="1"/>
          <p:nvPr/>
        </p:nvSpPr>
        <p:spPr>
          <a:xfrm>
            <a:off x="4617720" y="2148840"/>
            <a:ext cx="3200400" cy="246888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Python 3.10+</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FastAPI</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Uvicorn</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httpx</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Pydantic v2</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python-dotenv</a:t>
            </a:r>
            <a:endParaRPr lang="en-US" sz="1400" dirty="0"/>
          </a:p>
        </p:txBody>
      </p:sp>
      <p:sp>
        <p:nvSpPr>
          <p:cNvPr id="11" name="Shape 8"/>
          <p:cNvSpPr/>
          <p:nvPr/>
        </p:nvSpPr>
        <p:spPr>
          <a:xfrm>
            <a:off x="8229600" y="1600200"/>
            <a:ext cx="3410712" cy="1417320"/>
          </a:xfrm>
          <a:prstGeom prst="roundRect">
            <a:avLst>
              <a:gd name="adj" fmla="val 7742"/>
            </a:avLst>
          </a:prstGeom>
          <a:solidFill>
            <a:srgbClr val="12303D"/>
          </a:solidFill>
          <a:ln w="9525">
            <a:solidFill>
              <a:srgbClr val="23515F"/>
            </a:solidFill>
            <a:prstDash val="solid"/>
          </a:ln>
        </p:spPr>
      </p:sp>
      <p:sp>
        <p:nvSpPr>
          <p:cNvPr id="12" name="Text 9"/>
          <p:cNvSpPr txBox="1"/>
          <p:nvPr/>
        </p:nvSpPr>
        <p:spPr>
          <a:xfrm>
            <a:off x="8458200" y="1783080"/>
            <a:ext cx="3017520" cy="274320"/>
          </a:xfrm>
          <a:prstGeom prst="rect">
            <a:avLst/>
          </a:prstGeom>
          <a:noFill/>
          <a:ln/>
        </p:spPr>
        <p:txBody>
          <a:bodyPr wrap="square" lIns="0" tIns="0" rIns="0" bIns="0" rtlCol="0" anchor="t"/>
          <a:lstStyle/>
          <a:p>
            <a:pPr marL="0" indent="0">
              <a:buNone/>
            </a:pPr>
            <a:r>
              <a:rPr lang="en-US" sz="1200" b="1" kern="0" spc="200" dirty="0">
                <a:solidFill>
                  <a:srgbClr val="2DD4BF"/>
                </a:solidFill>
                <a:latin typeface="Calibri" pitchFamily="34" charset="0"/>
                <a:ea typeface="Calibri" pitchFamily="34" charset="-122"/>
                <a:cs typeface="Calibri" pitchFamily="34" charset="-120"/>
              </a:rPr>
              <a:t>ENVIRONMENTAL DATA</a:t>
            </a:r>
            <a:endParaRPr lang="en-US" sz="1200" dirty="0"/>
          </a:p>
        </p:txBody>
      </p:sp>
      <p:sp>
        <p:nvSpPr>
          <p:cNvPr id="13" name="Text 10"/>
          <p:cNvSpPr txBox="1"/>
          <p:nvPr/>
        </p:nvSpPr>
        <p:spPr>
          <a:xfrm>
            <a:off x="8458200" y="2194560"/>
            <a:ext cx="3017520" cy="45720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OpenAQ API v3</a:t>
            </a:r>
            <a:endParaRPr lang="en-US" sz="2000" dirty="0"/>
          </a:p>
        </p:txBody>
      </p:sp>
      <p:sp>
        <p:nvSpPr>
          <p:cNvPr id="14" name="Shape 11"/>
          <p:cNvSpPr/>
          <p:nvPr/>
        </p:nvSpPr>
        <p:spPr>
          <a:xfrm>
            <a:off x="8229600" y="3246120"/>
            <a:ext cx="3410712" cy="1417320"/>
          </a:xfrm>
          <a:prstGeom prst="roundRect">
            <a:avLst>
              <a:gd name="adj" fmla="val 7742"/>
            </a:avLst>
          </a:prstGeom>
          <a:solidFill>
            <a:srgbClr val="0F3A3D"/>
          </a:solidFill>
          <a:ln w="9525">
            <a:solidFill>
              <a:srgbClr val="2DD4BF"/>
            </a:solidFill>
            <a:prstDash val="solid"/>
          </a:ln>
        </p:spPr>
      </p:sp>
      <p:sp>
        <p:nvSpPr>
          <p:cNvPr id="15" name="Text 12"/>
          <p:cNvSpPr txBox="1"/>
          <p:nvPr/>
        </p:nvSpPr>
        <p:spPr>
          <a:xfrm>
            <a:off x="8458200" y="3429000"/>
            <a:ext cx="3017520" cy="274320"/>
          </a:xfrm>
          <a:prstGeom prst="rect">
            <a:avLst/>
          </a:prstGeom>
          <a:noFill/>
          <a:ln/>
        </p:spPr>
        <p:txBody>
          <a:bodyPr wrap="square" lIns="0" tIns="0" rIns="0" bIns="0" rtlCol="0" anchor="t"/>
          <a:lstStyle/>
          <a:p>
            <a:pPr marL="0" indent="0">
              <a:buNone/>
            </a:pPr>
            <a:r>
              <a:rPr lang="en-US" sz="1200" b="1" kern="0" spc="200" dirty="0">
                <a:solidFill>
                  <a:srgbClr val="2DD4BF"/>
                </a:solidFill>
                <a:latin typeface="Calibri" pitchFamily="34" charset="0"/>
                <a:ea typeface="Calibri" pitchFamily="34" charset="-122"/>
                <a:cs typeface="Calibri" pitchFamily="34" charset="-120"/>
              </a:rPr>
              <a:t>PRODUCTION AI</a:t>
            </a:r>
            <a:endParaRPr lang="en-US" sz="1200" dirty="0"/>
          </a:p>
        </p:txBody>
      </p:sp>
      <p:sp>
        <p:nvSpPr>
          <p:cNvPr id="16" name="Text 13"/>
          <p:cNvSpPr txBox="1"/>
          <p:nvPr/>
        </p:nvSpPr>
        <p:spPr>
          <a:xfrm>
            <a:off x="8458200" y="3794760"/>
            <a:ext cx="3017520" cy="32004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Groq API</a:t>
            </a:r>
            <a:endParaRPr lang="en-US" sz="1800" dirty="0"/>
          </a:p>
        </p:txBody>
      </p:sp>
      <p:sp>
        <p:nvSpPr>
          <p:cNvPr id="17" name="Text 14"/>
          <p:cNvSpPr txBox="1"/>
          <p:nvPr/>
        </p:nvSpPr>
        <p:spPr>
          <a:xfrm>
            <a:off x="8458200" y="4114800"/>
            <a:ext cx="3017520" cy="320040"/>
          </a:xfrm>
          <a:prstGeom prst="rect">
            <a:avLst/>
          </a:prstGeom>
          <a:noFill/>
          <a:ln/>
        </p:spPr>
        <p:txBody>
          <a:bodyPr wrap="square" lIns="0" tIns="0" rIns="0" bIns="0" rtlCol="0" anchor="t"/>
          <a:lstStyle/>
          <a:p>
            <a:pPr marL="0" indent="0">
              <a:buNone/>
            </a:pPr>
            <a:r>
              <a:rPr lang="en-US" sz="1600" dirty="0">
                <a:solidFill>
                  <a:srgbClr val="2DD4BF"/>
                </a:solidFill>
                <a:latin typeface="Calibri" pitchFamily="34" charset="0"/>
                <a:ea typeface="Calibri" pitchFamily="34" charset="-122"/>
                <a:cs typeface="Calibri" pitchFamily="34" charset="-120"/>
              </a:rPr>
              <a:t>Llama 3.3 70B</a:t>
            </a:r>
            <a:endParaRPr lang="en-US" sz="1600" dirty="0"/>
          </a:p>
        </p:txBody>
      </p:sp>
      <p:sp>
        <p:nvSpPr>
          <p:cNvPr id="18" name="Shape 15"/>
          <p:cNvSpPr/>
          <p:nvPr/>
        </p:nvSpPr>
        <p:spPr>
          <a:xfrm>
            <a:off x="548640" y="4892040"/>
            <a:ext cx="11091672" cy="1280160"/>
          </a:xfrm>
          <a:prstGeom prst="roundRect">
            <a:avLst>
              <a:gd name="adj" fmla="val 8571"/>
            </a:avLst>
          </a:prstGeom>
          <a:solidFill>
            <a:srgbClr val="16284D"/>
          </a:solidFill>
          <a:ln w="9525">
            <a:solidFill>
              <a:srgbClr val="7AA7FF"/>
            </a:solidFill>
            <a:prstDash val="solid"/>
          </a:ln>
        </p:spPr>
      </p:sp>
      <p:sp>
        <p:nvSpPr>
          <p:cNvPr id="19" name="Shape 16"/>
          <p:cNvSpPr/>
          <p:nvPr/>
        </p:nvSpPr>
        <p:spPr>
          <a:xfrm>
            <a:off x="777240" y="5074920"/>
            <a:ext cx="2286000" cy="274320"/>
          </a:xfrm>
          <a:prstGeom prst="roundRect">
            <a:avLst>
              <a:gd name="adj" fmla="val 50000"/>
            </a:avLst>
          </a:prstGeom>
          <a:solidFill>
            <a:srgbClr val="7AA7FF"/>
          </a:solidFill>
          <a:ln w="12700">
            <a:solidFill>
              <a:srgbClr val="7AA7FF"/>
            </a:solidFill>
            <a:prstDash val="solid"/>
          </a:ln>
        </p:spPr>
      </p:sp>
      <p:sp>
        <p:nvSpPr>
          <p:cNvPr id="20" name="Text 17"/>
          <p:cNvSpPr txBox="1"/>
          <p:nvPr/>
        </p:nvSpPr>
        <p:spPr>
          <a:xfrm>
            <a:off x="777240" y="5074920"/>
            <a:ext cx="2286000" cy="274320"/>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AI RESEARCH &amp; REFINEMENT</a:t>
            </a:r>
            <a:endParaRPr lang="en-US" sz="1100" dirty="0"/>
          </a:p>
        </p:txBody>
      </p:sp>
      <p:sp>
        <p:nvSpPr>
          <p:cNvPr id="21" name="Text 18"/>
          <p:cNvSpPr txBox="1"/>
          <p:nvPr/>
        </p:nvSpPr>
        <p:spPr>
          <a:xfrm>
            <a:off x="777240" y="5440680"/>
            <a:ext cx="2743200" cy="548640"/>
          </a:xfrm>
          <a:prstGeom prst="rect">
            <a:avLst/>
          </a:prstGeom>
          <a:noFill/>
          <a:ln/>
        </p:spPr>
        <p:txBody>
          <a:bodyPr wrap="square" lIns="0" tIns="0" rIns="0" bIns="0" rtlCol="0" anchor="ctr"/>
          <a:lstStyle/>
          <a:p>
            <a:pPr marL="0" indent="0">
              <a:buNone/>
            </a:pPr>
            <a:r>
              <a:rPr lang="en-US" sz="2800" b="1" dirty="0">
                <a:solidFill>
                  <a:srgbClr val="7AA7FF"/>
                </a:solidFill>
                <a:latin typeface="Cambria" pitchFamily="34" charset="0"/>
                <a:ea typeface="Cambria" pitchFamily="34" charset="-122"/>
                <a:cs typeface="Cambria" pitchFamily="34" charset="-120"/>
              </a:rPr>
              <a:t>IBM Bob</a:t>
            </a:r>
            <a:endParaRPr lang="en-US" sz="2800" dirty="0"/>
          </a:p>
        </p:txBody>
      </p:sp>
      <p:sp>
        <p:nvSpPr>
          <p:cNvPr id="22" name="Text 19"/>
          <p:cNvSpPr txBox="1"/>
          <p:nvPr/>
        </p:nvSpPr>
        <p:spPr>
          <a:xfrm>
            <a:off x="3840480" y="5074920"/>
            <a:ext cx="758952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AI Research, Ideation &amp; Project Refinement</a:t>
            </a:r>
            <a:endParaRPr lang="en-US" sz="2000" dirty="0"/>
          </a:p>
        </p:txBody>
      </p:sp>
      <p:sp>
        <p:nvSpPr>
          <p:cNvPr id="23" name="Text 20"/>
          <p:cNvSpPr txBox="1"/>
          <p:nvPr/>
        </p:nvSpPr>
        <p:spPr>
          <a:xfrm>
            <a:off x="3840480" y="5577840"/>
            <a:ext cx="7589520" cy="411480"/>
          </a:xfrm>
          <a:prstGeom prst="rect">
            <a:avLst/>
          </a:prstGeom>
          <a:noFill/>
          <a:ln/>
        </p:spPr>
        <p:txBody>
          <a:bodyPr wrap="square" lIns="0" tIns="0" rIns="0" bIns="0" rtlCol="0" anchor="ctr"/>
          <a:lstStyle/>
          <a:p>
            <a:pPr marL="0" indent="0">
              <a:buNone/>
            </a:pPr>
            <a:r>
              <a:rPr lang="en-US" sz="1500" dirty="0">
                <a:solidFill>
                  <a:srgbClr val="9DB7C1"/>
                </a:solidFill>
                <a:latin typeface="Calibri" pitchFamily="34" charset="0"/>
                <a:ea typeface="Calibri" pitchFamily="34" charset="-122"/>
                <a:cs typeface="Calibri" pitchFamily="34" charset="-120"/>
              </a:rPr>
              <a:t>Used during development. It is not the production AI provider.</a:t>
            </a:r>
            <a:endParaRPr lang="en-US" sz="1500" dirty="0"/>
          </a:p>
        </p:txBody>
      </p:sp>
      <p:sp>
        <p:nvSpPr>
          <p:cNvPr id="25"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10 · DATA &amp; AQI INTELLIGENCE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From Environmental Data to Air Quality Intelligence</a:t>
            </a:r>
            <a:endParaRPr lang="en-US" sz="3200" dirty="0"/>
          </a:p>
        </p:txBody>
      </p:sp>
      <p:sp>
        <p:nvSpPr>
          <p:cNvPr id="5" name="Text 2"/>
          <p:cNvSpPr txBox="1"/>
          <p:nvPr/>
        </p:nvSpPr>
        <p:spPr>
          <a:xfrm>
            <a:off x="548640" y="1508760"/>
            <a:ext cx="3657600" cy="274320"/>
          </a:xfrm>
          <a:prstGeom prst="rect">
            <a:avLst/>
          </a:prstGeom>
          <a:noFill/>
          <a:ln/>
        </p:spPr>
        <p:txBody>
          <a:bodyPr wrap="square" lIns="0" tIns="0" rIns="0" bIns="0" rtlCol="0" anchor="t"/>
          <a:lstStyle/>
          <a:p>
            <a:pPr marL="0" indent="0">
              <a:buNone/>
            </a:pPr>
            <a:r>
              <a:rPr lang="en-US" sz="1200" b="1" kern="0" spc="200" dirty="0">
                <a:solidFill>
                  <a:srgbClr val="9DB7C1"/>
                </a:solidFill>
                <a:latin typeface="Calibri" pitchFamily="34" charset="0"/>
                <a:ea typeface="Calibri" pitchFamily="34" charset="-122"/>
                <a:cs typeface="Calibri" pitchFamily="34" charset="-120"/>
              </a:rPr>
              <a:t>SIX CRITERIA POLLUTANTS</a:t>
            </a:r>
            <a:endParaRPr lang="en-US" sz="1200" dirty="0"/>
          </a:p>
        </p:txBody>
      </p:sp>
      <p:sp>
        <p:nvSpPr>
          <p:cNvPr id="6" name="Shape 3"/>
          <p:cNvSpPr/>
          <p:nvPr/>
        </p:nvSpPr>
        <p:spPr>
          <a:xfrm>
            <a:off x="548640" y="1874520"/>
            <a:ext cx="1691640" cy="1280160"/>
          </a:xfrm>
          <a:prstGeom prst="roundRect">
            <a:avLst>
              <a:gd name="adj" fmla="val 8571"/>
            </a:avLst>
          </a:prstGeom>
          <a:solidFill>
            <a:srgbClr val="12303D"/>
          </a:solidFill>
          <a:ln w="9525">
            <a:solidFill>
              <a:srgbClr val="23515F"/>
            </a:solidFill>
            <a:prstDash val="solid"/>
          </a:ln>
        </p:spPr>
      </p:sp>
      <p:sp>
        <p:nvSpPr>
          <p:cNvPr id="7" name="Text 4"/>
          <p:cNvSpPr txBox="1"/>
          <p:nvPr/>
        </p:nvSpPr>
        <p:spPr>
          <a:xfrm>
            <a:off x="685800" y="2057400"/>
            <a:ext cx="1463040" cy="502920"/>
          </a:xfrm>
          <a:prstGeom prst="rect">
            <a:avLst/>
          </a:prstGeom>
          <a:noFill/>
          <a:ln/>
        </p:spPr>
        <p:txBody>
          <a:bodyPr wrap="square" lIns="0" tIns="0" rIns="0" bIns="0" rtlCol="0" anchor="t"/>
          <a:lstStyle/>
          <a:p>
            <a:pPr marL="0" indent="0">
              <a:buNone/>
            </a:pPr>
            <a:r>
              <a:rPr lang="en-US" sz="2600" b="1" dirty="0">
                <a:solidFill>
                  <a:srgbClr val="2DD4BF"/>
                </a:solidFill>
                <a:latin typeface="Cambria" pitchFamily="34" charset="0"/>
                <a:ea typeface="Cambria" pitchFamily="34" charset="-122"/>
                <a:cs typeface="Cambria" pitchFamily="34" charset="-120"/>
              </a:rPr>
              <a:t>PM2.5</a:t>
            </a:r>
            <a:endParaRPr lang="en-US" sz="2600" dirty="0"/>
          </a:p>
        </p:txBody>
      </p:sp>
      <p:sp>
        <p:nvSpPr>
          <p:cNvPr id="8" name="Text 5"/>
          <p:cNvSpPr txBox="1"/>
          <p:nvPr/>
        </p:nvSpPr>
        <p:spPr>
          <a:xfrm>
            <a:off x="685800" y="2651760"/>
            <a:ext cx="1463040" cy="36576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Fine particles</a:t>
            </a:r>
            <a:endParaRPr lang="en-US" sz="1200" dirty="0"/>
          </a:p>
        </p:txBody>
      </p:sp>
      <p:sp>
        <p:nvSpPr>
          <p:cNvPr id="9" name="Shape 6"/>
          <p:cNvSpPr/>
          <p:nvPr/>
        </p:nvSpPr>
        <p:spPr>
          <a:xfrm>
            <a:off x="2359152" y="1874520"/>
            <a:ext cx="1691640" cy="1280160"/>
          </a:xfrm>
          <a:prstGeom prst="roundRect">
            <a:avLst>
              <a:gd name="adj" fmla="val 8571"/>
            </a:avLst>
          </a:prstGeom>
          <a:solidFill>
            <a:srgbClr val="12303D"/>
          </a:solidFill>
          <a:ln w="9525">
            <a:solidFill>
              <a:srgbClr val="23515F"/>
            </a:solidFill>
            <a:prstDash val="solid"/>
          </a:ln>
        </p:spPr>
      </p:sp>
      <p:sp>
        <p:nvSpPr>
          <p:cNvPr id="10" name="Text 7"/>
          <p:cNvSpPr txBox="1"/>
          <p:nvPr/>
        </p:nvSpPr>
        <p:spPr>
          <a:xfrm>
            <a:off x="2496312" y="2057400"/>
            <a:ext cx="1463040" cy="502920"/>
          </a:xfrm>
          <a:prstGeom prst="rect">
            <a:avLst/>
          </a:prstGeom>
          <a:noFill/>
          <a:ln/>
        </p:spPr>
        <p:txBody>
          <a:bodyPr wrap="square" lIns="0" tIns="0" rIns="0" bIns="0" rtlCol="0" anchor="t"/>
          <a:lstStyle/>
          <a:p>
            <a:pPr marL="0" indent="0">
              <a:buNone/>
            </a:pPr>
            <a:r>
              <a:rPr lang="en-US" sz="2600" b="1" dirty="0">
                <a:solidFill>
                  <a:srgbClr val="2DD4BF"/>
                </a:solidFill>
                <a:latin typeface="Cambria" pitchFamily="34" charset="0"/>
                <a:ea typeface="Cambria" pitchFamily="34" charset="-122"/>
                <a:cs typeface="Cambria" pitchFamily="34" charset="-120"/>
              </a:rPr>
              <a:t>PM10</a:t>
            </a:r>
            <a:endParaRPr lang="en-US" sz="2600" dirty="0"/>
          </a:p>
        </p:txBody>
      </p:sp>
      <p:sp>
        <p:nvSpPr>
          <p:cNvPr id="11" name="Text 8"/>
          <p:cNvSpPr txBox="1"/>
          <p:nvPr/>
        </p:nvSpPr>
        <p:spPr>
          <a:xfrm>
            <a:off x="2496312" y="2651760"/>
            <a:ext cx="1463040" cy="36576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Coarse particles</a:t>
            </a:r>
            <a:endParaRPr lang="en-US" sz="1200" dirty="0"/>
          </a:p>
        </p:txBody>
      </p:sp>
      <p:sp>
        <p:nvSpPr>
          <p:cNvPr id="12" name="Shape 9"/>
          <p:cNvSpPr/>
          <p:nvPr/>
        </p:nvSpPr>
        <p:spPr>
          <a:xfrm>
            <a:off x="548640" y="3291840"/>
            <a:ext cx="1691640" cy="1280160"/>
          </a:xfrm>
          <a:prstGeom prst="roundRect">
            <a:avLst>
              <a:gd name="adj" fmla="val 8571"/>
            </a:avLst>
          </a:prstGeom>
          <a:solidFill>
            <a:srgbClr val="12303D"/>
          </a:solidFill>
          <a:ln w="9525">
            <a:solidFill>
              <a:srgbClr val="23515F"/>
            </a:solidFill>
            <a:prstDash val="solid"/>
          </a:ln>
        </p:spPr>
      </p:sp>
      <p:sp>
        <p:nvSpPr>
          <p:cNvPr id="13" name="Text 10"/>
          <p:cNvSpPr txBox="1"/>
          <p:nvPr/>
        </p:nvSpPr>
        <p:spPr>
          <a:xfrm>
            <a:off x="685800" y="3474720"/>
            <a:ext cx="1463040" cy="502920"/>
          </a:xfrm>
          <a:prstGeom prst="rect">
            <a:avLst/>
          </a:prstGeom>
          <a:noFill/>
          <a:ln/>
        </p:spPr>
        <p:txBody>
          <a:bodyPr wrap="square" lIns="0" tIns="0" rIns="0" bIns="0" rtlCol="0" anchor="t"/>
          <a:lstStyle/>
          <a:p>
            <a:pPr marL="0" indent="0">
              <a:buNone/>
            </a:pPr>
            <a:r>
              <a:rPr lang="en-US" sz="2600" b="1" dirty="0">
                <a:solidFill>
                  <a:srgbClr val="2DD4BF"/>
                </a:solidFill>
                <a:latin typeface="Cambria" pitchFamily="34" charset="0"/>
                <a:ea typeface="Cambria" pitchFamily="34" charset="-122"/>
                <a:cs typeface="Cambria" pitchFamily="34" charset="-120"/>
              </a:rPr>
              <a:t>NO₂</a:t>
            </a:r>
            <a:endParaRPr lang="en-US" sz="2600" dirty="0"/>
          </a:p>
        </p:txBody>
      </p:sp>
      <p:sp>
        <p:nvSpPr>
          <p:cNvPr id="14" name="Text 11"/>
          <p:cNvSpPr txBox="1"/>
          <p:nvPr/>
        </p:nvSpPr>
        <p:spPr>
          <a:xfrm>
            <a:off x="685800" y="4069080"/>
            <a:ext cx="1463040" cy="36576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Nitrogen dioxide</a:t>
            </a:r>
            <a:endParaRPr lang="en-US" sz="1200" dirty="0"/>
          </a:p>
        </p:txBody>
      </p:sp>
      <p:sp>
        <p:nvSpPr>
          <p:cNvPr id="15" name="Shape 12"/>
          <p:cNvSpPr/>
          <p:nvPr/>
        </p:nvSpPr>
        <p:spPr>
          <a:xfrm>
            <a:off x="2359152" y="3291840"/>
            <a:ext cx="1691640" cy="1280160"/>
          </a:xfrm>
          <a:prstGeom prst="roundRect">
            <a:avLst>
              <a:gd name="adj" fmla="val 8571"/>
            </a:avLst>
          </a:prstGeom>
          <a:solidFill>
            <a:srgbClr val="12303D"/>
          </a:solidFill>
          <a:ln w="9525">
            <a:solidFill>
              <a:srgbClr val="23515F"/>
            </a:solidFill>
            <a:prstDash val="solid"/>
          </a:ln>
        </p:spPr>
      </p:sp>
      <p:sp>
        <p:nvSpPr>
          <p:cNvPr id="16" name="Text 13"/>
          <p:cNvSpPr txBox="1"/>
          <p:nvPr/>
        </p:nvSpPr>
        <p:spPr>
          <a:xfrm>
            <a:off x="2496312" y="3474720"/>
            <a:ext cx="1463040" cy="502920"/>
          </a:xfrm>
          <a:prstGeom prst="rect">
            <a:avLst/>
          </a:prstGeom>
          <a:noFill/>
          <a:ln/>
        </p:spPr>
        <p:txBody>
          <a:bodyPr wrap="square" lIns="0" tIns="0" rIns="0" bIns="0" rtlCol="0" anchor="t"/>
          <a:lstStyle/>
          <a:p>
            <a:pPr marL="0" indent="0">
              <a:buNone/>
            </a:pPr>
            <a:r>
              <a:rPr lang="en-US" sz="2600" b="1" dirty="0">
                <a:solidFill>
                  <a:srgbClr val="2DD4BF"/>
                </a:solidFill>
                <a:latin typeface="Cambria" pitchFamily="34" charset="0"/>
                <a:ea typeface="Cambria" pitchFamily="34" charset="-122"/>
                <a:cs typeface="Cambria" pitchFamily="34" charset="-120"/>
              </a:rPr>
              <a:t>SO₂</a:t>
            </a:r>
            <a:endParaRPr lang="en-US" sz="2600" dirty="0"/>
          </a:p>
        </p:txBody>
      </p:sp>
      <p:sp>
        <p:nvSpPr>
          <p:cNvPr id="17" name="Text 14"/>
          <p:cNvSpPr txBox="1"/>
          <p:nvPr/>
        </p:nvSpPr>
        <p:spPr>
          <a:xfrm>
            <a:off x="2496312" y="4069080"/>
            <a:ext cx="1463040" cy="36576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Sulfur dioxide</a:t>
            </a:r>
            <a:endParaRPr lang="en-US" sz="1200" dirty="0"/>
          </a:p>
        </p:txBody>
      </p:sp>
      <p:sp>
        <p:nvSpPr>
          <p:cNvPr id="18" name="Shape 15"/>
          <p:cNvSpPr/>
          <p:nvPr/>
        </p:nvSpPr>
        <p:spPr>
          <a:xfrm>
            <a:off x="548640" y="4709160"/>
            <a:ext cx="1691640" cy="1280160"/>
          </a:xfrm>
          <a:prstGeom prst="roundRect">
            <a:avLst>
              <a:gd name="adj" fmla="val 8571"/>
            </a:avLst>
          </a:prstGeom>
          <a:solidFill>
            <a:srgbClr val="12303D"/>
          </a:solidFill>
          <a:ln w="9525">
            <a:solidFill>
              <a:srgbClr val="23515F"/>
            </a:solidFill>
            <a:prstDash val="solid"/>
          </a:ln>
        </p:spPr>
      </p:sp>
      <p:sp>
        <p:nvSpPr>
          <p:cNvPr id="19" name="Text 16"/>
          <p:cNvSpPr txBox="1"/>
          <p:nvPr/>
        </p:nvSpPr>
        <p:spPr>
          <a:xfrm>
            <a:off x="685800" y="4892040"/>
            <a:ext cx="1463040" cy="502920"/>
          </a:xfrm>
          <a:prstGeom prst="rect">
            <a:avLst/>
          </a:prstGeom>
          <a:noFill/>
          <a:ln/>
        </p:spPr>
        <p:txBody>
          <a:bodyPr wrap="square" lIns="0" tIns="0" rIns="0" bIns="0" rtlCol="0" anchor="t"/>
          <a:lstStyle/>
          <a:p>
            <a:pPr marL="0" indent="0">
              <a:buNone/>
            </a:pPr>
            <a:r>
              <a:rPr lang="en-US" sz="2600" b="1" dirty="0">
                <a:solidFill>
                  <a:srgbClr val="2DD4BF"/>
                </a:solidFill>
                <a:latin typeface="Cambria" pitchFamily="34" charset="0"/>
                <a:ea typeface="Cambria" pitchFamily="34" charset="-122"/>
                <a:cs typeface="Cambria" pitchFamily="34" charset="-120"/>
              </a:rPr>
              <a:t>CO</a:t>
            </a:r>
            <a:endParaRPr lang="en-US" sz="2600" dirty="0"/>
          </a:p>
        </p:txBody>
      </p:sp>
      <p:sp>
        <p:nvSpPr>
          <p:cNvPr id="20" name="Text 17"/>
          <p:cNvSpPr txBox="1"/>
          <p:nvPr/>
        </p:nvSpPr>
        <p:spPr>
          <a:xfrm>
            <a:off x="685800" y="5486400"/>
            <a:ext cx="1463040" cy="36576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Carbon monoxide</a:t>
            </a:r>
            <a:endParaRPr lang="en-US" sz="1200" dirty="0"/>
          </a:p>
        </p:txBody>
      </p:sp>
      <p:sp>
        <p:nvSpPr>
          <p:cNvPr id="21" name="Shape 18"/>
          <p:cNvSpPr/>
          <p:nvPr/>
        </p:nvSpPr>
        <p:spPr>
          <a:xfrm>
            <a:off x="2359152" y="4709160"/>
            <a:ext cx="1691640" cy="1280160"/>
          </a:xfrm>
          <a:prstGeom prst="roundRect">
            <a:avLst>
              <a:gd name="adj" fmla="val 8571"/>
            </a:avLst>
          </a:prstGeom>
          <a:solidFill>
            <a:srgbClr val="12303D"/>
          </a:solidFill>
          <a:ln w="9525">
            <a:solidFill>
              <a:srgbClr val="23515F"/>
            </a:solidFill>
            <a:prstDash val="solid"/>
          </a:ln>
        </p:spPr>
      </p:sp>
      <p:sp>
        <p:nvSpPr>
          <p:cNvPr id="22" name="Text 19"/>
          <p:cNvSpPr txBox="1"/>
          <p:nvPr/>
        </p:nvSpPr>
        <p:spPr>
          <a:xfrm>
            <a:off x="2496312" y="4892040"/>
            <a:ext cx="1463040" cy="502920"/>
          </a:xfrm>
          <a:prstGeom prst="rect">
            <a:avLst/>
          </a:prstGeom>
          <a:noFill/>
          <a:ln/>
        </p:spPr>
        <p:txBody>
          <a:bodyPr wrap="square" lIns="0" tIns="0" rIns="0" bIns="0" rtlCol="0" anchor="t"/>
          <a:lstStyle/>
          <a:p>
            <a:pPr marL="0" indent="0">
              <a:buNone/>
            </a:pPr>
            <a:r>
              <a:rPr lang="en-US" sz="2600" b="1" dirty="0">
                <a:solidFill>
                  <a:srgbClr val="2DD4BF"/>
                </a:solidFill>
                <a:latin typeface="Cambria" pitchFamily="34" charset="0"/>
                <a:ea typeface="Cambria" pitchFamily="34" charset="-122"/>
                <a:cs typeface="Cambria" pitchFamily="34" charset="-120"/>
              </a:rPr>
              <a:t>O₃</a:t>
            </a:r>
            <a:endParaRPr lang="en-US" sz="2600" dirty="0"/>
          </a:p>
        </p:txBody>
      </p:sp>
      <p:sp>
        <p:nvSpPr>
          <p:cNvPr id="23" name="Text 20"/>
          <p:cNvSpPr txBox="1"/>
          <p:nvPr/>
        </p:nvSpPr>
        <p:spPr>
          <a:xfrm>
            <a:off x="2496312" y="5486400"/>
            <a:ext cx="1463040" cy="365760"/>
          </a:xfrm>
          <a:prstGeom prst="rect">
            <a:avLst/>
          </a:prstGeom>
          <a:noFill/>
          <a:ln/>
        </p:spPr>
        <p:txBody>
          <a:bodyPr wrap="square" lIns="0" tIns="0" rIns="0" bIns="0" rtlCol="0" anchor="t"/>
          <a:lstStyle/>
          <a:p>
            <a:pPr marL="0" indent="0">
              <a:buNone/>
            </a:pPr>
            <a:r>
              <a:rPr lang="en-US" sz="1200" dirty="0">
                <a:solidFill>
                  <a:srgbClr val="9DB7C1"/>
                </a:solidFill>
                <a:latin typeface="Calibri" pitchFamily="34" charset="0"/>
                <a:ea typeface="Calibri" pitchFamily="34" charset="-122"/>
                <a:cs typeface="Calibri" pitchFamily="34" charset="-120"/>
              </a:rPr>
              <a:t>Ozone</a:t>
            </a:r>
            <a:endParaRPr lang="en-US" sz="1200" dirty="0"/>
          </a:p>
        </p:txBody>
      </p:sp>
      <p:sp>
        <p:nvSpPr>
          <p:cNvPr id="24" name="Text 21"/>
          <p:cNvSpPr txBox="1"/>
          <p:nvPr/>
        </p:nvSpPr>
        <p:spPr>
          <a:xfrm>
            <a:off x="4389120" y="1508760"/>
            <a:ext cx="4023360" cy="274320"/>
          </a:xfrm>
          <a:prstGeom prst="rect">
            <a:avLst/>
          </a:prstGeom>
          <a:noFill/>
          <a:ln/>
        </p:spPr>
        <p:txBody>
          <a:bodyPr wrap="square" lIns="0" tIns="0" rIns="0" bIns="0" rtlCol="0" anchor="t"/>
          <a:lstStyle/>
          <a:p>
            <a:pPr marL="0" indent="0">
              <a:buNone/>
            </a:pPr>
            <a:r>
              <a:rPr lang="en-US" sz="1200" b="1" kern="0" spc="200" dirty="0">
                <a:solidFill>
                  <a:srgbClr val="9DB7C1"/>
                </a:solidFill>
                <a:latin typeface="Calibri" pitchFamily="34" charset="0"/>
                <a:ea typeface="Calibri" pitchFamily="34" charset="-122"/>
                <a:cs typeface="Calibri" pitchFamily="34" charset="-120"/>
              </a:rPr>
              <a:t>US EPA AQI CATEGORIES</a:t>
            </a:r>
            <a:endParaRPr lang="en-US" sz="1200" dirty="0"/>
          </a:p>
        </p:txBody>
      </p:sp>
      <p:sp>
        <p:nvSpPr>
          <p:cNvPr id="25" name="Shape 22"/>
          <p:cNvSpPr/>
          <p:nvPr/>
        </p:nvSpPr>
        <p:spPr>
          <a:xfrm>
            <a:off x="4389120" y="1874520"/>
            <a:ext cx="4023360" cy="576072"/>
          </a:xfrm>
          <a:prstGeom prst="roundRect">
            <a:avLst>
              <a:gd name="adj" fmla="val 19048"/>
            </a:avLst>
          </a:prstGeom>
          <a:solidFill>
            <a:srgbClr val="12303D"/>
          </a:solidFill>
          <a:ln w="9525">
            <a:solidFill>
              <a:srgbClr val="23515F"/>
            </a:solidFill>
            <a:prstDash val="solid"/>
          </a:ln>
        </p:spPr>
      </p:sp>
      <p:sp>
        <p:nvSpPr>
          <p:cNvPr id="26" name="Shape 23"/>
          <p:cNvSpPr/>
          <p:nvPr/>
        </p:nvSpPr>
        <p:spPr>
          <a:xfrm>
            <a:off x="4498848" y="1965960"/>
            <a:ext cx="1005840" cy="393192"/>
          </a:xfrm>
          <a:prstGeom prst="roundRect">
            <a:avLst>
              <a:gd name="adj" fmla="val 50000"/>
            </a:avLst>
          </a:prstGeom>
          <a:solidFill>
            <a:srgbClr val="4ADE80"/>
          </a:solidFill>
          <a:ln w="12700">
            <a:solidFill>
              <a:srgbClr val="4ADE80"/>
            </a:solidFill>
            <a:prstDash val="solid"/>
          </a:ln>
        </p:spPr>
      </p:sp>
      <p:sp>
        <p:nvSpPr>
          <p:cNvPr id="27" name="Text 24"/>
          <p:cNvSpPr txBox="1"/>
          <p:nvPr/>
        </p:nvSpPr>
        <p:spPr>
          <a:xfrm>
            <a:off x="4498848" y="1965960"/>
            <a:ext cx="1005840" cy="393192"/>
          </a:xfrm>
          <a:prstGeom prst="rect">
            <a:avLst/>
          </a:prstGeom>
          <a:noFill/>
          <a:ln/>
        </p:spPr>
        <p:txBody>
          <a:bodyPr wrap="square" lIns="0" tIns="0" rIns="0" bIns="0" rtlCol="0" anchor="ctr"/>
          <a:lstStyle/>
          <a:p>
            <a:pPr marL="0" indent="0" algn="ctr">
              <a:buNone/>
            </a:pPr>
            <a:r>
              <a:rPr lang="en-US" sz="1300" b="1" dirty="0">
                <a:solidFill>
                  <a:srgbClr val="0A1B26"/>
                </a:solidFill>
                <a:latin typeface="Calibri" pitchFamily="34" charset="0"/>
                <a:ea typeface="Calibri" pitchFamily="34" charset="-122"/>
                <a:cs typeface="Calibri" pitchFamily="34" charset="-120"/>
              </a:rPr>
              <a:t>0–50</a:t>
            </a:r>
            <a:endParaRPr lang="en-US" sz="1300" dirty="0"/>
          </a:p>
        </p:txBody>
      </p:sp>
      <p:sp>
        <p:nvSpPr>
          <p:cNvPr id="28" name="Text 25"/>
          <p:cNvSpPr txBox="1"/>
          <p:nvPr/>
        </p:nvSpPr>
        <p:spPr>
          <a:xfrm>
            <a:off x="5623560" y="1874520"/>
            <a:ext cx="2697480" cy="5760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Good</a:t>
            </a:r>
            <a:endParaRPr lang="en-US" sz="1400" dirty="0"/>
          </a:p>
        </p:txBody>
      </p:sp>
      <p:sp>
        <p:nvSpPr>
          <p:cNvPr id="29" name="Shape 26"/>
          <p:cNvSpPr/>
          <p:nvPr/>
        </p:nvSpPr>
        <p:spPr>
          <a:xfrm>
            <a:off x="4389120" y="2560320"/>
            <a:ext cx="4023360" cy="576072"/>
          </a:xfrm>
          <a:prstGeom prst="roundRect">
            <a:avLst>
              <a:gd name="adj" fmla="val 19048"/>
            </a:avLst>
          </a:prstGeom>
          <a:solidFill>
            <a:srgbClr val="12303D"/>
          </a:solidFill>
          <a:ln w="9525">
            <a:solidFill>
              <a:srgbClr val="23515F"/>
            </a:solidFill>
            <a:prstDash val="solid"/>
          </a:ln>
        </p:spPr>
      </p:sp>
      <p:sp>
        <p:nvSpPr>
          <p:cNvPr id="30" name="Shape 27"/>
          <p:cNvSpPr/>
          <p:nvPr/>
        </p:nvSpPr>
        <p:spPr>
          <a:xfrm>
            <a:off x="4498848" y="2651760"/>
            <a:ext cx="1005840" cy="393192"/>
          </a:xfrm>
          <a:prstGeom prst="roundRect">
            <a:avLst>
              <a:gd name="adj" fmla="val 50000"/>
            </a:avLst>
          </a:prstGeom>
          <a:solidFill>
            <a:srgbClr val="FACC15"/>
          </a:solidFill>
          <a:ln w="12700">
            <a:solidFill>
              <a:srgbClr val="FACC15"/>
            </a:solidFill>
            <a:prstDash val="solid"/>
          </a:ln>
        </p:spPr>
      </p:sp>
      <p:sp>
        <p:nvSpPr>
          <p:cNvPr id="31" name="Text 28"/>
          <p:cNvSpPr txBox="1"/>
          <p:nvPr/>
        </p:nvSpPr>
        <p:spPr>
          <a:xfrm>
            <a:off x="4498848" y="2651760"/>
            <a:ext cx="1005840" cy="393192"/>
          </a:xfrm>
          <a:prstGeom prst="rect">
            <a:avLst/>
          </a:prstGeom>
          <a:noFill/>
          <a:ln/>
        </p:spPr>
        <p:txBody>
          <a:bodyPr wrap="square" lIns="0" tIns="0" rIns="0" bIns="0" rtlCol="0" anchor="ctr"/>
          <a:lstStyle/>
          <a:p>
            <a:pPr marL="0" indent="0" algn="ctr">
              <a:buNone/>
            </a:pPr>
            <a:r>
              <a:rPr lang="en-US" sz="1300" b="1" dirty="0">
                <a:solidFill>
                  <a:srgbClr val="0A1B26"/>
                </a:solidFill>
                <a:latin typeface="Calibri" pitchFamily="34" charset="0"/>
                <a:ea typeface="Calibri" pitchFamily="34" charset="-122"/>
                <a:cs typeface="Calibri" pitchFamily="34" charset="-120"/>
              </a:rPr>
              <a:t>51–100</a:t>
            </a:r>
            <a:endParaRPr lang="en-US" sz="1300" dirty="0"/>
          </a:p>
        </p:txBody>
      </p:sp>
      <p:sp>
        <p:nvSpPr>
          <p:cNvPr id="32" name="Text 29"/>
          <p:cNvSpPr txBox="1"/>
          <p:nvPr/>
        </p:nvSpPr>
        <p:spPr>
          <a:xfrm>
            <a:off x="5623560" y="2560320"/>
            <a:ext cx="2697480" cy="5760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Moderate</a:t>
            </a:r>
            <a:endParaRPr lang="en-US" sz="1400" dirty="0"/>
          </a:p>
        </p:txBody>
      </p:sp>
      <p:sp>
        <p:nvSpPr>
          <p:cNvPr id="33" name="Shape 30"/>
          <p:cNvSpPr/>
          <p:nvPr/>
        </p:nvSpPr>
        <p:spPr>
          <a:xfrm>
            <a:off x="4389120" y="3246120"/>
            <a:ext cx="4023360" cy="576072"/>
          </a:xfrm>
          <a:prstGeom prst="roundRect">
            <a:avLst>
              <a:gd name="adj" fmla="val 19048"/>
            </a:avLst>
          </a:prstGeom>
          <a:solidFill>
            <a:srgbClr val="12303D"/>
          </a:solidFill>
          <a:ln w="9525">
            <a:solidFill>
              <a:srgbClr val="23515F"/>
            </a:solidFill>
            <a:prstDash val="solid"/>
          </a:ln>
        </p:spPr>
      </p:sp>
      <p:sp>
        <p:nvSpPr>
          <p:cNvPr id="34" name="Shape 31"/>
          <p:cNvSpPr/>
          <p:nvPr/>
        </p:nvSpPr>
        <p:spPr>
          <a:xfrm>
            <a:off x="4498848" y="3337560"/>
            <a:ext cx="1005840" cy="393192"/>
          </a:xfrm>
          <a:prstGeom prst="roundRect">
            <a:avLst>
              <a:gd name="adj" fmla="val 50000"/>
            </a:avLst>
          </a:prstGeom>
          <a:solidFill>
            <a:srgbClr val="FB923C"/>
          </a:solidFill>
          <a:ln w="12700">
            <a:solidFill>
              <a:srgbClr val="FB923C"/>
            </a:solidFill>
            <a:prstDash val="solid"/>
          </a:ln>
        </p:spPr>
      </p:sp>
      <p:sp>
        <p:nvSpPr>
          <p:cNvPr id="35" name="Text 32"/>
          <p:cNvSpPr txBox="1"/>
          <p:nvPr/>
        </p:nvSpPr>
        <p:spPr>
          <a:xfrm>
            <a:off x="4498848" y="3337560"/>
            <a:ext cx="1005840" cy="393192"/>
          </a:xfrm>
          <a:prstGeom prst="rect">
            <a:avLst/>
          </a:prstGeom>
          <a:noFill/>
          <a:ln/>
        </p:spPr>
        <p:txBody>
          <a:bodyPr wrap="square" lIns="0" tIns="0" rIns="0" bIns="0" rtlCol="0" anchor="ctr"/>
          <a:lstStyle/>
          <a:p>
            <a:pPr marL="0" indent="0" algn="ctr">
              <a:buNone/>
            </a:pPr>
            <a:r>
              <a:rPr lang="en-US" sz="1300" b="1" dirty="0">
                <a:solidFill>
                  <a:srgbClr val="0A1B26"/>
                </a:solidFill>
                <a:latin typeface="Calibri" pitchFamily="34" charset="0"/>
                <a:ea typeface="Calibri" pitchFamily="34" charset="-122"/>
                <a:cs typeface="Calibri" pitchFamily="34" charset="-120"/>
              </a:rPr>
              <a:t>101–150</a:t>
            </a:r>
            <a:endParaRPr lang="en-US" sz="1300" dirty="0"/>
          </a:p>
        </p:txBody>
      </p:sp>
      <p:sp>
        <p:nvSpPr>
          <p:cNvPr id="36" name="Text 33"/>
          <p:cNvSpPr txBox="1"/>
          <p:nvPr/>
        </p:nvSpPr>
        <p:spPr>
          <a:xfrm>
            <a:off x="5623560" y="3246120"/>
            <a:ext cx="2697480" cy="5760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Unhealthy for Sensitive Groups</a:t>
            </a:r>
            <a:endParaRPr lang="en-US" sz="1400" dirty="0"/>
          </a:p>
        </p:txBody>
      </p:sp>
      <p:sp>
        <p:nvSpPr>
          <p:cNvPr id="37" name="Shape 34"/>
          <p:cNvSpPr/>
          <p:nvPr/>
        </p:nvSpPr>
        <p:spPr>
          <a:xfrm>
            <a:off x="4389120" y="3931920"/>
            <a:ext cx="4023360" cy="576072"/>
          </a:xfrm>
          <a:prstGeom prst="roundRect">
            <a:avLst>
              <a:gd name="adj" fmla="val 19048"/>
            </a:avLst>
          </a:prstGeom>
          <a:solidFill>
            <a:srgbClr val="12303D"/>
          </a:solidFill>
          <a:ln w="9525">
            <a:solidFill>
              <a:srgbClr val="23515F"/>
            </a:solidFill>
            <a:prstDash val="solid"/>
          </a:ln>
        </p:spPr>
      </p:sp>
      <p:sp>
        <p:nvSpPr>
          <p:cNvPr id="38" name="Shape 35"/>
          <p:cNvSpPr/>
          <p:nvPr/>
        </p:nvSpPr>
        <p:spPr>
          <a:xfrm>
            <a:off x="4498848" y="4023360"/>
            <a:ext cx="1005840" cy="393192"/>
          </a:xfrm>
          <a:prstGeom prst="roundRect">
            <a:avLst>
              <a:gd name="adj" fmla="val 50000"/>
            </a:avLst>
          </a:prstGeom>
          <a:solidFill>
            <a:srgbClr val="EF4444"/>
          </a:solidFill>
          <a:ln w="12700">
            <a:solidFill>
              <a:srgbClr val="EF4444"/>
            </a:solidFill>
            <a:prstDash val="solid"/>
          </a:ln>
        </p:spPr>
      </p:sp>
      <p:sp>
        <p:nvSpPr>
          <p:cNvPr id="39" name="Text 36"/>
          <p:cNvSpPr txBox="1"/>
          <p:nvPr/>
        </p:nvSpPr>
        <p:spPr>
          <a:xfrm>
            <a:off x="4498848" y="4023360"/>
            <a:ext cx="1005840"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151–200</a:t>
            </a:r>
            <a:endParaRPr lang="en-US" sz="1300" dirty="0"/>
          </a:p>
        </p:txBody>
      </p:sp>
      <p:sp>
        <p:nvSpPr>
          <p:cNvPr id="40" name="Text 37"/>
          <p:cNvSpPr txBox="1"/>
          <p:nvPr/>
        </p:nvSpPr>
        <p:spPr>
          <a:xfrm>
            <a:off x="5623560" y="3931920"/>
            <a:ext cx="2697480" cy="5760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Unhealthy</a:t>
            </a:r>
            <a:endParaRPr lang="en-US" sz="1400" dirty="0"/>
          </a:p>
        </p:txBody>
      </p:sp>
      <p:sp>
        <p:nvSpPr>
          <p:cNvPr id="41" name="Shape 38"/>
          <p:cNvSpPr/>
          <p:nvPr/>
        </p:nvSpPr>
        <p:spPr>
          <a:xfrm>
            <a:off x="4389120" y="4617720"/>
            <a:ext cx="4023360" cy="576072"/>
          </a:xfrm>
          <a:prstGeom prst="roundRect">
            <a:avLst>
              <a:gd name="adj" fmla="val 19048"/>
            </a:avLst>
          </a:prstGeom>
          <a:solidFill>
            <a:srgbClr val="12303D"/>
          </a:solidFill>
          <a:ln w="9525">
            <a:solidFill>
              <a:srgbClr val="23515F"/>
            </a:solidFill>
            <a:prstDash val="solid"/>
          </a:ln>
        </p:spPr>
      </p:sp>
      <p:sp>
        <p:nvSpPr>
          <p:cNvPr id="42" name="Shape 39"/>
          <p:cNvSpPr/>
          <p:nvPr/>
        </p:nvSpPr>
        <p:spPr>
          <a:xfrm>
            <a:off x="4498848" y="4709160"/>
            <a:ext cx="1005840" cy="393192"/>
          </a:xfrm>
          <a:prstGeom prst="roundRect">
            <a:avLst>
              <a:gd name="adj" fmla="val 50000"/>
            </a:avLst>
          </a:prstGeom>
          <a:solidFill>
            <a:srgbClr val="A855F7"/>
          </a:solidFill>
          <a:ln w="12700">
            <a:solidFill>
              <a:srgbClr val="A855F7"/>
            </a:solidFill>
            <a:prstDash val="solid"/>
          </a:ln>
        </p:spPr>
      </p:sp>
      <p:sp>
        <p:nvSpPr>
          <p:cNvPr id="43" name="Text 40"/>
          <p:cNvSpPr txBox="1"/>
          <p:nvPr/>
        </p:nvSpPr>
        <p:spPr>
          <a:xfrm>
            <a:off x="4498848" y="4709160"/>
            <a:ext cx="1005840"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201–300</a:t>
            </a:r>
            <a:endParaRPr lang="en-US" sz="1300" dirty="0"/>
          </a:p>
        </p:txBody>
      </p:sp>
      <p:sp>
        <p:nvSpPr>
          <p:cNvPr id="44" name="Text 41"/>
          <p:cNvSpPr txBox="1"/>
          <p:nvPr/>
        </p:nvSpPr>
        <p:spPr>
          <a:xfrm>
            <a:off x="5623560" y="4617720"/>
            <a:ext cx="2697480" cy="5760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Very Unhealthy</a:t>
            </a:r>
            <a:endParaRPr lang="en-US" sz="1400" dirty="0"/>
          </a:p>
        </p:txBody>
      </p:sp>
      <p:sp>
        <p:nvSpPr>
          <p:cNvPr id="45" name="Shape 42"/>
          <p:cNvSpPr/>
          <p:nvPr/>
        </p:nvSpPr>
        <p:spPr>
          <a:xfrm>
            <a:off x="4389120" y="5303520"/>
            <a:ext cx="4023360" cy="576072"/>
          </a:xfrm>
          <a:prstGeom prst="roundRect">
            <a:avLst>
              <a:gd name="adj" fmla="val 19048"/>
            </a:avLst>
          </a:prstGeom>
          <a:solidFill>
            <a:srgbClr val="12303D"/>
          </a:solidFill>
          <a:ln w="9525">
            <a:solidFill>
              <a:srgbClr val="23515F"/>
            </a:solidFill>
            <a:prstDash val="solid"/>
          </a:ln>
        </p:spPr>
      </p:sp>
      <p:sp>
        <p:nvSpPr>
          <p:cNvPr id="46" name="Shape 43"/>
          <p:cNvSpPr/>
          <p:nvPr/>
        </p:nvSpPr>
        <p:spPr>
          <a:xfrm>
            <a:off x="4498848" y="5394960"/>
            <a:ext cx="1005840" cy="393192"/>
          </a:xfrm>
          <a:prstGeom prst="roundRect">
            <a:avLst>
              <a:gd name="adj" fmla="val 50000"/>
            </a:avLst>
          </a:prstGeom>
          <a:solidFill>
            <a:srgbClr val="BE123C"/>
          </a:solidFill>
          <a:ln w="12700">
            <a:solidFill>
              <a:srgbClr val="BE123C"/>
            </a:solidFill>
            <a:prstDash val="solid"/>
          </a:ln>
        </p:spPr>
      </p:sp>
      <p:sp>
        <p:nvSpPr>
          <p:cNvPr id="47" name="Text 44"/>
          <p:cNvSpPr txBox="1"/>
          <p:nvPr/>
        </p:nvSpPr>
        <p:spPr>
          <a:xfrm>
            <a:off x="4498848" y="5394960"/>
            <a:ext cx="1005840" cy="39319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301–500+</a:t>
            </a:r>
            <a:endParaRPr lang="en-US" sz="1300" dirty="0"/>
          </a:p>
        </p:txBody>
      </p:sp>
      <p:sp>
        <p:nvSpPr>
          <p:cNvPr id="48" name="Text 45"/>
          <p:cNvSpPr txBox="1"/>
          <p:nvPr/>
        </p:nvSpPr>
        <p:spPr>
          <a:xfrm>
            <a:off x="5623560" y="5303520"/>
            <a:ext cx="2697480" cy="5760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Hazardous</a:t>
            </a:r>
            <a:endParaRPr lang="en-US" sz="1400" dirty="0"/>
          </a:p>
        </p:txBody>
      </p:sp>
      <p:sp>
        <p:nvSpPr>
          <p:cNvPr id="49" name="Text 46"/>
          <p:cNvSpPr txBox="1"/>
          <p:nvPr/>
        </p:nvSpPr>
        <p:spPr>
          <a:xfrm>
            <a:off x="8686800" y="1508760"/>
            <a:ext cx="3017520" cy="274320"/>
          </a:xfrm>
          <a:prstGeom prst="rect">
            <a:avLst/>
          </a:prstGeom>
          <a:noFill/>
          <a:ln/>
        </p:spPr>
        <p:txBody>
          <a:bodyPr wrap="square" lIns="0" tIns="0" rIns="0" bIns="0" rtlCol="0" anchor="t"/>
          <a:lstStyle/>
          <a:p>
            <a:pPr marL="0" indent="0">
              <a:buNone/>
            </a:pPr>
            <a:r>
              <a:rPr lang="en-US" sz="1200" b="1" kern="0" spc="200" dirty="0">
                <a:solidFill>
                  <a:srgbClr val="9DB7C1"/>
                </a:solidFill>
                <a:latin typeface="Calibri" pitchFamily="34" charset="0"/>
                <a:ea typeface="Calibri" pitchFamily="34" charset="-122"/>
                <a:cs typeface="Calibri" pitchFamily="34" charset="-120"/>
              </a:rPr>
              <a:t>MISSING-DATA HANDLING</a:t>
            </a:r>
            <a:endParaRPr lang="en-US" sz="1200" dirty="0"/>
          </a:p>
        </p:txBody>
      </p:sp>
      <p:sp>
        <p:nvSpPr>
          <p:cNvPr id="50" name="Shape 47"/>
          <p:cNvSpPr/>
          <p:nvPr/>
        </p:nvSpPr>
        <p:spPr>
          <a:xfrm>
            <a:off x="8686800" y="1874520"/>
            <a:ext cx="2953512" cy="4069080"/>
          </a:xfrm>
          <a:prstGeom prst="roundRect">
            <a:avLst>
              <a:gd name="adj" fmla="val 3715"/>
            </a:avLst>
          </a:prstGeom>
          <a:solidFill>
            <a:srgbClr val="16283A"/>
          </a:solidFill>
          <a:ln w="9525">
            <a:solidFill>
              <a:srgbClr val="FB923C"/>
            </a:solidFill>
            <a:prstDash val="solid"/>
          </a:ln>
        </p:spPr>
      </p:sp>
      <p:sp>
        <p:nvSpPr>
          <p:cNvPr id="51" name="Shape 48"/>
          <p:cNvSpPr/>
          <p:nvPr/>
        </p:nvSpPr>
        <p:spPr>
          <a:xfrm>
            <a:off x="8869680" y="2103120"/>
            <a:ext cx="2587752" cy="502920"/>
          </a:xfrm>
          <a:prstGeom prst="roundRect">
            <a:avLst>
              <a:gd name="adj" fmla="val 50000"/>
            </a:avLst>
          </a:prstGeom>
          <a:solidFill>
            <a:srgbClr val="12303D"/>
          </a:solidFill>
          <a:ln w="12700">
            <a:solidFill>
              <a:srgbClr val="12303D"/>
            </a:solidFill>
            <a:prstDash val="solid"/>
          </a:ln>
        </p:spPr>
      </p:sp>
      <p:sp>
        <p:nvSpPr>
          <p:cNvPr id="52" name="Text 49"/>
          <p:cNvSpPr txBox="1"/>
          <p:nvPr/>
        </p:nvSpPr>
        <p:spPr>
          <a:xfrm>
            <a:off x="8869680" y="2103120"/>
            <a:ext cx="2587752"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Insufficient pollutant data</a:t>
            </a:r>
            <a:endParaRPr lang="en-US" sz="1300" dirty="0"/>
          </a:p>
        </p:txBody>
      </p:sp>
      <p:sp>
        <p:nvSpPr>
          <p:cNvPr id="53" name="Shape 50"/>
          <p:cNvSpPr/>
          <p:nvPr/>
        </p:nvSpPr>
        <p:spPr>
          <a:xfrm>
            <a:off x="10163556" y="2651760"/>
            <a:ext cx="0" cy="365760"/>
          </a:xfrm>
          <a:prstGeom prst="line">
            <a:avLst/>
          </a:prstGeom>
          <a:noFill/>
          <a:ln w="25400">
            <a:solidFill>
              <a:srgbClr val="FB923C"/>
            </a:solidFill>
            <a:prstDash val="solid"/>
            <a:tailEnd type="triangle"/>
          </a:ln>
        </p:spPr>
      </p:sp>
      <p:sp>
        <p:nvSpPr>
          <p:cNvPr id="54" name="Shape 51"/>
          <p:cNvSpPr/>
          <p:nvPr/>
        </p:nvSpPr>
        <p:spPr>
          <a:xfrm>
            <a:off x="8869680" y="3044952"/>
            <a:ext cx="2587752" cy="502920"/>
          </a:xfrm>
          <a:prstGeom prst="roundRect">
            <a:avLst>
              <a:gd name="adj" fmla="val 50000"/>
            </a:avLst>
          </a:prstGeom>
          <a:solidFill>
            <a:srgbClr val="FB923C"/>
          </a:solidFill>
          <a:ln w="12700">
            <a:solidFill>
              <a:srgbClr val="FB923C"/>
            </a:solidFill>
            <a:prstDash val="solid"/>
          </a:ln>
        </p:spPr>
      </p:sp>
      <p:sp>
        <p:nvSpPr>
          <p:cNvPr id="55" name="Text 52"/>
          <p:cNvSpPr txBox="1"/>
          <p:nvPr/>
        </p:nvSpPr>
        <p:spPr>
          <a:xfrm>
            <a:off x="8869680" y="3044952"/>
            <a:ext cx="2587752" cy="502920"/>
          </a:xfrm>
          <a:prstGeom prst="rect">
            <a:avLst/>
          </a:prstGeom>
          <a:noFill/>
          <a:ln/>
        </p:spPr>
        <p:txBody>
          <a:bodyPr wrap="square" lIns="0" tIns="0" rIns="0" bIns="0" rtlCol="0" anchor="ctr"/>
          <a:lstStyle/>
          <a:p>
            <a:pPr marL="0" indent="0" algn="ctr">
              <a:buNone/>
            </a:pPr>
            <a:r>
              <a:rPr lang="en-US" sz="1500" b="1" dirty="0">
                <a:solidFill>
                  <a:srgbClr val="0A1B26"/>
                </a:solidFill>
                <a:latin typeface="Calibri" pitchFamily="34" charset="0"/>
                <a:ea typeface="Calibri" pitchFamily="34" charset="-122"/>
                <a:cs typeface="Calibri" pitchFamily="34" charset="-120"/>
              </a:rPr>
              <a:t>AQI Unavailable</a:t>
            </a:r>
            <a:endParaRPr lang="en-US" sz="1500" dirty="0"/>
          </a:p>
        </p:txBody>
      </p:sp>
      <p:sp>
        <p:nvSpPr>
          <p:cNvPr id="56" name="Shape 53"/>
          <p:cNvSpPr/>
          <p:nvPr/>
        </p:nvSpPr>
        <p:spPr>
          <a:xfrm>
            <a:off x="10163556" y="3593592"/>
            <a:ext cx="0" cy="365760"/>
          </a:xfrm>
          <a:prstGeom prst="line">
            <a:avLst/>
          </a:prstGeom>
          <a:noFill/>
          <a:ln w="25400">
            <a:solidFill>
              <a:srgbClr val="FB923C"/>
            </a:solidFill>
            <a:prstDash val="solid"/>
            <a:tailEnd type="triangle"/>
          </a:ln>
        </p:spPr>
      </p:sp>
      <p:sp>
        <p:nvSpPr>
          <p:cNvPr id="57" name="Shape 54"/>
          <p:cNvSpPr/>
          <p:nvPr/>
        </p:nvSpPr>
        <p:spPr>
          <a:xfrm>
            <a:off x="8869680" y="3986784"/>
            <a:ext cx="2587752" cy="685800"/>
          </a:xfrm>
          <a:prstGeom prst="roundRect">
            <a:avLst>
              <a:gd name="adj" fmla="val 50000"/>
            </a:avLst>
          </a:prstGeom>
          <a:solidFill>
            <a:srgbClr val="12303D"/>
          </a:solidFill>
          <a:ln w="12700">
            <a:solidFill>
              <a:srgbClr val="12303D"/>
            </a:solidFill>
            <a:prstDash val="solid"/>
          </a:ln>
        </p:spPr>
      </p:sp>
      <p:sp>
        <p:nvSpPr>
          <p:cNvPr id="58" name="Text 55"/>
          <p:cNvSpPr txBox="1"/>
          <p:nvPr/>
        </p:nvSpPr>
        <p:spPr>
          <a:xfrm>
            <a:off x="8869680" y="3986784"/>
            <a:ext cx="2587752"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Available raw measurements remain visible</a:t>
            </a:r>
            <a:endParaRPr lang="en-US" sz="1200" dirty="0"/>
          </a:p>
        </p:txBody>
      </p:sp>
      <p:sp>
        <p:nvSpPr>
          <p:cNvPr id="59" name="Text 56"/>
          <p:cNvSpPr txBox="1"/>
          <p:nvPr/>
        </p:nvSpPr>
        <p:spPr>
          <a:xfrm>
            <a:off x="8869680" y="4892040"/>
            <a:ext cx="2587752" cy="822960"/>
          </a:xfrm>
          <a:prstGeom prst="rect">
            <a:avLst/>
          </a:prstGeom>
          <a:noFill/>
          <a:ln/>
        </p:spPr>
        <p:txBody>
          <a:bodyPr wrap="square" lIns="0" tIns="0" rIns="0" bIns="0" rtlCol="0" anchor="t"/>
          <a:lstStyle/>
          <a:p>
            <a:pPr marL="0" indent="0">
              <a:buNone/>
            </a:pPr>
            <a:r>
              <a:rPr lang="en-US" sz="1300" i="1" dirty="0">
                <a:solidFill>
                  <a:srgbClr val="9DB7C1"/>
                </a:solidFill>
                <a:latin typeface="Calibri" pitchFamily="34" charset="0"/>
                <a:ea typeface="Calibri" pitchFamily="34" charset="-122"/>
                <a:cs typeface="Calibri" pitchFamily="34" charset="-120"/>
              </a:rPr>
              <a:t>Missing data is never replaced with invented values.</a:t>
            </a:r>
            <a:endParaRPr lang="en-US" sz="13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11 · PRODUCT EXPERIENCE</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CleanAir AI in Action</a:t>
            </a:r>
            <a:endParaRPr lang="en-US" sz="3200" dirty="0"/>
          </a:p>
        </p:txBody>
      </p:sp>
      <p:sp>
        <p:nvSpPr>
          <p:cNvPr id="5" name="Shape 2"/>
          <p:cNvSpPr/>
          <p:nvPr/>
        </p:nvSpPr>
        <p:spPr>
          <a:xfrm>
            <a:off x="548640" y="1600200"/>
            <a:ext cx="1371600" cy="1325880"/>
          </a:xfrm>
          <a:prstGeom prst="roundRect">
            <a:avLst>
              <a:gd name="adj" fmla="val 8276"/>
            </a:avLst>
          </a:prstGeom>
          <a:solidFill>
            <a:srgbClr val="12303D"/>
          </a:solidFill>
          <a:ln w="9525">
            <a:solidFill>
              <a:srgbClr val="23515F"/>
            </a:solidFill>
            <a:prstDash val="solid"/>
          </a:ln>
        </p:spPr>
      </p:sp>
      <p:sp>
        <p:nvSpPr>
          <p:cNvPr id="6" name="Shape 3"/>
          <p:cNvSpPr/>
          <p:nvPr/>
        </p:nvSpPr>
        <p:spPr>
          <a:xfrm>
            <a:off x="685800" y="1737360"/>
            <a:ext cx="457200" cy="457200"/>
          </a:xfrm>
          <a:prstGeom prst="ellipse">
            <a:avLst/>
          </a:prstGeom>
          <a:solidFill>
            <a:srgbClr val="0A1B26"/>
          </a:solidFill>
          <a:ln w="12700">
            <a:solidFill>
              <a:srgbClr val="0A1B26"/>
            </a:solidFill>
            <a:prstDash val="solid"/>
          </a:ln>
        </p:spPr>
      </p:sp>
      <p:pic>
        <p:nvPicPr>
          <p:cNvPr id="7" name="Image 0" descr="preencoded.png"/>
          <p:cNvPicPr>
            <a:picLocks noChangeAspect="1"/>
          </p:cNvPicPr>
          <p:nvPr/>
        </p:nvPicPr>
        <p:blipFill>
          <a:blip r:embed="rId3"/>
          <a:stretch>
            <a:fillRect/>
          </a:stretch>
        </p:blipFill>
        <p:spPr>
          <a:xfrm>
            <a:off x="800100" y="1851660"/>
            <a:ext cx="228600" cy="228600"/>
          </a:xfrm>
          <a:prstGeom prst="rect">
            <a:avLst/>
          </a:prstGeom>
        </p:spPr>
      </p:pic>
      <p:sp>
        <p:nvSpPr>
          <p:cNvPr id="8" name="Text 4"/>
          <p:cNvSpPr txBox="1"/>
          <p:nvPr/>
        </p:nvSpPr>
        <p:spPr>
          <a:xfrm>
            <a:off x="1371600"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01</a:t>
            </a:r>
            <a:endParaRPr lang="en-US" sz="1200" dirty="0"/>
          </a:p>
        </p:txBody>
      </p:sp>
      <p:sp>
        <p:nvSpPr>
          <p:cNvPr id="9" name="Text 5"/>
          <p:cNvSpPr txBox="1"/>
          <p:nvPr/>
        </p:nvSpPr>
        <p:spPr>
          <a:xfrm>
            <a:off x="685800" y="2331720"/>
            <a:ext cx="1143000" cy="54864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Choose City</a:t>
            </a:r>
            <a:endParaRPr lang="en-US" sz="1250" dirty="0"/>
          </a:p>
        </p:txBody>
      </p:sp>
      <p:sp>
        <p:nvSpPr>
          <p:cNvPr id="10" name="Shape 6"/>
          <p:cNvSpPr/>
          <p:nvPr/>
        </p:nvSpPr>
        <p:spPr>
          <a:xfrm>
            <a:off x="1947672" y="2258568"/>
            <a:ext cx="192024" cy="0"/>
          </a:xfrm>
          <a:prstGeom prst="line">
            <a:avLst/>
          </a:prstGeom>
          <a:noFill/>
          <a:ln w="25400">
            <a:solidFill>
              <a:srgbClr val="9DB7C1"/>
            </a:solidFill>
            <a:prstDash val="solid"/>
            <a:tailEnd type="triangle"/>
          </a:ln>
        </p:spPr>
      </p:sp>
      <p:sp>
        <p:nvSpPr>
          <p:cNvPr id="11" name="Shape 7"/>
          <p:cNvSpPr/>
          <p:nvPr/>
        </p:nvSpPr>
        <p:spPr>
          <a:xfrm>
            <a:off x="2167128" y="1600200"/>
            <a:ext cx="1371600" cy="1325880"/>
          </a:xfrm>
          <a:prstGeom prst="roundRect">
            <a:avLst>
              <a:gd name="adj" fmla="val 8276"/>
            </a:avLst>
          </a:prstGeom>
          <a:solidFill>
            <a:srgbClr val="12303D"/>
          </a:solidFill>
          <a:ln w="9525">
            <a:solidFill>
              <a:srgbClr val="23515F"/>
            </a:solidFill>
            <a:prstDash val="solid"/>
          </a:ln>
        </p:spPr>
      </p:sp>
      <p:sp>
        <p:nvSpPr>
          <p:cNvPr id="12" name="Shape 8"/>
          <p:cNvSpPr/>
          <p:nvPr/>
        </p:nvSpPr>
        <p:spPr>
          <a:xfrm>
            <a:off x="2304288" y="1737360"/>
            <a:ext cx="457200" cy="457200"/>
          </a:xfrm>
          <a:prstGeom prst="ellipse">
            <a:avLst/>
          </a:prstGeom>
          <a:solidFill>
            <a:srgbClr val="0A1B26"/>
          </a:solidFill>
          <a:ln w="12700">
            <a:solidFill>
              <a:srgbClr val="0A1B26"/>
            </a:solidFill>
            <a:prstDash val="solid"/>
          </a:ln>
        </p:spPr>
      </p:sp>
      <p:pic>
        <p:nvPicPr>
          <p:cNvPr id="13" name="Image 1" descr="preencoded.png"/>
          <p:cNvPicPr>
            <a:picLocks noChangeAspect="1"/>
          </p:cNvPicPr>
          <p:nvPr/>
        </p:nvPicPr>
        <p:blipFill>
          <a:blip r:embed="rId4"/>
          <a:stretch>
            <a:fillRect/>
          </a:stretch>
        </p:blipFill>
        <p:spPr>
          <a:xfrm>
            <a:off x="2418588" y="1851660"/>
            <a:ext cx="228600" cy="228600"/>
          </a:xfrm>
          <a:prstGeom prst="rect">
            <a:avLst/>
          </a:prstGeom>
        </p:spPr>
      </p:pic>
      <p:sp>
        <p:nvSpPr>
          <p:cNvPr id="14" name="Text 9"/>
          <p:cNvSpPr txBox="1"/>
          <p:nvPr/>
        </p:nvSpPr>
        <p:spPr>
          <a:xfrm>
            <a:off x="2990088"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02</a:t>
            </a:r>
            <a:endParaRPr lang="en-US" sz="1200" dirty="0"/>
          </a:p>
        </p:txBody>
      </p:sp>
      <p:sp>
        <p:nvSpPr>
          <p:cNvPr id="15" name="Text 10"/>
          <p:cNvSpPr txBox="1"/>
          <p:nvPr/>
        </p:nvSpPr>
        <p:spPr>
          <a:xfrm>
            <a:off x="2304288" y="2331720"/>
            <a:ext cx="1143000" cy="54864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View AQI</a:t>
            </a:r>
            <a:endParaRPr lang="en-US" sz="1250" dirty="0"/>
          </a:p>
        </p:txBody>
      </p:sp>
      <p:sp>
        <p:nvSpPr>
          <p:cNvPr id="16" name="Shape 11"/>
          <p:cNvSpPr/>
          <p:nvPr/>
        </p:nvSpPr>
        <p:spPr>
          <a:xfrm>
            <a:off x="3566160" y="2258568"/>
            <a:ext cx="192024" cy="0"/>
          </a:xfrm>
          <a:prstGeom prst="line">
            <a:avLst/>
          </a:prstGeom>
          <a:noFill/>
          <a:ln w="25400">
            <a:solidFill>
              <a:srgbClr val="9DB7C1"/>
            </a:solidFill>
            <a:prstDash val="solid"/>
            <a:tailEnd type="triangle"/>
          </a:ln>
        </p:spPr>
      </p:sp>
      <p:sp>
        <p:nvSpPr>
          <p:cNvPr id="17" name="Shape 12"/>
          <p:cNvSpPr/>
          <p:nvPr/>
        </p:nvSpPr>
        <p:spPr>
          <a:xfrm>
            <a:off x="3785616" y="1600200"/>
            <a:ext cx="1371600" cy="1325880"/>
          </a:xfrm>
          <a:prstGeom prst="roundRect">
            <a:avLst>
              <a:gd name="adj" fmla="val 8276"/>
            </a:avLst>
          </a:prstGeom>
          <a:solidFill>
            <a:srgbClr val="12303D"/>
          </a:solidFill>
          <a:ln w="9525">
            <a:solidFill>
              <a:srgbClr val="23515F"/>
            </a:solidFill>
            <a:prstDash val="solid"/>
          </a:ln>
        </p:spPr>
      </p:sp>
      <p:sp>
        <p:nvSpPr>
          <p:cNvPr id="18" name="Shape 13"/>
          <p:cNvSpPr/>
          <p:nvPr/>
        </p:nvSpPr>
        <p:spPr>
          <a:xfrm>
            <a:off x="3922776" y="1737360"/>
            <a:ext cx="457200" cy="457200"/>
          </a:xfrm>
          <a:prstGeom prst="ellipse">
            <a:avLst/>
          </a:prstGeom>
          <a:solidFill>
            <a:srgbClr val="0A1B26"/>
          </a:solidFill>
          <a:ln w="12700">
            <a:solidFill>
              <a:srgbClr val="0A1B26"/>
            </a:solidFill>
            <a:prstDash val="solid"/>
          </a:ln>
        </p:spPr>
      </p:sp>
      <p:pic>
        <p:nvPicPr>
          <p:cNvPr id="19" name="Image 2" descr="preencoded.png"/>
          <p:cNvPicPr>
            <a:picLocks noChangeAspect="1"/>
          </p:cNvPicPr>
          <p:nvPr/>
        </p:nvPicPr>
        <p:blipFill>
          <a:blip r:embed="rId5"/>
          <a:stretch>
            <a:fillRect/>
          </a:stretch>
        </p:blipFill>
        <p:spPr>
          <a:xfrm>
            <a:off x="4037076" y="1851660"/>
            <a:ext cx="228600" cy="228600"/>
          </a:xfrm>
          <a:prstGeom prst="rect">
            <a:avLst/>
          </a:prstGeom>
        </p:spPr>
      </p:pic>
      <p:sp>
        <p:nvSpPr>
          <p:cNvPr id="20" name="Text 14"/>
          <p:cNvSpPr txBox="1"/>
          <p:nvPr/>
        </p:nvSpPr>
        <p:spPr>
          <a:xfrm>
            <a:off x="4608576"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03</a:t>
            </a:r>
            <a:endParaRPr lang="en-US" sz="1200" dirty="0"/>
          </a:p>
        </p:txBody>
      </p:sp>
      <p:sp>
        <p:nvSpPr>
          <p:cNvPr id="21" name="Text 15"/>
          <p:cNvSpPr txBox="1"/>
          <p:nvPr/>
        </p:nvSpPr>
        <p:spPr>
          <a:xfrm>
            <a:off x="3922776" y="2331720"/>
            <a:ext cx="1143000" cy="54864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Inspect Pollutants</a:t>
            </a:r>
            <a:endParaRPr lang="en-US" sz="1250" dirty="0"/>
          </a:p>
        </p:txBody>
      </p:sp>
      <p:sp>
        <p:nvSpPr>
          <p:cNvPr id="22" name="Shape 16"/>
          <p:cNvSpPr/>
          <p:nvPr/>
        </p:nvSpPr>
        <p:spPr>
          <a:xfrm>
            <a:off x="5184648" y="2258568"/>
            <a:ext cx="192024" cy="0"/>
          </a:xfrm>
          <a:prstGeom prst="line">
            <a:avLst/>
          </a:prstGeom>
          <a:noFill/>
          <a:ln w="25400">
            <a:solidFill>
              <a:srgbClr val="9DB7C1"/>
            </a:solidFill>
            <a:prstDash val="solid"/>
            <a:tailEnd type="triangle"/>
          </a:ln>
        </p:spPr>
      </p:sp>
      <p:sp>
        <p:nvSpPr>
          <p:cNvPr id="23" name="Shape 17"/>
          <p:cNvSpPr/>
          <p:nvPr/>
        </p:nvSpPr>
        <p:spPr>
          <a:xfrm>
            <a:off x="5404104" y="1600200"/>
            <a:ext cx="1371600" cy="1325880"/>
          </a:xfrm>
          <a:prstGeom prst="roundRect">
            <a:avLst>
              <a:gd name="adj" fmla="val 8276"/>
            </a:avLst>
          </a:prstGeom>
          <a:solidFill>
            <a:srgbClr val="12303D"/>
          </a:solidFill>
          <a:ln w="9525">
            <a:solidFill>
              <a:srgbClr val="23515F"/>
            </a:solidFill>
            <a:prstDash val="solid"/>
          </a:ln>
        </p:spPr>
      </p:sp>
      <p:sp>
        <p:nvSpPr>
          <p:cNvPr id="24" name="Shape 18"/>
          <p:cNvSpPr/>
          <p:nvPr/>
        </p:nvSpPr>
        <p:spPr>
          <a:xfrm>
            <a:off x="5541264" y="1737360"/>
            <a:ext cx="457200" cy="457200"/>
          </a:xfrm>
          <a:prstGeom prst="ellipse">
            <a:avLst/>
          </a:prstGeom>
          <a:solidFill>
            <a:srgbClr val="0A1B26"/>
          </a:solidFill>
          <a:ln w="12700">
            <a:solidFill>
              <a:srgbClr val="0A1B26"/>
            </a:solidFill>
            <a:prstDash val="solid"/>
          </a:ln>
        </p:spPr>
      </p:sp>
      <p:pic>
        <p:nvPicPr>
          <p:cNvPr id="25" name="Image 3" descr="preencoded.png"/>
          <p:cNvPicPr>
            <a:picLocks noChangeAspect="1"/>
          </p:cNvPicPr>
          <p:nvPr/>
        </p:nvPicPr>
        <p:blipFill>
          <a:blip r:embed="rId6"/>
          <a:stretch>
            <a:fillRect/>
          </a:stretch>
        </p:blipFill>
        <p:spPr>
          <a:xfrm>
            <a:off x="5655564" y="1851660"/>
            <a:ext cx="228600" cy="228600"/>
          </a:xfrm>
          <a:prstGeom prst="rect">
            <a:avLst/>
          </a:prstGeom>
        </p:spPr>
      </p:pic>
      <p:sp>
        <p:nvSpPr>
          <p:cNvPr id="26" name="Text 19"/>
          <p:cNvSpPr txBox="1"/>
          <p:nvPr/>
        </p:nvSpPr>
        <p:spPr>
          <a:xfrm>
            <a:off x="6227064"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04</a:t>
            </a:r>
            <a:endParaRPr lang="en-US" sz="1200" dirty="0"/>
          </a:p>
        </p:txBody>
      </p:sp>
      <p:sp>
        <p:nvSpPr>
          <p:cNvPr id="27" name="Text 20"/>
          <p:cNvSpPr txBox="1"/>
          <p:nvPr/>
        </p:nvSpPr>
        <p:spPr>
          <a:xfrm>
            <a:off x="5541264" y="2331720"/>
            <a:ext cx="1143000" cy="54864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Explore Trends</a:t>
            </a:r>
            <a:endParaRPr lang="en-US" sz="1250" dirty="0"/>
          </a:p>
        </p:txBody>
      </p:sp>
      <p:sp>
        <p:nvSpPr>
          <p:cNvPr id="28" name="Shape 21"/>
          <p:cNvSpPr/>
          <p:nvPr/>
        </p:nvSpPr>
        <p:spPr>
          <a:xfrm>
            <a:off x="6803136" y="2258568"/>
            <a:ext cx="192024" cy="0"/>
          </a:xfrm>
          <a:prstGeom prst="line">
            <a:avLst/>
          </a:prstGeom>
          <a:noFill/>
          <a:ln w="25400">
            <a:solidFill>
              <a:srgbClr val="9DB7C1"/>
            </a:solidFill>
            <a:prstDash val="solid"/>
            <a:tailEnd type="triangle"/>
          </a:ln>
        </p:spPr>
      </p:sp>
      <p:sp>
        <p:nvSpPr>
          <p:cNvPr id="29" name="Shape 22"/>
          <p:cNvSpPr/>
          <p:nvPr/>
        </p:nvSpPr>
        <p:spPr>
          <a:xfrm>
            <a:off x="7022592" y="1600200"/>
            <a:ext cx="1371600" cy="1325880"/>
          </a:xfrm>
          <a:prstGeom prst="roundRect">
            <a:avLst>
              <a:gd name="adj" fmla="val 8276"/>
            </a:avLst>
          </a:prstGeom>
          <a:solidFill>
            <a:srgbClr val="12303D"/>
          </a:solidFill>
          <a:ln w="9525">
            <a:solidFill>
              <a:srgbClr val="23515F"/>
            </a:solidFill>
            <a:prstDash val="solid"/>
          </a:ln>
        </p:spPr>
      </p:sp>
      <p:sp>
        <p:nvSpPr>
          <p:cNvPr id="30" name="Shape 23"/>
          <p:cNvSpPr/>
          <p:nvPr/>
        </p:nvSpPr>
        <p:spPr>
          <a:xfrm>
            <a:off x="7159752" y="1737360"/>
            <a:ext cx="457200" cy="457200"/>
          </a:xfrm>
          <a:prstGeom prst="ellipse">
            <a:avLst/>
          </a:prstGeom>
          <a:solidFill>
            <a:srgbClr val="0A1B26"/>
          </a:solidFill>
          <a:ln w="12700">
            <a:solidFill>
              <a:srgbClr val="0A1B26"/>
            </a:solidFill>
            <a:prstDash val="solid"/>
          </a:ln>
        </p:spPr>
      </p:sp>
      <p:pic>
        <p:nvPicPr>
          <p:cNvPr id="31" name="Image 4" descr="preencoded.png"/>
          <p:cNvPicPr>
            <a:picLocks noChangeAspect="1"/>
          </p:cNvPicPr>
          <p:nvPr/>
        </p:nvPicPr>
        <p:blipFill>
          <a:blip r:embed="rId7"/>
          <a:stretch>
            <a:fillRect/>
          </a:stretch>
        </p:blipFill>
        <p:spPr>
          <a:xfrm>
            <a:off x="7274052" y="1851660"/>
            <a:ext cx="228600" cy="228600"/>
          </a:xfrm>
          <a:prstGeom prst="rect">
            <a:avLst/>
          </a:prstGeom>
        </p:spPr>
      </p:pic>
      <p:sp>
        <p:nvSpPr>
          <p:cNvPr id="32" name="Text 24"/>
          <p:cNvSpPr txBox="1"/>
          <p:nvPr/>
        </p:nvSpPr>
        <p:spPr>
          <a:xfrm>
            <a:off x="7845552"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05</a:t>
            </a:r>
            <a:endParaRPr lang="en-US" sz="1200" dirty="0"/>
          </a:p>
        </p:txBody>
      </p:sp>
      <p:sp>
        <p:nvSpPr>
          <p:cNvPr id="33" name="Text 25"/>
          <p:cNvSpPr txBox="1"/>
          <p:nvPr/>
        </p:nvSpPr>
        <p:spPr>
          <a:xfrm>
            <a:off x="7159752" y="2331720"/>
            <a:ext cx="1143000" cy="54864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Compare Cities</a:t>
            </a:r>
            <a:endParaRPr lang="en-US" sz="1250" dirty="0"/>
          </a:p>
        </p:txBody>
      </p:sp>
      <p:sp>
        <p:nvSpPr>
          <p:cNvPr id="34" name="Shape 26"/>
          <p:cNvSpPr/>
          <p:nvPr/>
        </p:nvSpPr>
        <p:spPr>
          <a:xfrm>
            <a:off x="8421624" y="2258568"/>
            <a:ext cx="192024" cy="0"/>
          </a:xfrm>
          <a:prstGeom prst="line">
            <a:avLst/>
          </a:prstGeom>
          <a:noFill/>
          <a:ln w="25400">
            <a:solidFill>
              <a:srgbClr val="9DB7C1"/>
            </a:solidFill>
            <a:prstDash val="solid"/>
            <a:tailEnd type="triangle"/>
          </a:ln>
        </p:spPr>
      </p:sp>
      <p:sp>
        <p:nvSpPr>
          <p:cNvPr id="35" name="Shape 27"/>
          <p:cNvSpPr/>
          <p:nvPr/>
        </p:nvSpPr>
        <p:spPr>
          <a:xfrm>
            <a:off x="8641080" y="1600200"/>
            <a:ext cx="1371600" cy="1325880"/>
          </a:xfrm>
          <a:prstGeom prst="roundRect">
            <a:avLst>
              <a:gd name="adj" fmla="val 8276"/>
            </a:avLst>
          </a:prstGeom>
          <a:solidFill>
            <a:srgbClr val="12303D"/>
          </a:solidFill>
          <a:ln w="9525">
            <a:solidFill>
              <a:srgbClr val="23515F"/>
            </a:solidFill>
            <a:prstDash val="solid"/>
          </a:ln>
        </p:spPr>
      </p:sp>
      <p:sp>
        <p:nvSpPr>
          <p:cNvPr id="36" name="Shape 28"/>
          <p:cNvSpPr/>
          <p:nvPr/>
        </p:nvSpPr>
        <p:spPr>
          <a:xfrm>
            <a:off x="8778240" y="1737360"/>
            <a:ext cx="457200" cy="457200"/>
          </a:xfrm>
          <a:prstGeom prst="ellipse">
            <a:avLst/>
          </a:prstGeom>
          <a:solidFill>
            <a:srgbClr val="0A1B26"/>
          </a:solidFill>
          <a:ln w="12700">
            <a:solidFill>
              <a:srgbClr val="0A1B26"/>
            </a:solidFill>
            <a:prstDash val="solid"/>
          </a:ln>
        </p:spPr>
      </p:sp>
      <p:pic>
        <p:nvPicPr>
          <p:cNvPr id="37" name="Image 5" descr="preencoded.png"/>
          <p:cNvPicPr>
            <a:picLocks noChangeAspect="1"/>
          </p:cNvPicPr>
          <p:nvPr/>
        </p:nvPicPr>
        <p:blipFill>
          <a:blip r:embed="rId8"/>
          <a:stretch>
            <a:fillRect/>
          </a:stretch>
        </p:blipFill>
        <p:spPr>
          <a:xfrm>
            <a:off x="8892540" y="1851660"/>
            <a:ext cx="228600" cy="228600"/>
          </a:xfrm>
          <a:prstGeom prst="rect">
            <a:avLst/>
          </a:prstGeom>
        </p:spPr>
      </p:pic>
      <p:sp>
        <p:nvSpPr>
          <p:cNvPr id="38" name="Text 29"/>
          <p:cNvSpPr txBox="1"/>
          <p:nvPr/>
        </p:nvSpPr>
        <p:spPr>
          <a:xfrm>
            <a:off x="9464040"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06</a:t>
            </a:r>
            <a:endParaRPr lang="en-US" sz="1200" dirty="0"/>
          </a:p>
        </p:txBody>
      </p:sp>
      <p:sp>
        <p:nvSpPr>
          <p:cNvPr id="39" name="Text 30"/>
          <p:cNvSpPr txBox="1"/>
          <p:nvPr/>
        </p:nvSpPr>
        <p:spPr>
          <a:xfrm>
            <a:off x="8778240" y="2331720"/>
            <a:ext cx="1143000" cy="54864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View Monitoring Stations</a:t>
            </a:r>
            <a:endParaRPr lang="en-US" sz="1250" dirty="0"/>
          </a:p>
        </p:txBody>
      </p:sp>
      <p:sp>
        <p:nvSpPr>
          <p:cNvPr id="40" name="Shape 31"/>
          <p:cNvSpPr/>
          <p:nvPr/>
        </p:nvSpPr>
        <p:spPr>
          <a:xfrm>
            <a:off x="10040112" y="2258568"/>
            <a:ext cx="192024" cy="0"/>
          </a:xfrm>
          <a:prstGeom prst="line">
            <a:avLst/>
          </a:prstGeom>
          <a:noFill/>
          <a:ln w="25400">
            <a:solidFill>
              <a:srgbClr val="9DB7C1"/>
            </a:solidFill>
            <a:prstDash val="solid"/>
            <a:tailEnd type="triangle"/>
          </a:ln>
        </p:spPr>
      </p:sp>
      <p:sp>
        <p:nvSpPr>
          <p:cNvPr id="41" name="Shape 32"/>
          <p:cNvSpPr/>
          <p:nvPr/>
        </p:nvSpPr>
        <p:spPr>
          <a:xfrm>
            <a:off x="10259568" y="1600200"/>
            <a:ext cx="1371600" cy="1325880"/>
          </a:xfrm>
          <a:prstGeom prst="roundRect">
            <a:avLst>
              <a:gd name="adj" fmla="val 8276"/>
            </a:avLst>
          </a:prstGeom>
          <a:solidFill>
            <a:srgbClr val="0F3A3D"/>
          </a:solidFill>
          <a:ln w="9525">
            <a:solidFill>
              <a:srgbClr val="2DD4BF"/>
            </a:solidFill>
            <a:prstDash val="solid"/>
          </a:ln>
        </p:spPr>
      </p:sp>
      <p:sp>
        <p:nvSpPr>
          <p:cNvPr id="42" name="Shape 33"/>
          <p:cNvSpPr/>
          <p:nvPr/>
        </p:nvSpPr>
        <p:spPr>
          <a:xfrm>
            <a:off x="10396728" y="1737360"/>
            <a:ext cx="457200" cy="457200"/>
          </a:xfrm>
          <a:prstGeom prst="ellipse">
            <a:avLst/>
          </a:prstGeom>
          <a:solidFill>
            <a:srgbClr val="0A1B26"/>
          </a:solidFill>
          <a:ln w="12700">
            <a:solidFill>
              <a:srgbClr val="0A1B26"/>
            </a:solidFill>
            <a:prstDash val="solid"/>
          </a:ln>
        </p:spPr>
      </p:sp>
      <p:pic>
        <p:nvPicPr>
          <p:cNvPr id="43" name="Image 6" descr="preencoded.png"/>
          <p:cNvPicPr>
            <a:picLocks noChangeAspect="1"/>
          </p:cNvPicPr>
          <p:nvPr/>
        </p:nvPicPr>
        <p:blipFill>
          <a:blip r:embed="rId9"/>
          <a:stretch>
            <a:fillRect/>
          </a:stretch>
        </p:blipFill>
        <p:spPr>
          <a:xfrm>
            <a:off x="10511028" y="1851660"/>
            <a:ext cx="228600" cy="228600"/>
          </a:xfrm>
          <a:prstGeom prst="rect">
            <a:avLst/>
          </a:prstGeom>
        </p:spPr>
      </p:pic>
      <p:sp>
        <p:nvSpPr>
          <p:cNvPr id="44" name="Text 34"/>
          <p:cNvSpPr txBox="1"/>
          <p:nvPr/>
        </p:nvSpPr>
        <p:spPr>
          <a:xfrm>
            <a:off x="11082528"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07</a:t>
            </a:r>
            <a:endParaRPr lang="en-US" sz="1200" dirty="0"/>
          </a:p>
        </p:txBody>
      </p:sp>
      <p:sp>
        <p:nvSpPr>
          <p:cNvPr id="45" name="Text 35"/>
          <p:cNvSpPr txBox="1"/>
          <p:nvPr/>
        </p:nvSpPr>
        <p:spPr>
          <a:xfrm>
            <a:off x="10396728" y="2331720"/>
            <a:ext cx="1143000" cy="54864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Ask AI Assistant</a:t>
            </a:r>
            <a:endParaRPr lang="en-US" sz="1250" dirty="0"/>
          </a:p>
        </p:txBody>
      </p:sp>
      <p:sp>
        <p:nvSpPr>
          <p:cNvPr id="46" name="Shape 36"/>
          <p:cNvSpPr/>
          <p:nvPr/>
        </p:nvSpPr>
        <p:spPr>
          <a:xfrm>
            <a:off x="548640" y="3200400"/>
            <a:ext cx="11091672" cy="2926080"/>
          </a:xfrm>
          <a:prstGeom prst="roundRect">
            <a:avLst>
              <a:gd name="adj" fmla="val 4688"/>
            </a:avLst>
          </a:prstGeom>
          <a:solidFill>
            <a:srgbClr val="0B1A22"/>
          </a:solidFill>
          <a:ln w="12700">
            <a:solidFill>
              <a:srgbClr val="23515F"/>
            </a:solidFill>
            <a:prstDash val="solid"/>
          </a:ln>
        </p:spPr>
      </p:sp>
      <p:sp>
        <p:nvSpPr>
          <p:cNvPr id="47" name="Shape 37"/>
          <p:cNvSpPr/>
          <p:nvPr/>
        </p:nvSpPr>
        <p:spPr>
          <a:xfrm>
            <a:off x="777240" y="3328416"/>
            <a:ext cx="118872" cy="118872"/>
          </a:xfrm>
          <a:prstGeom prst="ellipse">
            <a:avLst/>
          </a:prstGeom>
          <a:solidFill>
            <a:srgbClr val="EF4444"/>
          </a:solidFill>
          <a:ln w="12700">
            <a:solidFill>
              <a:srgbClr val="EF4444"/>
            </a:solidFill>
            <a:prstDash val="solid"/>
          </a:ln>
        </p:spPr>
      </p:sp>
      <p:sp>
        <p:nvSpPr>
          <p:cNvPr id="48" name="Shape 38"/>
          <p:cNvSpPr/>
          <p:nvPr/>
        </p:nvSpPr>
        <p:spPr>
          <a:xfrm>
            <a:off x="978408" y="3328416"/>
            <a:ext cx="118872" cy="118872"/>
          </a:xfrm>
          <a:prstGeom prst="ellipse">
            <a:avLst/>
          </a:prstGeom>
          <a:solidFill>
            <a:srgbClr val="FACC15"/>
          </a:solidFill>
          <a:ln w="12700">
            <a:solidFill>
              <a:srgbClr val="FACC15"/>
            </a:solidFill>
            <a:prstDash val="solid"/>
          </a:ln>
        </p:spPr>
      </p:sp>
      <p:sp>
        <p:nvSpPr>
          <p:cNvPr id="49" name="Shape 39"/>
          <p:cNvSpPr/>
          <p:nvPr/>
        </p:nvSpPr>
        <p:spPr>
          <a:xfrm>
            <a:off x="1179576" y="3328416"/>
            <a:ext cx="118872" cy="118872"/>
          </a:xfrm>
          <a:prstGeom prst="ellipse">
            <a:avLst/>
          </a:prstGeom>
          <a:solidFill>
            <a:srgbClr val="4ADE80"/>
          </a:solidFill>
          <a:ln w="12700">
            <a:solidFill>
              <a:srgbClr val="4ADE80"/>
            </a:solidFill>
            <a:prstDash val="solid"/>
          </a:ln>
        </p:spPr>
      </p:sp>
      <p:sp>
        <p:nvSpPr>
          <p:cNvPr id="50" name="Shape 40"/>
          <p:cNvSpPr/>
          <p:nvPr/>
        </p:nvSpPr>
        <p:spPr>
          <a:xfrm>
            <a:off x="9189720" y="3282696"/>
            <a:ext cx="2240280" cy="237744"/>
          </a:xfrm>
          <a:prstGeom prst="roundRect">
            <a:avLst>
              <a:gd name="adj" fmla="val 50000"/>
            </a:avLst>
          </a:prstGeom>
          <a:solidFill>
            <a:srgbClr val="FACC15"/>
          </a:solidFill>
          <a:ln w="12700">
            <a:solidFill>
              <a:srgbClr val="FACC15"/>
            </a:solidFill>
            <a:prstDash val="solid"/>
          </a:ln>
        </p:spPr>
      </p:sp>
      <p:sp>
        <p:nvSpPr>
          <p:cNvPr id="51" name="Text 41"/>
          <p:cNvSpPr txBox="1"/>
          <p:nvPr/>
        </p:nvSpPr>
        <p:spPr>
          <a:xfrm>
            <a:off x="9189720" y="3282696"/>
            <a:ext cx="2240280" cy="237744"/>
          </a:xfrm>
          <a:prstGeom prst="rect">
            <a:avLst/>
          </a:prstGeom>
          <a:noFill/>
          <a:ln/>
        </p:spPr>
        <p:txBody>
          <a:bodyPr wrap="square" lIns="0" tIns="0" rIns="0" bIns="0" rtlCol="0" anchor="ctr"/>
          <a:lstStyle/>
          <a:p>
            <a:pPr marL="0" indent="0" algn="ctr">
              <a:buNone/>
            </a:pPr>
            <a:r>
              <a:rPr lang="en-US" sz="1000" b="1" dirty="0">
                <a:solidFill>
                  <a:srgbClr val="0A1B26"/>
                </a:solidFill>
                <a:latin typeface="Calibri" pitchFamily="34" charset="0"/>
                <a:ea typeface="Calibri" pitchFamily="34" charset="-122"/>
                <a:cs typeface="Calibri" pitchFamily="34" charset="-120"/>
              </a:rPr>
              <a:t>CONCEPTUAL ILLUSTRATION</a:t>
            </a:r>
            <a:endParaRPr lang="en-US" sz="1000" dirty="0"/>
          </a:p>
        </p:txBody>
      </p:sp>
      <p:sp>
        <p:nvSpPr>
          <p:cNvPr id="52" name="Shape 42"/>
          <p:cNvSpPr/>
          <p:nvPr/>
        </p:nvSpPr>
        <p:spPr>
          <a:xfrm>
            <a:off x="777240" y="3657600"/>
            <a:ext cx="3017520" cy="2286000"/>
          </a:xfrm>
          <a:prstGeom prst="roundRect">
            <a:avLst>
              <a:gd name="adj" fmla="val 4800"/>
            </a:avLst>
          </a:prstGeom>
          <a:solidFill>
            <a:srgbClr val="12303D"/>
          </a:solidFill>
          <a:ln w="9525">
            <a:solidFill>
              <a:srgbClr val="23515F"/>
            </a:solidFill>
            <a:prstDash val="solid"/>
          </a:ln>
        </p:spPr>
      </p:sp>
      <p:sp>
        <p:nvSpPr>
          <p:cNvPr id="53" name="Text 43"/>
          <p:cNvSpPr txBox="1"/>
          <p:nvPr/>
        </p:nvSpPr>
        <p:spPr>
          <a:xfrm>
            <a:off x="960120" y="3767328"/>
            <a:ext cx="1828800" cy="228600"/>
          </a:xfrm>
          <a:prstGeom prst="rect">
            <a:avLst/>
          </a:prstGeom>
          <a:noFill/>
          <a:ln/>
        </p:spPr>
        <p:txBody>
          <a:bodyPr wrap="square" lIns="0" tIns="0" rIns="0" bIns="0" rtlCol="0" anchor="t"/>
          <a:lstStyle/>
          <a:p>
            <a:pPr marL="0" indent="0">
              <a:buNone/>
            </a:pPr>
            <a:r>
              <a:rPr lang="en-US" sz="1100" b="1" kern="0" spc="200" dirty="0">
                <a:solidFill>
                  <a:srgbClr val="9DB7C1"/>
                </a:solidFill>
                <a:latin typeface="Calibri" pitchFamily="34" charset="0"/>
                <a:ea typeface="Calibri" pitchFamily="34" charset="-122"/>
                <a:cs typeface="Calibri" pitchFamily="34" charset="-120"/>
              </a:rPr>
              <a:t>AQI</a:t>
            </a:r>
            <a:endParaRPr lang="en-US" sz="1100" dirty="0"/>
          </a:p>
        </p:txBody>
      </p:sp>
      <p:sp>
        <p:nvSpPr>
          <p:cNvPr id="54" name="Shape 44"/>
          <p:cNvSpPr/>
          <p:nvPr/>
        </p:nvSpPr>
        <p:spPr>
          <a:xfrm>
            <a:off x="960120" y="4114800"/>
            <a:ext cx="1280160" cy="1280160"/>
          </a:xfrm>
          <a:prstGeom prst="ellipse">
            <a:avLst/>
          </a:prstGeom>
          <a:solidFill>
            <a:srgbClr val="12303D"/>
          </a:solidFill>
          <a:ln w="76200">
            <a:solidFill>
              <a:srgbClr val="3A6B7A"/>
            </a:solidFill>
            <a:prstDash val="solid"/>
          </a:ln>
        </p:spPr>
      </p:sp>
      <p:sp>
        <p:nvSpPr>
          <p:cNvPr id="55" name="Text 45"/>
          <p:cNvSpPr txBox="1"/>
          <p:nvPr/>
        </p:nvSpPr>
        <p:spPr>
          <a:xfrm>
            <a:off x="960120" y="4114800"/>
            <a:ext cx="1280160" cy="12801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AQI</a:t>
            </a:r>
            <a:endParaRPr lang="en-US" sz="2000" dirty="0"/>
          </a:p>
        </p:txBody>
      </p:sp>
      <p:sp>
        <p:nvSpPr>
          <p:cNvPr id="56" name="Text 46"/>
          <p:cNvSpPr txBox="1"/>
          <p:nvPr/>
        </p:nvSpPr>
        <p:spPr>
          <a:xfrm>
            <a:off x="2423160" y="4160520"/>
            <a:ext cx="1280160" cy="201168"/>
          </a:xfrm>
          <a:prstGeom prst="rect">
            <a:avLst/>
          </a:prstGeom>
          <a:noFill/>
          <a:ln/>
        </p:spPr>
        <p:txBody>
          <a:bodyPr wrap="square" lIns="0" tIns="0" rIns="0" bIns="0" rtlCol="0" anchor="t"/>
          <a:lstStyle/>
          <a:p>
            <a:pPr marL="0" indent="0">
              <a:buNone/>
            </a:pPr>
            <a:r>
              <a:rPr lang="en-US" sz="1000" dirty="0">
                <a:solidFill>
                  <a:srgbClr val="9DB7C1"/>
                </a:solidFill>
                <a:latin typeface="Calibri" pitchFamily="34" charset="0"/>
                <a:ea typeface="Calibri" pitchFamily="34" charset="-122"/>
                <a:cs typeface="Calibri" pitchFamily="34" charset="-120"/>
              </a:rPr>
              <a:t>Health category</a:t>
            </a:r>
            <a:endParaRPr lang="en-US" sz="1000" dirty="0"/>
          </a:p>
        </p:txBody>
      </p:sp>
      <p:sp>
        <p:nvSpPr>
          <p:cNvPr id="57" name="Shape 47"/>
          <p:cNvSpPr/>
          <p:nvPr/>
        </p:nvSpPr>
        <p:spPr>
          <a:xfrm>
            <a:off x="2423160" y="4370832"/>
            <a:ext cx="1097280" cy="73152"/>
          </a:xfrm>
          <a:prstGeom prst="roundRect">
            <a:avLst>
              <a:gd name="adj" fmla="val 50000"/>
            </a:avLst>
          </a:prstGeom>
          <a:solidFill>
            <a:srgbClr val="23515F"/>
          </a:solidFill>
          <a:ln w="12700">
            <a:solidFill>
              <a:srgbClr val="23515F"/>
            </a:solidFill>
            <a:prstDash val="solid"/>
          </a:ln>
        </p:spPr>
      </p:sp>
      <p:sp>
        <p:nvSpPr>
          <p:cNvPr id="58" name="Text 48"/>
          <p:cNvSpPr txBox="1"/>
          <p:nvPr/>
        </p:nvSpPr>
        <p:spPr>
          <a:xfrm>
            <a:off x="2423160" y="4572000"/>
            <a:ext cx="1280160" cy="201168"/>
          </a:xfrm>
          <a:prstGeom prst="rect">
            <a:avLst/>
          </a:prstGeom>
          <a:noFill/>
          <a:ln/>
        </p:spPr>
        <p:txBody>
          <a:bodyPr wrap="square" lIns="0" tIns="0" rIns="0" bIns="0" rtlCol="0" anchor="t"/>
          <a:lstStyle/>
          <a:p>
            <a:pPr marL="0" indent="0">
              <a:buNone/>
            </a:pPr>
            <a:r>
              <a:rPr lang="en-US" sz="1000" dirty="0">
                <a:solidFill>
                  <a:srgbClr val="9DB7C1"/>
                </a:solidFill>
                <a:latin typeface="Calibri" pitchFamily="34" charset="0"/>
                <a:ea typeface="Calibri" pitchFamily="34" charset="-122"/>
                <a:cs typeface="Calibri" pitchFamily="34" charset="-120"/>
              </a:rPr>
              <a:t>Dominant pollutant</a:t>
            </a:r>
            <a:endParaRPr lang="en-US" sz="1000" dirty="0"/>
          </a:p>
        </p:txBody>
      </p:sp>
      <p:sp>
        <p:nvSpPr>
          <p:cNvPr id="59" name="Shape 49"/>
          <p:cNvSpPr/>
          <p:nvPr/>
        </p:nvSpPr>
        <p:spPr>
          <a:xfrm>
            <a:off x="2423160" y="4782312"/>
            <a:ext cx="914400" cy="73152"/>
          </a:xfrm>
          <a:prstGeom prst="roundRect">
            <a:avLst>
              <a:gd name="adj" fmla="val 50000"/>
            </a:avLst>
          </a:prstGeom>
          <a:solidFill>
            <a:srgbClr val="23515F"/>
          </a:solidFill>
          <a:ln w="12700">
            <a:solidFill>
              <a:srgbClr val="23515F"/>
            </a:solidFill>
            <a:prstDash val="solid"/>
          </a:ln>
        </p:spPr>
      </p:sp>
      <p:sp>
        <p:nvSpPr>
          <p:cNvPr id="60" name="Text 50"/>
          <p:cNvSpPr txBox="1"/>
          <p:nvPr/>
        </p:nvSpPr>
        <p:spPr>
          <a:xfrm>
            <a:off x="2423160" y="4983480"/>
            <a:ext cx="1280160" cy="201168"/>
          </a:xfrm>
          <a:prstGeom prst="rect">
            <a:avLst/>
          </a:prstGeom>
          <a:noFill/>
          <a:ln/>
        </p:spPr>
        <p:txBody>
          <a:bodyPr wrap="square" lIns="0" tIns="0" rIns="0" bIns="0" rtlCol="0" anchor="t"/>
          <a:lstStyle/>
          <a:p>
            <a:pPr marL="0" indent="0">
              <a:buNone/>
            </a:pPr>
            <a:r>
              <a:rPr lang="en-US" sz="1000" dirty="0">
                <a:solidFill>
                  <a:srgbClr val="9DB7C1"/>
                </a:solidFill>
                <a:latin typeface="Calibri" pitchFamily="34" charset="0"/>
                <a:ea typeface="Calibri" pitchFamily="34" charset="-122"/>
                <a:cs typeface="Calibri" pitchFamily="34" charset="-120"/>
              </a:rPr>
              <a:t>Last synced</a:t>
            </a:r>
            <a:endParaRPr lang="en-US" sz="1000" dirty="0"/>
          </a:p>
        </p:txBody>
      </p:sp>
      <p:sp>
        <p:nvSpPr>
          <p:cNvPr id="61" name="Shape 51"/>
          <p:cNvSpPr/>
          <p:nvPr/>
        </p:nvSpPr>
        <p:spPr>
          <a:xfrm>
            <a:off x="2423160" y="5193792"/>
            <a:ext cx="731520" cy="73152"/>
          </a:xfrm>
          <a:prstGeom prst="roundRect">
            <a:avLst>
              <a:gd name="adj" fmla="val 50000"/>
            </a:avLst>
          </a:prstGeom>
          <a:solidFill>
            <a:srgbClr val="23515F"/>
          </a:solidFill>
          <a:ln w="12700">
            <a:solidFill>
              <a:srgbClr val="23515F"/>
            </a:solidFill>
            <a:prstDash val="solid"/>
          </a:ln>
        </p:spPr>
      </p:sp>
      <p:sp>
        <p:nvSpPr>
          <p:cNvPr id="62" name="Shape 52"/>
          <p:cNvSpPr/>
          <p:nvPr/>
        </p:nvSpPr>
        <p:spPr>
          <a:xfrm>
            <a:off x="960120" y="5532120"/>
            <a:ext cx="2651760" cy="182880"/>
          </a:xfrm>
          <a:prstGeom prst="roundRect">
            <a:avLst>
              <a:gd name="adj" fmla="val 50000"/>
            </a:avLst>
          </a:prstGeom>
          <a:solidFill>
            <a:srgbClr val="23515F"/>
          </a:solidFill>
          <a:ln w="12700">
            <a:solidFill>
              <a:srgbClr val="23515F"/>
            </a:solidFill>
            <a:prstDash val="solid"/>
          </a:ln>
        </p:spPr>
      </p:sp>
      <p:sp>
        <p:nvSpPr>
          <p:cNvPr id="63" name="Shape 53"/>
          <p:cNvSpPr/>
          <p:nvPr/>
        </p:nvSpPr>
        <p:spPr>
          <a:xfrm>
            <a:off x="4023360" y="3657600"/>
            <a:ext cx="1261872" cy="1097280"/>
          </a:xfrm>
          <a:prstGeom prst="roundRect">
            <a:avLst>
              <a:gd name="adj" fmla="val 10000"/>
            </a:avLst>
          </a:prstGeom>
          <a:solidFill>
            <a:srgbClr val="12303D"/>
          </a:solidFill>
          <a:ln w="9525">
            <a:solidFill>
              <a:srgbClr val="23515F"/>
            </a:solidFill>
            <a:prstDash val="solid"/>
          </a:ln>
        </p:spPr>
      </p:sp>
      <p:sp>
        <p:nvSpPr>
          <p:cNvPr id="64" name="Text 54"/>
          <p:cNvSpPr txBox="1"/>
          <p:nvPr/>
        </p:nvSpPr>
        <p:spPr>
          <a:xfrm>
            <a:off x="4133088" y="3767328"/>
            <a:ext cx="1005840" cy="274320"/>
          </a:xfrm>
          <a:prstGeom prst="rect">
            <a:avLst/>
          </a:prstGeom>
          <a:noFill/>
          <a:ln/>
        </p:spPr>
        <p:txBody>
          <a:bodyPr wrap="square" lIns="0" tIns="0" rIns="0" bIns="0" rtlCol="0" anchor="t"/>
          <a:lstStyle/>
          <a:p>
            <a:pPr marL="0" indent="0">
              <a:buNone/>
            </a:pPr>
            <a:r>
              <a:rPr lang="en-US" sz="1400" b="1" dirty="0">
                <a:solidFill>
                  <a:srgbClr val="2DD4BF"/>
                </a:solidFill>
                <a:latin typeface="Calibri" pitchFamily="34" charset="0"/>
                <a:ea typeface="Calibri" pitchFamily="34" charset="-122"/>
                <a:cs typeface="Calibri" pitchFamily="34" charset="-120"/>
              </a:rPr>
              <a:t>PM2.5</a:t>
            </a:r>
            <a:endParaRPr lang="en-US" sz="1400" dirty="0"/>
          </a:p>
        </p:txBody>
      </p:sp>
      <p:sp>
        <p:nvSpPr>
          <p:cNvPr id="65" name="Shape 55"/>
          <p:cNvSpPr/>
          <p:nvPr/>
        </p:nvSpPr>
        <p:spPr>
          <a:xfrm>
            <a:off x="4133088" y="4206240"/>
            <a:ext cx="822960" cy="82296"/>
          </a:xfrm>
          <a:prstGeom prst="roundRect">
            <a:avLst>
              <a:gd name="adj" fmla="val 50000"/>
            </a:avLst>
          </a:prstGeom>
          <a:solidFill>
            <a:srgbClr val="23515F"/>
          </a:solidFill>
          <a:ln w="12700">
            <a:solidFill>
              <a:srgbClr val="23515F"/>
            </a:solidFill>
            <a:prstDash val="solid"/>
          </a:ln>
        </p:spPr>
      </p:sp>
      <p:sp>
        <p:nvSpPr>
          <p:cNvPr id="66" name="Shape 56"/>
          <p:cNvSpPr/>
          <p:nvPr/>
        </p:nvSpPr>
        <p:spPr>
          <a:xfrm>
            <a:off x="4133088" y="4434840"/>
            <a:ext cx="548640" cy="82296"/>
          </a:xfrm>
          <a:prstGeom prst="roundRect">
            <a:avLst>
              <a:gd name="adj" fmla="val 50000"/>
            </a:avLst>
          </a:prstGeom>
          <a:solidFill>
            <a:srgbClr val="23515F"/>
          </a:solidFill>
          <a:ln w="12700">
            <a:solidFill>
              <a:srgbClr val="23515F"/>
            </a:solidFill>
            <a:prstDash val="solid"/>
          </a:ln>
        </p:spPr>
      </p:sp>
      <p:sp>
        <p:nvSpPr>
          <p:cNvPr id="67" name="Shape 57"/>
          <p:cNvSpPr/>
          <p:nvPr/>
        </p:nvSpPr>
        <p:spPr>
          <a:xfrm>
            <a:off x="5394960" y="3657600"/>
            <a:ext cx="1261872" cy="1097280"/>
          </a:xfrm>
          <a:prstGeom prst="roundRect">
            <a:avLst>
              <a:gd name="adj" fmla="val 10000"/>
            </a:avLst>
          </a:prstGeom>
          <a:solidFill>
            <a:srgbClr val="12303D"/>
          </a:solidFill>
          <a:ln w="9525">
            <a:solidFill>
              <a:srgbClr val="23515F"/>
            </a:solidFill>
            <a:prstDash val="solid"/>
          </a:ln>
        </p:spPr>
      </p:sp>
      <p:sp>
        <p:nvSpPr>
          <p:cNvPr id="68" name="Text 58"/>
          <p:cNvSpPr txBox="1"/>
          <p:nvPr/>
        </p:nvSpPr>
        <p:spPr>
          <a:xfrm>
            <a:off x="5504688" y="3767328"/>
            <a:ext cx="1005840" cy="274320"/>
          </a:xfrm>
          <a:prstGeom prst="rect">
            <a:avLst/>
          </a:prstGeom>
          <a:noFill/>
          <a:ln/>
        </p:spPr>
        <p:txBody>
          <a:bodyPr wrap="square" lIns="0" tIns="0" rIns="0" bIns="0" rtlCol="0" anchor="t"/>
          <a:lstStyle/>
          <a:p>
            <a:pPr marL="0" indent="0">
              <a:buNone/>
            </a:pPr>
            <a:r>
              <a:rPr lang="en-US" sz="1400" b="1" dirty="0">
                <a:solidFill>
                  <a:srgbClr val="2DD4BF"/>
                </a:solidFill>
                <a:latin typeface="Calibri" pitchFamily="34" charset="0"/>
                <a:ea typeface="Calibri" pitchFamily="34" charset="-122"/>
                <a:cs typeface="Calibri" pitchFamily="34" charset="-120"/>
              </a:rPr>
              <a:t>PM10</a:t>
            </a:r>
            <a:endParaRPr lang="en-US" sz="1400" dirty="0"/>
          </a:p>
        </p:txBody>
      </p:sp>
      <p:sp>
        <p:nvSpPr>
          <p:cNvPr id="69" name="Shape 59"/>
          <p:cNvSpPr/>
          <p:nvPr/>
        </p:nvSpPr>
        <p:spPr>
          <a:xfrm>
            <a:off x="5504688" y="4206240"/>
            <a:ext cx="822960" cy="82296"/>
          </a:xfrm>
          <a:prstGeom prst="roundRect">
            <a:avLst>
              <a:gd name="adj" fmla="val 50000"/>
            </a:avLst>
          </a:prstGeom>
          <a:solidFill>
            <a:srgbClr val="23515F"/>
          </a:solidFill>
          <a:ln w="12700">
            <a:solidFill>
              <a:srgbClr val="23515F"/>
            </a:solidFill>
            <a:prstDash val="solid"/>
          </a:ln>
        </p:spPr>
      </p:sp>
      <p:sp>
        <p:nvSpPr>
          <p:cNvPr id="70" name="Shape 60"/>
          <p:cNvSpPr/>
          <p:nvPr/>
        </p:nvSpPr>
        <p:spPr>
          <a:xfrm>
            <a:off x="5504688" y="4434840"/>
            <a:ext cx="548640" cy="82296"/>
          </a:xfrm>
          <a:prstGeom prst="roundRect">
            <a:avLst>
              <a:gd name="adj" fmla="val 50000"/>
            </a:avLst>
          </a:prstGeom>
          <a:solidFill>
            <a:srgbClr val="23515F"/>
          </a:solidFill>
          <a:ln w="12700">
            <a:solidFill>
              <a:srgbClr val="23515F"/>
            </a:solidFill>
            <a:prstDash val="solid"/>
          </a:ln>
        </p:spPr>
      </p:sp>
      <p:sp>
        <p:nvSpPr>
          <p:cNvPr id="71" name="Shape 61"/>
          <p:cNvSpPr/>
          <p:nvPr/>
        </p:nvSpPr>
        <p:spPr>
          <a:xfrm>
            <a:off x="6766560" y="3657600"/>
            <a:ext cx="1261872" cy="1097280"/>
          </a:xfrm>
          <a:prstGeom prst="roundRect">
            <a:avLst>
              <a:gd name="adj" fmla="val 10000"/>
            </a:avLst>
          </a:prstGeom>
          <a:solidFill>
            <a:srgbClr val="12303D"/>
          </a:solidFill>
          <a:ln w="9525">
            <a:solidFill>
              <a:srgbClr val="23515F"/>
            </a:solidFill>
            <a:prstDash val="solid"/>
          </a:ln>
        </p:spPr>
      </p:sp>
      <p:sp>
        <p:nvSpPr>
          <p:cNvPr id="72" name="Text 62"/>
          <p:cNvSpPr txBox="1"/>
          <p:nvPr/>
        </p:nvSpPr>
        <p:spPr>
          <a:xfrm>
            <a:off x="6876288" y="3767328"/>
            <a:ext cx="1005840" cy="274320"/>
          </a:xfrm>
          <a:prstGeom prst="rect">
            <a:avLst/>
          </a:prstGeom>
          <a:noFill/>
          <a:ln/>
        </p:spPr>
        <p:txBody>
          <a:bodyPr wrap="square" lIns="0" tIns="0" rIns="0" bIns="0" rtlCol="0" anchor="t"/>
          <a:lstStyle/>
          <a:p>
            <a:pPr marL="0" indent="0">
              <a:buNone/>
            </a:pPr>
            <a:r>
              <a:rPr lang="en-US" sz="1400" b="1" dirty="0">
                <a:solidFill>
                  <a:srgbClr val="2DD4BF"/>
                </a:solidFill>
                <a:latin typeface="Calibri" pitchFamily="34" charset="0"/>
                <a:ea typeface="Calibri" pitchFamily="34" charset="-122"/>
                <a:cs typeface="Calibri" pitchFamily="34" charset="-120"/>
              </a:rPr>
              <a:t>NO₂</a:t>
            </a:r>
            <a:endParaRPr lang="en-US" sz="1400" dirty="0"/>
          </a:p>
        </p:txBody>
      </p:sp>
      <p:sp>
        <p:nvSpPr>
          <p:cNvPr id="73" name="Shape 63"/>
          <p:cNvSpPr/>
          <p:nvPr/>
        </p:nvSpPr>
        <p:spPr>
          <a:xfrm>
            <a:off x="6876288" y="4206240"/>
            <a:ext cx="822960" cy="82296"/>
          </a:xfrm>
          <a:prstGeom prst="roundRect">
            <a:avLst>
              <a:gd name="adj" fmla="val 50000"/>
            </a:avLst>
          </a:prstGeom>
          <a:solidFill>
            <a:srgbClr val="23515F"/>
          </a:solidFill>
          <a:ln w="12700">
            <a:solidFill>
              <a:srgbClr val="23515F"/>
            </a:solidFill>
            <a:prstDash val="solid"/>
          </a:ln>
        </p:spPr>
      </p:sp>
      <p:sp>
        <p:nvSpPr>
          <p:cNvPr id="74" name="Shape 64"/>
          <p:cNvSpPr/>
          <p:nvPr/>
        </p:nvSpPr>
        <p:spPr>
          <a:xfrm>
            <a:off x="6876288" y="4434840"/>
            <a:ext cx="548640" cy="82296"/>
          </a:xfrm>
          <a:prstGeom prst="roundRect">
            <a:avLst>
              <a:gd name="adj" fmla="val 50000"/>
            </a:avLst>
          </a:prstGeom>
          <a:solidFill>
            <a:srgbClr val="23515F"/>
          </a:solidFill>
          <a:ln w="12700">
            <a:solidFill>
              <a:srgbClr val="23515F"/>
            </a:solidFill>
            <a:prstDash val="solid"/>
          </a:ln>
        </p:spPr>
      </p:sp>
      <p:sp>
        <p:nvSpPr>
          <p:cNvPr id="75" name="Shape 65"/>
          <p:cNvSpPr/>
          <p:nvPr/>
        </p:nvSpPr>
        <p:spPr>
          <a:xfrm>
            <a:off x="4023360" y="4846320"/>
            <a:ext cx="1261872" cy="1097280"/>
          </a:xfrm>
          <a:prstGeom prst="roundRect">
            <a:avLst>
              <a:gd name="adj" fmla="val 10000"/>
            </a:avLst>
          </a:prstGeom>
          <a:solidFill>
            <a:srgbClr val="12303D"/>
          </a:solidFill>
          <a:ln w="9525">
            <a:solidFill>
              <a:srgbClr val="23515F"/>
            </a:solidFill>
            <a:prstDash val="solid"/>
          </a:ln>
        </p:spPr>
      </p:sp>
      <p:sp>
        <p:nvSpPr>
          <p:cNvPr id="76" name="Text 66"/>
          <p:cNvSpPr txBox="1"/>
          <p:nvPr/>
        </p:nvSpPr>
        <p:spPr>
          <a:xfrm>
            <a:off x="4133088" y="4956048"/>
            <a:ext cx="1005840" cy="274320"/>
          </a:xfrm>
          <a:prstGeom prst="rect">
            <a:avLst/>
          </a:prstGeom>
          <a:noFill/>
          <a:ln/>
        </p:spPr>
        <p:txBody>
          <a:bodyPr wrap="square" lIns="0" tIns="0" rIns="0" bIns="0" rtlCol="0" anchor="t"/>
          <a:lstStyle/>
          <a:p>
            <a:pPr marL="0" indent="0">
              <a:buNone/>
            </a:pPr>
            <a:r>
              <a:rPr lang="en-US" sz="1400" b="1" dirty="0">
                <a:solidFill>
                  <a:srgbClr val="2DD4BF"/>
                </a:solidFill>
                <a:latin typeface="Calibri" pitchFamily="34" charset="0"/>
                <a:ea typeface="Calibri" pitchFamily="34" charset="-122"/>
                <a:cs typeface="Calibri" pitchFamily="34" charset="-120"/>
              </a:rPr>
              <a:t>SO₂</a:t>
            </a:r>
            <a:endParaRPr lang="en-US" sz="1400" dirty="0"/>
          </a:p>
        </p:txBody>
      </p:sp>
      <p:sp>
        <p:nvSpPr>
          <p:cNvPr id="77" name="Shape 67"/>
          <p:cNvSpPr/>
          <p:nvPr/>
        </p:nvSpPr>
        <p:spPr>
          <a:xfrm>
            <a:off x="4133088" y="5394960"/>
            <a:ext cx="822960" cy="82296"/>
          </a:xfrm>
          <a:prstGeom prst="roundRect">
            <a:avLst>
              <a:gd name="adj" fmla="val 50000"/>
            </a:avLst>
          </a:prstGeom>
          <a:solidFill>
            <a:srgbClr val="23515F"/>
          </a:solidFill>
          <a:ln w="12700">
            <a:solidFill>
              <a:srgbClr val="23515F"/>
            </a:solidFill>
            <a:prstDash val="solid"/>
          </a:ln>
        </p:spPr>
      </p:sp>
      <p:sp>
        <p:nvSpPr>
          <p:cNvPr id="78" name="Shape 68"/>
          <p:cNvSpPr/>
          <p:nvPr/>
        </p:nvSpPr>
        <p:spPr>
          <a:xfrm>
            <a:off x="4133088" y="5623560"/>
            <a:ext cx="548640" cy="82296"/>
          </a:xfrm>
          <a:prstGeom prst="roundRect">
            <a:avLst>
              <a:gd name="adj" fmla="val 50000"/>
            </a:avLst>
          </a:prstGeom>
          <a:solidFill>
            <a:srgbClr val="23515F"/>
          </a:solidFill>
          <a:ln w="12700">
            <a:solidFill>
              <a:srgbClr val="23515F"/>
            </a:solidFill>
            <a:prstDash val="solid"/>
          </a:ln>
        </p:spPr>
      </p:sp>
      <p:sp>
        <p:nvSpPr>
          <p:cNvPr id="79" name="Shape 69"/>
          <p:cNvSpPr/>
          <p:nvPr/>
        </p:nvSpPr>
        <p:spPr>
          <a:xfrm>
            <a:off x="5394960" y="4846320"/>
            <a:ext cx="1261872" cy="1097280"/>
          </a:xfrm>
          <a:prstGeom prst="roundRect">
            <a:avLst>
              <a:gd name="adj" fmla="val 10000"/>
            </a:avLst>
          </a:prstGeom>
          <a:solidFill>
            <a:srgbClr val="12303D"/>
          </a:solidFill>
          <a:ln w="9525">
            <a:solidFill>
              <a:srgbClr val="23515F"/>
            </a:solidFill>
            <a:prstDash val="solid"/>
          </a:ln>
        </p:spPr>
      </p:sp>
      <p:sp>
        <p:nvSpPr>
          <p:cNvPr id="80" name="Text 70"/>
          <p:cNvSpPr txBox="1"/>
          <p:nvPr/>
        </p:nvSpPr>
        <p:spPr>
          <a:xfrm>
            <a:off x="5504688" y="4956048"/>
            <a:ext cx="1005840" cy="274320"/>
          </a:xfrm>
          <a:prstGeom prst="rect">
            <a:avLst/>
          </a:prstGeom>
          <a:noFill/>
          <a:ln/>
        </p:spPr>
        <p:txBody>
          <a:bodyPr wrap="square" lIns="0" tIns="0" rIns="0" bIns="0" rtlCol="0" anchor="t"/>
          <a:lstStyle/>
          <a:p>
            <a:pPr marL="0" indent="0">
              <a:buNone/>
            </a:pPr>
            <a:r>
              <a:rPr lang="en-US" sz="1400" b="1" dirty="0">
                <a:solidFill>
                  <a:srgbClr val="2DD4BF"/>
                </a:solidFill>
                <a:latin typeface="Calibri" pitchFamily="34" charset="0"/>
                <a:ea typeface="Calibri" pitchFamily="34" charset="-122"/>
                <a:cs typeface="Calibri" pitchFamily="34" charset="-120"/>
              </a:rPr>
              <a:t>CO</a:t>
            </a:r>
            <a:endParaRPr lang="en-US" sz="1400" dirty="0"/>
          </a:p>
        </p:txBody>
      </p:sp>
      <p:sp>
        <p:nvSpPr>
          <p:cNvPr id="81" name="Shape 71"/>
          <p:cNvSpPr/>
          <p:nvPr/>
        </p:nvSpPr>
        <p:spPr>
          <a:xfrm>
            <a:off x="5504688" y="5394960"/>
            <a:ext cx="822960" cy="82296"/>
          </a:xfrm>
          <a:prstGeom prst="roundRect">
            <a:avLst>
              <a:gd name="adj" fmla="val 50000"/>
            </a:avLst>
          </a:prstGeom>
          <a:solidFill>
            <a:srgbClr val="23515F"/>
          </a:solidFill>
          <a:ln w="12700">
            <a:solidFill>
              <a:srgbClr val="23515F"/>
            </a:solidFill>
            <a:prstDash val="solid"/>
          </a:ln>
        </p:spPr>
      </p:sp>
      <p:sp>
        <p:nvSpPr>
          <p:cNvPr id="82" name="Shape 72"/>
          <p:cNvSpPr/>
          <p:nvPr/>
        </p:nvSpPr>
        <p:spPr>
          <a:xfrm>
            <a:off x="5504688" y="5623560"/>
            <a:ext cx="548640" cy="82296"/>
          </a:xfrm>
          <a:prstGeom prst="roundRect">
            <a:avLst>
              <a:gd name="adj" fmla="val 50000"/>
            </a:avLst>
          </a:prstGeom>
          <a:solidFill>
            <a:srgbClr val="23515F"/>
          </a:solidFill>
          <a:ln w="12700">
            <a:solidFill>
              <a:srgbClr val="23515F"/>
            </a:solidFill>
            <a:prstDash val="solid"/>
          </a:ln>
        </p:spPr>
      </p:sp>
      <p:sp>
        <p:nvSpPr>
          <p:cNvPr id="83" name="Shape 73"/>
          <p:cNvSpPr/>
          <p:nvPr/>
        </p:nvSpPr>
        <p:spPr>
          <a:xfrm>
            <a:off x="6766560" y="4846320"/>
            <a:ext cx="1261872" cy="1097280"/>
          </a:xfrm>
          <a:prstGeom prst="roundRect">
            <a:avLst>
              <a:gd name="adj" fmla="val 10000"/>
            </a:avLst>
          </a:prstGeom>
          <a:solidFill>
            <a:srgbClr val="12303D"/>
          </a:solidFill>
          <a:ln w="9525">
            <a:solidFill>
              <a:srgbClr val="23515F"/>
            </a:solidFill>
            <a:prstDash val="solid"/>
          </a:ln>
        </p:spPr>
      </p:sp>
      <p:sp>
        <p:nvSpPr>
          <p:cNvPr id="84" name="Text 74"/>
          <p:cNvSpPr txBox="1"/>
          <p:nvPr/>
        </p:nvSpPr>
        <p:spPr>
          <a:xfrm>
            <a:off x="6876288" y="4956048"/>
            <a:ext cx="1005840" cy="274320"/>
          </a:xfrm>
          <a:prstGeom prst="rect">
            <a:avLst/>
          </a:prstGeom>
          <a:noFill/>
          <a:ln/>
        </p:spPr>
        <p:txBody>
          <a:bodyPr wrap="square" lIns="0" tIns="0" rIns="0" bIns="0" rtlCol="0" anchor="t"/>
          <a:lstStyle/>
          <a:p>
            <a:pPr marL="0" indent="0">
              <a:buNone/>
            </a:pPr>
            <a:r>
              <a:rPr lang="en-US" sz="1400" b="1" dirty="0">
                <a:solidFill>
                  <a:srgbClr val="2DD4BF"/>
                </a:solidFill>
                <a:latin typeface="Calibri" pitchFamily="34" charset="0"/>
                <a:ea typeface="Calibri" pitchFamily="34" charset="-122"/>
                <a:cs typeface="Calibri" pitchFamily="34" charset="-120"/>
              </a:rPr>
              <a:t>O₃</a:t>
            </a:r>
            <a:endParaRPr lang="en-US" sz="1400" dirty="0"/>
          </a:p>
        </p:txBody>
      </p:sp>
      <p:sp>
        <p:nvSpPr>
          <p:cNvPr id="85" name="Shape 75"/>
          <p:cNvSpPr/>
          <p:nvPr/>
        </p:nvSpPr>
        <p:spPr>
          <a:xfrm>
            <a:off x="6876288" y="5394960"/>
            <a:ext cx="822960" cy="82296"/>
          </a:xfrm>
          <a:prstGeom prst="roundRect">
            <a:avLst>
              <a:gd name="adj" fmla="val 50000"/>
            </a:avLst>
          </a:prstGeom>
          <a:solidFill>
            <a:srgbClr val="23515F"/>
          </a:solidFill>
          <a:ln w="12700">
            <a:solidFill>
              <a:srgbClr val="23515F"/>
            </a:solidFill>
            <a:prstDash val="solid"/>
          </a:ln>
        </p:spPr>
      </p:sp>
      <p:sp>
        <p:nvSpPr>
          <p:cNvPr id="86" name="Shape 76"/>
          <p:cNvSpPr/>
          <p:nvPr/>
        </p:nvSpPr>
        <p:spPr>
          <a:xfrm>
            <a:off x="6876288" y="5623560"/>
            <a:ext cx="548640" cy="82296"/>
          </a:xfrm>
          <a:prstGeom prst="roundRect">
            <a:avLst>
              <a:gd name="adj" fmla="val 50000"/>
            </a:avLst>
          </a:prstGeom>
          <a:solidFill>
            <a:srgbClr val="23515F"/>
          </a:solidFill>
          <a:ln w="12700">
            <a:solidFill>
              <a:srgbClr val="23515F"/>
            </a:solidFill>
            <a:prstDash val="solid"/>
          </a:ln>
        </p:spPr>
      </p:sp>
      <p:sp>
        <p:nvSpPr>
          <p:cNvPr id="87" name="Shape 77"/>
          <p:cNvSpPr/>
          <p:nvPr/>
        </p:nvSpPr>
        <p:spPr>
          <a:xfrm>
            <a:off x="8229600" y="3657600"/>
            <a:ext cx="3200400" cy="2286000"/>
          </a:xfrm>
          <a:prstGeom prst="roundRect">
            <a:avLst>
              <a:gd name="adj" fmla="val 4800"/>
            </a:avLst>
          </a:prstGeom>
          <a:solidFill>
            <a:srgbClr val="0F3A3D"/>
          </a:solidFill>
          <a:ln w="9525">
            <a:solidFill>
              <a:srgbClr val="2DD4BF"/>
            </a:solidFill>
            <a:prstDash val="solid"/>
          </a:ln>
        </p:spPr>
      </p:sp>
      <p:sp>
        <p:nvSpPr>
          <p:cNvPr id="88" name="Text 78"/>
          <p:cNvSpPr txBox="1"/>
          <p:nvPr/>
        </p:nvSpPr>
        <p:spPr>
          <a:xfrm>
            <a:off x="8412480" y="3767328"/>
            <a:ext cx="2743200" cy="274320"/>
          </a:xfrm>
          <a:prstGeom prst="rect">
            <a:avLst/>
          </a:prstGeom>
          <a:noFill/>
          <a:ln/>
        </p:spPr>
        <p:txBody>
          <a:bodyPr wrap="square" lIns="0" tIns="0" rIns="0" bIns="0" rtlCol="0" anchor="t"/>
          <a:lstStyle/>
          <a:p>
            <a:pPr marL="0" indent="0">
              <a:buNone/>
            </a:pPr>
            <a:r>
              <a:rPr lang="en-US" sz="1200" b="1" dirty="0">
                <a:solidFill>
                  <a:srgbClr val="2DD4BF"/>
                </a:solidFill>
                <a:latin typeface="Calibri" pitchFamily="34" charset="0"/>
                <a:ea typeface="Calibri" pitchFamily="34" charset="-122"/>
                <a:cs typeface="Calibri" pitchFamily="34" charset="-120"/>
              </a:rPr>
              <a:t>CleanAir AI Assistant</a:t>
            </a:r>
            <a:endParaRPr lang="en-US" sz="1200" dirty="0"/>
          </a:p>
        </p:txBody>
      </p:sp>
      <p:sp>
        <p:nvSpPr>
          <p:cNvPr id="89" name="Shape 79"/>
          <p:cNvSpPr/>
          <p:nvPr/>
        </p:nvSpPr>
        <p:spPr>
          <a:xfrm>
            <a:off x="9144000" y="4160520"/>
            <a:ext cx="2103120" cy="457200"/>
          </a:xfrm>
          <a:prstGeom prst="roundRect">
            <a:avLst>
              <a:gd name="adj" fmla="val 24000"/>
            </a:avLst>
          </a:prstGeom>
          <a:solidFill>
            <a:srgbClr val="2DD4BF"/>
          </a:solidFill>
          <a:ln w="12700">
            <a:solidFill>
              <a:srgbClr val="2DD4BF"/>
            </a:solidFill>
            <a:prstDash val="solid"/>
          </a:ln>
        </p:spPr>
      </p:sp>
      <p:sp>
        <p:nvSpPr>
          <p:cNvPr id="90" name="Text 80"/>
          <p:cNvSpPr txBox="1"/>
          <p:nvPr/>
        </p:nvSpPr>
        <p:spPr>
          <a:xfrm>
            <a:off x="9144000" y="4160520"/>
            <a:ext cx="2103120" cy="457200"/>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What does this AQI mean?</a:t>
            </a:r>
            <a:endParaRPr lang="en-US" sz="1100" dirty="0"/>
          </a:p>
        </p:txBody>
      </p:sp>
      <p:sp>
        <p:nvSpPr>
          <p:cNvPr id="91" name="Shape 81"/>
          <p:cNvSpPr/>
          <p:nvPr/>
        </p:nvSpPr>
        <p:spPr>
          <a:xfrm>
            <a:off x="8412480" y="4800600"/>
            <a:ext cx="2651760" cy="868680"/>
          </a:xfrm>
          <a:prstGeom prst="roundRect">
            <a:avLst>
              <a:gd name="adj" fmla="val 12632"/>
            </a:avLst>
          </a:prstGeom>
          <a:solidFill>
            <a:srgbClr val="12303D"/>
          </a:solidFill>
          <a:ln w="9525">
            <a:solidFill>
              <a:srgbClr val="23515F"/>
            </a:solidFill>
            <a:prstDash val="solid"/>
          </a:ln>
        </p:spPr>
      </p:sp>
      <p:sp>
        <p:nvSpPr>
          <p:cNvPr id="92" name="Shape 82"/>
          <p:cNvSpPr/>
          <p:nvPr/>
        </p:nvSpPr>
        <p:spPr>
          <a:xfrm>
            <a:off x="8549640" y="4956048"/>
            <a:ext cx="2377440" cy="82296"/>
          </a:xfrm>
          <a:prstGeom prst="roundRect">
            <a:avLst>
              <a:gd name="adj" fmla="val 50000"/>
            </a:avLst>
          </a:prstGeom>
          <a:solidFill>
            <a:srgbClr val="23515F"/>
          </a:solidFill>
          <a:ln w="12700">
            <a:solidFill>
              <a:srgbClr val="23515F"/>
            </a:solidFill>
            <a:prstDash val="solid"/>
          </a:ln>
        </p:spPr>
      </p:sp>
      <p:sp>
        <p:nvSpPr>
          <p:cNvPr id="93" name="Shape 83"/>
          <p:cNvSpPr/>
          <p:nvPr/>
        </p:nvSpPr>
        <p:spPr>
          <a:xfrm>
            <a:off x="8549640" y="5157216"/>
            <a:ext cx="2103120" cy="82296"/>
          </a:xfrm>
          <a:prstGeom prst="roundRect">
            <a:avLst>
              <a:gd name="adj" fmla="val 50000"/>
            </a:avLst>
          </a:prstGeom>
          <a:solidFill>
            <a:srgbClr val="23515F"/>
          </a:solidFill>
          <a:ln w="12700">
            <a:solidFill>
              <a:srgbClr val="23515F"/>
            </a:solidFill>
            <a:prstDash val="solid"/>
          </a:ln>
        </p:spPr>
      </p:sp>
      <p:sp>
        <p:nvSpPr>
          <p:cNvPr id="94" name="Shape 84"/>
          <p:cNvSpPr/>
          <p:nvPr/>
        </p:nvSpPr>
        <p:spPr>
          <a:xfrm>
            <a:off x="8549640" y="5358384"/>
            <a:ext cx="1463040" cy="82296"/>
          </a:xfrm>
          <a:prstGeom prst="roundRect">
            <a:avLst>
              <a:gd name="adj" fmla="val 50000"/>
            </a:avLst>
          </a:prstGeom>
          <a:solidFill>
            <a:srgbClr val="23515F"/>
          </a:solidFill>
          <a:ln w="12700">
            <a:solidFill>
              <a:srgbClr val="23515F"/>
            </a:solidFill>
            <a:prstDash val="solid"/>
          </a:ln>
        </p:spPr>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12 · PROJECT SCREENSHOTS · 1 / 3</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Project Screenshots: Dashboard &amp; Cities</a:t>
            </a:r>
            <a:endParaRPr lang="en-US" sz="3200" dirty="0"/>
          </a:p>
        </p:txBody>
      </p:sp>
      <p:sp>
        <p:nvSpPr>
          <p:cNvPr id="5" name="Shape 2"/>
          <p:cNvSpPr/>
          <p:nvPr/>
        </p:nvSpPr>
        <p:spPr>
          <a:xfrm>
            <a:off x="548640" y="1600200"/>
            <a:ext cx="5431536" cy="4160520"/>
          </a:xfrm>
          <a:prstGeom prst="roundRect">
            <a:avLst>
              <a:gd name="adj" fmla="val 2637"/>
            </a:avLst>
          </a:prstGeom>
          <a:solidFill>
            <a:srgbClr val="0F2733"/>
          </a:solidFill>
          <a:ln w="15875">
            <a:solidFill>
              <a:srgbClr val="2DD4BF"/>
            </a:solidFill>
            <a:prstDash val="dash"/>
          </a:ln>
        </p:spPr>
      </p:sp>
      <p:sp>
        <p:nvSpPr>
          <p:cNvPr id="6" name="Shape 3"/>
          <p:cNvSpPr/>
          <p:nvPr/>
        </p:nvSpPr>
        <p:spPr>
          <a:xfrm>
            <a:off x="2852928" y="2788920"/>
            <a:ext cx="822960" cy="822960"/>
          </a:xfrm>
          <a:prstGeom prst="ellipse">
            <a:avLst/>
          </a:prstGeom>
          <a:solidFill>
            <a:srgbClr val="0A1B26"/>
          </a:solidFill>
          <a:ln w="12700">
            <a:solidFill>
              <a:srgbClr val="0A1B26"/>
            </a:solidFill>
            <a:prstDash val="solid"/>
          </a:ln>
        </p:spPr>
      </p:sp>
      <p:pic>
        <p:nvPicPr>
          <p:cNvPr id="7" name="Image 0" descr="preencoded.png"/>
          <p:cNvPicPr>
            <a:picLocks noChangeAspect="1"/>
          </p:cNvPicPr>
          <p:nvPr/>
        </p:nvPicPr>
        <p:blipFill>
          <a:blip r:embed="rId3"/>
          <a:stretch>
            <a:fillRect/>
          </a:stretch>
        </p:blipFill>
        <p:spPr>
          <a:xfrm>
            <a:off x="3058668" y="2994660"/>
            <a:ext cx="411480" cy="411480"/>
          </a:xfrm>
          <a:prstGeom prst="rect">
            <a:avLst/>
          </a:prstGeom>
        </p:spPr>
      </p:pic>
      <p:sp>
        <p:nvSpPr>
          <p:cNvPr id="8" name="Text 4"/>
          <p:cNvSpPr txBox="1"/>
          <p:nvPr/>
        </p:nvSpPr>
        <p:spPr>
          <a:xfrm>
            <a:off x="548640" y="3794760"/>
            <a:ext cx="5431536"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libri" pitchFamily="34" charset="0"/>
                <a:ea typeface="Calibri" pitchFamily="34" charset="-122"/>
                <a:cs typeface="Calibri" pitchFamily="34" charset="-120"/>
              </a:rPr>
              <a:t>Live AQI Dashboard</a:t>
            </a:r>
            <a:endParaRPr lang="en-US" sz="2200" dirty="0"/>
          </a:p>
        </p:txBody>
      </p:sp>
      <p:sp>
        <p:nvSpPr>
          <p:cNvPr id="9" name="Text 5"/>
          <p:cNvSpPr txBox="1"/>
          <p:nvPr/>
        </p:nvSpPr>
        <p:spPr>
          <a:xfrm>
            <a:off x="548640" y="4297680"/>
            <a:ext cx="5431536" cy="320040"/>
          </a:xfrm>
          <a:prstGeom prst="rect">
            <a:avLst/>
          </a:prstGeom>
          <a:noFill/>
          <a:ln/>
        </p:spPr>
        <p:txBody>
          <a:bodyPr wrap="square" lIns="0" tIns="0" rIns="0" bIns="0" rtlCol="0" anchor="t"/>
          <a:lstStyle/>
          <a:p>
            <a:pPr marL="0" indent="0" algn="ctr">
              <a:buNone/>
            </a:pPr>
            <a:r>
              <a:rPr lang="en-US" sz="1400" i="1" dirty="0">
                <a:solidFill>
                  <a:srgbClr val="9DB7C1"/>
                </a:solidFill>
                <a:latin typeface="Calibri" pitchFamily="34" charset="0"/>
                <a:ea typeface="Calibri" pitchFamily="34" charset="-122"/>
                <a:cs typeface="Calibri" pitchFamily="34" charset="-120"/>
              </a:rPr>
              <a:t>Insert screenshot here</a:t>
            </a:r>
            <a:endParaRPr lang="en-US" sz="1400" dirty="0"/>
          </a:p>
        </p:txBody>
      </p:sp>
      <p:sp>
        <p:nvSpPr>
          <p:cNvPr id="10" name="Shape 6"/>
          <p:cNvSpPr/>
          <p:nvPr/>
        </p:nvSpPr>
        <p:spPr>
          <a:xfrm>
            <a:off x="6208776" y="1600200"/>
            <a:ext cx="5431536" cy="4160520"/>
          </a:xfrm>
          <a:prstGeom prst="roundRect">
            <a:avLst>
              <a:gd name="adj" fmla="val 2637"/>
            </a:avLst>
          </a:prstGeom>
          <a:solidFill>
            <a:srgbClr val="0F2733"/>
          </a:solidFill>
          <a:ln w="15875">
            <a:solidFill>
              <a:srgbClr val="2DD4BF"/>
            </a:solidFill>
            <a:prstDash val="dash"/>
          </a:ln>
        </p:spPr>
      </p:sp>
      <p:sp>
        <p:nvSpPr>
          <p:cNvPr id="11" name="Shape 7"/>
          <p:cNvSpPr/>
          <p:nvPr/>
        </p:nvSpPr>
        <p:spPr>
          <a:xfrm>
            <a:off x="8513064" y="2788920"/>
            <a:ext cx="822960" cy="822960"/>
          </a:xfrm>
          <a:prstGeom prst="ellipse">
            <a:avLst/>
          </a:prstGeom>
          <a:solidFill>
            <a:srgbClr val="0A1B26"/>
          </a:solidFill>
          <a:ln w="12700">
            <a:solidFill>
              <a:srgbClr val="0A1B26"/>
            </a:solidFill>
            <a:prstDash val="solid"/>
          </a:ln>
        </p:spPr>
      </p:sp>
      <p:pic>
        <p:nvPicPr>
          <p:cNvPr id="12" name="Image 1" descr="preencoded.png"/>
          <p:cNvPicPr>
            <a:picLocks noChangeAspect="1"/>
          </p:cNvPicPr>
          <p:nvPr/>
        </p:nvPicPr>
        <p:blipFill>
          <a:blip r:embed="rId4"/>
          <a:stretch>
            <a:fillRect/>
          </a:stretch>
        </p:blipFill>
        <p:spPr>
          <a:xfrm>
            <a:off x="8718804" y="2994660"/>
            <a:ext cx="411480" cy="411480"/>
          </a:xfrm>
          <a:prstGeom prst="rect">
            <a:avLst/>
          </a:prstGeom>
        </p:spPr>
      </p:pic>
      <p:sp>
        <p:nvSpPr>
          <p:cNvPr id="13" name="Text 8"/>
          <p:cNvSpPr txBox="1"/>
          <p:nvPr/>
        </p:nvSpPr>
        <p:spPr>
          <a:xfrm>
            <a:off x="6208776" y="3794760"/>
            <a:ext cx="5431536"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libri" pitchFamily="34" charset="0"/>
                <a:ea typeface="Calibri" pitchFamily="34" charset="-122"/>
                <a:cs typeface="Calibri" pitchFamily="34" charset="-120"/>
              </a:rPr>
              <a:t>Major Cities Catalog</a:t>
            </a:r>
            <a:endParaRPr lang="en-US" sz="2200" dirty="0"/>
          </a:p>
        </p:txBody>
      </p:sp>
      <p:sp>
        <p:nvSpPr>
          <p:cNvPr id="14" name="Text 9"/>
          <p:cNvSpPr txBox="1"/>
          <p:nvPr/>
        </p:nvSpPr>
        <p:spPr>
          <a:xfrm>
            <a:off x="6208776" y="4297680"/>
            <a:ext cx="5431536" cy="320040"/>
          </a:xfrm>
          <a:prstGeom prst="rect">
            <a:avLst/>
          </a:prstGeom>
          <a:noFill/>
          <a:ln/>
        </p:spPr>
        <p:txBody>
          <a:bodyPr wrap="square" lIns="0" tIns="0" rIns="0" bIns="0" rtlCol="0" anchor="t"/>
          <a:lstStyle/>
          <a:p>
            <a:pPr marL="0" indent="0" algn="ctr">
              <a:buNone/>
            </a:pPr>
            <a:r>
              <a:rPr lang="en-US" sz="1400" i="1" dirty="0">
                <a:solidFill>
                  <a:srgbClr val="9DB7C1"/>
                </a:solidFill>
                <a:latin typeface="Calibri" pitchFamily="34" charset="0"/>
                <a:ea typeface="Calibri" pitchFamily="34" charset="-122"/>
                <a:cs typeface="Calibri" pitchFamily="34" charset="-120"/>
              </a:rPr>
              <a:t>Insert screenshot here</a:t>
            </a:r>
            <a:endParaRPr lang="en-US" sz="1400" dirty="0"/>
          </a:p>
        </p:txBody>
      </p:sp>
      <p:sp>
        <p:nvSpPr>
          <p:cNvPr id="15" name="Text 10"/>
          <p:cNvSpPr txBox="1"/>
          <p:nvPr/>
        </p:nvSpPr>
        <p:spPr>
          <a:xfrm>
            <a:off x="548640" y="5989320"/>
            <a:ext cx="11091672" cy="274320"/>
          </a:xfrm>
          <a:prstGeom prst="rect">
            <a:avLst/>
          </a:prstGeom>
          <a:noFill/>
          <a:ln/>
        </p:spPr>
        <p:txBody>
          <a:bodyPr wrap="square" lIns="0" tIns="0" rIns="0" bIns="0" rtlCol="0" anchor="t"/>
          <a:lstStyle/>
          <a:p>
            <a:pPr marL="0" indent="0">
              <a:buNone/>
            </a:pPr>
            <a:r>
              <a:rPr lang="en-US" sz="1200" i="1" dirty="0">
                <a:solidFill>
                  <a:srgbClr val="9DB7C1"/>
                </a:solidFill>
                <a:latin typeface="Calibri" pitchFamily="34" charset="0"/>
                <a:ea typeface="Calibri" pitchFamily="34" charset="-122"/>
                <a:cs typeface="Calibri" pitchFamily="34" charset="-120"/>
              </a:rPr>
              <a:t>Placeholders only. Replace each frame with a real screenshot of the running application.</a:t>
            </a:r>
            <a:endParaRPr lang="en-US" sz="1200" dirty="0"/>
          </a:p>
        </p:txBody>
      </p:sp>
      <p:sp>
        <p:nvSpPr>
          <p:cNvPr id="25"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13</a:t>
            </a:fld>
            <a:endParaRPr lang="en-US"/>
          </a:p>
        </p:txBody>
      </p:sp>
      <p:pic>
        <p:nvPicPr>
          <p:cNvPr id="16" name="Picture 15">
            <a:extLst>
              <a:ext uri="{FF2B5EF4-FFF2-40B4-BE49-F238E27FC236}">
                <a16:creationId xmlns:a16="http://schemas.microsoft.com/office/drawing/2014/main" id="{B788DB80-E63A-56E8-6ADF-576AF25C11BA}"/>
              </a:ext>
            </a:extLst>
          </p:cNvPr>
          <p:cNvPicPr>
            <a:picLocks noChangeAspect="1"/>
          </p:cNvPicPr>
          <p:nvPr/>
        </p:nvPicPr>
        <p:blipFill>
          <a:blip r:embed="rId5"/>
          <a:stretch>
            <a:fillRect/>
          </a:stretch>
        </p:blipFill>
        <p:spPr>
          <a:xfrm>
            <a:off x="457200" y="1568541"/>
            <a:ext cx="5590995" cy="4192179"/>
          </a:xfrm>
          <a:prstGeom prst="rect">
            <a:avLst/>
          </a:prstGeom>
        </p:spPr>
      </p:pic>
      <p:pic>
        <p:nvPicPr>
          <p:cNvPr id="18" name="Picture 17">
            <a:extLst>
              <a:ext uri="{FF2B5EF4-FFF2-40B4-BE49-F238E27FC236}">
                <a16:creationId xmlns:a16="http://schemas.microsoft.com/office/drawing/2014/main" id="{C83903EA-3D48-DF65-E4D2-6FCFB6C15056}"/>
              </a:ext>
            </a:extLst>
          </p:cNvPr>
          <p:cNvPicPr>
            <a:picLocks noChangeAspect="1"/>
          </p:cNvPicPr>
          <p:nvPr/>
        </p:nvPicPr>
        <p:blipFill>
          <a:blip r:embed="rId6"/>
          <a:stretch>
            <a:fillRect/>
          </a:stretch>
        </p:blipFill>
        <p:spPr>
          <a:xfrm>
            <a:off x="6220727" y="1600200"/>
            <a:ext cx="5457615" cy="4160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12 · PROJECT SCREENSHOTS · 2 / 3</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Project Screenshots: Trends &amp; AI Assistant</a:t>
            </a:r>
            <a:endParaRPr lang="en-US" sz="3200" dirty="0"/>
          </a:p>
        </p:txBody>
      </p:sp>
      <p:sp>
        <p:nvSpPr>
          <p:cNvPr id="5" name="Shape 2"/>
          <p:cNvSpPr/>
          <p:nvPr/>
        </p:nvSpPr>
        <p:spPr>
          <a:xfrm>
            <a:off x="548640" y="1600200"/>
            <a:ext cx="5431536" cy="4160520"/>
          </a:xfrm>
          <a:prstGeom prst="roundRect">
            <a:avLst>
              <a:gd name="adj" fmla="val 2637"/>
            </a:avLst>
          </a:prstGeom>
          <a:solidFill>
            <a:srgbClr val="0F2733"/>
          </a:solidFill>
          <a:ln w="15875">
            <a:solidFill>
              <a:srgbClr val="2DD4BF"/>
            </a:solidFill>
            <a:prstDash val="dash"/>
          </a:ln>
        </p:spPr>
      </p:sp>
      <p:sp>
        <p:nvSpPr>
          <p:cNvPr id="6" name="Shape 3"/>
          <p:cNvSpPr/>
          <p:nvPr/>
        </p:nvSpPr>
        <p:spPr>
          <a:xfrm>
            <a:off x="2852928" y="2788920"/>
            <a:ext cx="822960" cy="822960"/>
          </a:xfrm>
          <a:prstGeom prst="ellipse">
            <a:avLst/>
          </a:prstGeom>
          <a:solidFill>
            <a:srgbClr val="0A1B26"/>
          </a:solidFill>
          <a:ln w="12700">
            <a:solidFill>
              <a:srgbClr val="0A1B26"/>
            </a:solidFill>
            <a:prstDash val="solid"/>
          </a:ln>
        </p:spPr>
      </p:sp>
      <p:pic>
        <p:nvPicPr>
          <p:cNvPr id="7" name="Image 0" descr="preencoded.png"/>
          <p:cNvPicPr>
            <a:picLocks noChangeAspect="1"/>
          </p:cNvPicPr>
          <p:nvPr/>
        </p:nvPicPr>
        <p:blipFill>
          <a:blip r:embed="rId3"/>
          <a:stretch>
            <a:fillRect/>
          </a:stretch>
        </p:blipFill>
        <p:spPr>
          <a:xfrm>
            <a:off x="3058668" y="2994660"/>
            <a:ext cx="411480" cy="411480"/>
          </a:xfrm>
          <a:prstGeom prst="rect">
            <a:avLst/>
          </a:prstGeom>
        </p:spPr>
      </p:pic>
      <p:sp>
        <p:nvSpPr>
          <p:cNvPr id="8" name="Text 4"/>
          <p:cNvSpPr txBox="1"/>
          <p:nvPr/>
        </p:nvSpPr>
        <p:spPr>
          <a:xfrm>
            <a:off x="548640" y="3794760"/>
            <a:ext cx="5431536"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libri" pitchFamily="34" charset="0"/>
                <a:ea typeface="Calibri" pitchFamily="34" charset="-122"/>
                <a:cs typeface="Calibri" pitchFamily="34" charset="-120"/>
              </a:rPr>
              <a:t>Historical Trends</a:t>
            </a:r>
            <a:endParaRPr lang="en-US" sz="2200" dirty="0"/>
          </a:p>
        </p:txBody>
      </p:sp>
      <p:sp>
        <p:nvSpPr>
          <p:cNvPr id="9" name="Text 5"/>
          <p:cNvSpPr txBox="1"/>
          <p:nvPr/>
        </p:nvSpPr>
        <p:spPr>
          <a:xfrm>
            <a:off x="548640" y="4297680"/>
            <a:ext cx="5431536" cy="320040"/>
          </a:xfrm>
          <a:prstGeom prst="rect">
            <a:avLst/>
          </a:prstGeom>
          <a:noFill/>
          <a:ln/>
        </p:spPr>
        <p:txBody>
          <a:bodyPr wrap="square" lIns="0" tIns="0" rIns="0" bIns="0" rtlCol="0" anchor="t"/>
          <a:lstStyle/>
          <a:p>
            <a:pPr marL="0" indent="0" algn="ctr">
              <a:buNone/>
            </a:pPr>
            <a:r>
              <a:rPr lang="en-US" sz="1400" i="1" dirty="0">
                <a:solidFill>
                  <a:srgbClr val="9DB7C1"/>
                </a:solidFill>
                <a:latin typeface="Calibri" pitchFamily="34" charset="0"/>
                <a:ea typeface="Calibri" pitchFamily="34" charset="-122"/>
                <a:cs typeface="Calibri" pitchFamily="34" charset="-120"/>
              </a:rPr>
              <a:t>Insert screenshot here</a:t>
            </a:r>
            <a:endParaRPr lang="en-US" sz="1400" dirty="0"/>
          </a:p>
        </p:txBody>
      </p:sp>
      <p:sp>
        <p:nvSpPr>
          <p:cNvPr id="10" name="Shape 6"/>
          <p:cNvSpPr/>
          <p:nvPr/>
        </p:nvSpPr>
        <p:spPr>
          <a:xfrm>
            <a:off x="6208776" y="1600200"/>
            <a:ext cx="5431536" cy="4160520"/>
          </a:xfrm>
          <a:prstGeom prst="roundRect">
            <a:avLst>
              <a:gd name="adj" fmla="val 2637"/>
            </a:avLst>
          </a:prstGeom>
          <a:solidFill>
            <a:srgbClr val="0F2733"/>
          </a:solidFill>
          <a:ln w="15875">
            <a:solidFill>
              <a:srgbClr val="2DD4BF"/>
            </a:solidFill>
            <a:prstDash val="dash"/>
          </a:ln>
        </p:spPr>
      </p:sp>
      <p:sp>
        <p:nvSpPr>
          <p:cNvPr id="11" name="Shape 7"/>
          <p:cNvSpPr/>
          <p:nvPr/>
        </p:nvSpPr>
        <p:spPr>
          <a:xfrm>
            <a:off x="8513064" y="2788920"/>
            <a:ext cx="822960" cy="822960"/>
          </a:xfrm>
          <a:prstGeom prst="ellipse">
            <a:avLst/>
          </a:prstGeom>
          <a:solidFill>
            <a:srgbClr val="0A1B26"/>
          </a:solidFill>
          <a:ln w="12700">
            <a:solidFill>
              <a:srgbClr val="0A1B26"/>
            </a:solidFill>
            <a:prstDash val="solid"/>
          </a:ln>
        </p:spPr>
      </p:sp>
      <p:pic>
        <p:nvPicPr>
          <p:cNvPr id="12" name="Image 1" descr="preencoded.png"/>
          <p:cNvPicPr>
            <a:picLocks noChangeAspect="1"/>
          </p:cNvPicPr>
          <p:nvPr/>
        </p:nvPicPr>
        <p:blipFill>
          <a:blip r:embed="rId4"/>
          <a:stretch>
            <a:fillRect/>
          </a:stretch>
        </p:blipFill>
        <p:spPr>
          <a:xfrm>
            <a:off x="8718804" y="2994660"/>
            <a:ext cx="411480" cy="411480"/>
          </a:xfrm>
          <a:prstGeom prst="rect">
            <a:avLst/>
          </a:prstGeom>
        </p:spPr>
      </p:pic>
      <p:sp>
        <p:nvSpPr>
          <p:cNvPr id="13" name="Text 8"/>
          <p:cNvSpPr txBox="1"/>
          <p:nvPr/>
        </p:nvSpPr>
        <p:spPr>
          <a:xfrm>
            <a:off x="6208776" y="3794760"/>
            <a:ext cx="5431536"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libri" pitchFamily="34" charset="0"/>
                <a:ea typeface="Calibri" pitchFamily="34" charset="-122"/>
                <a:cs typeface="Calibri" pitchFamily="34" charset="-120"/>
              </a:rPr>
              <a:t>AI Assistant</a:t>
            </a:r>
            <a:endParaRPr lang="en-US" sz="2200" dirty="0"/>
          </a:p>
        </p:txBody>
      </p:sp>
      <p:sp>
        <p:nvSpPr>
          <p:cNvPr id="14" name="Text 9"/>
          <p:cNvSpPr txBox="1"/>
          <p:nvPr/>
        </p:nvSpPr>
        <p:spPr>
          <a:xfrm>
            <a:off x="6208776" y="4297680"/>
            <a:ext cx="5431536" cy="320040"/>
          </a:xfrm>
          <a:prstGeom prst="rect">
            <a:avLst/>
          </a:prstGeom>
          <a:noFill/>
          <a:ln/>
        </p:spPr>
        <p:txBody>
          <a:bodyPr wrap="square" lIns="0" tIns="0" rIns="0" bIns="0" rtlCol="0" anchor="t"/>
          <a:lstStyle/>
          <a:p>
            <a:pPr marL="0" indent="0" algn="ctr">
              <a:buNone/>
            </a:pPr>
            <a:r>
              <a:rPr lang="en-US" sz="1400" i="1" dirty="0">
                <a:solidFill>
                  <a:srgbClr val="9DB7C1"/>
                </a:solidFill>
                <a:latin typeface="Calibri" pitchFamily="34" charset="0"/>
                <a:ea typeface="Calibri" pitchFamily="34" charset="-122"/>
                <a:cs typeface="Calibri" pitchFamily="34" charset="-120"/>
              </a:rPr>
              <a:t>Insert screenshot here</a:t>
            </a:r>
            <a:endParaRPr lang="en-US" sz="1400" dirty="0"/>
          </a:p>
        </p:txBody>
      </p:sp>
      <p:sp>
        <p:nvSpPr>
          <p:cNvPr id="15" name="Text 10"/>
          <p:cNvSpPr txBox="1"/>
          <p:nvPr/>
        </p:nvSpPr>
        <p:spPr>
          <a:xfrm>
            <a:off x="548640" y="5989320"/>
            <a:ext cx="11091672" cy="274320"/>
          </a:xfrm>
          <a:prstGeom prst="rect">
            <a:avLst/>
          </a:prstGeom>
          <a:noFill/>
          <a:ln/>
        </p:spPr>
        <p:txBody>
          <a:bodyPr wrap="square" lIns="0" tIns="0" rIns="0" bIns="0" rtlCol="0" anchor="t"/>
          <a:lstStyle/>
          <a:p>
            <a:pPr marL="0" indent="0">
              <a:buNone/>
            </a:pPr>
            <a:r>
              <a:rPr lang="en-US" sz="1200" i="1" dirty="0">
                <a:solidFill>
                  <a:srgbClr val="9DB7C1"/>
                </a:solidFill>
                <a:latin typeface="Calibri" pitchFamily="34" charset="0"/>
                <a:ea typeface="Calibri" pitchFamily="34" charset="-122"/>
                <a:cs typeface="Calibri" pitchFamily="34" charset="-120"/>
              </a:rPr>
              <a:t>Placeholders only. Replace each frame with a real screenshot of the running application.</a:t>
            </a:r>
            <a:endParaRPr lang="en-US" sz="1200" dirty="0"/>
          </a:p>
        </p:txBody>
      </p:sp>
      <p:sp>
        <p:nvSpPr>
          <p:cNvPr id="25"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14</a:t>
            </a:fld>
            <a:endParaRPr lang="en-US"/>
          </a:p>
        </p:txBody>
      </p:sp>
      <p:pic>
        <p:nvPicPr>
          <p:cNvPr id="16" name="Picture 15">
            <a:extLst>
              <a:ext uri="{FF2B5EF4-FFF2-40B4-BE49-F238E27FC236}">
                <a16:creationId xmlns:a16="http://schemas.microsoft.com/office/drawing/2014/main" id="{C3430D60-247A-F0C7-CC19-51686A35D00A}"/>
              </a:ext>
            </a:extLst>
          </p:cNvPr>
          <p:cNvPicPr>
            <a:picLocks noChangeAspect="1"/>
          </p:cNvPicPr>
          <p:nvPr/>
        </p:nvPicPr>
        <p:blipFill>
          <a:blip r:embed="rId5"/>
          <a:stretch>
            <a:fillRect/>
          </a:stretch>
        </p:blipFill>
        <p:spPr>
          <a:xfrm>
            <a:off x="548639" y="1600200"/>
            <a:ext cx="5454397" cy="4160519"/>
          </a:xfrm>
          <a:prstGeom prst="rect">
            <a:avLst/>
          </a:prstGeom>
        </p:spPr>
      </p:pic>
      <p:pic>
        <p:nvPicPr>
          <p:cNvPr id="18" name="Picture 17">
            <a:extLst>
              <a:ext uri="{FF2B5EF4-FFF2-40B4-BE49-F238E27FC236}">
                <a16:creationId xmlns:a16="http://schemas.microsoft.com/office/drawing/2014/main" id="{33690851-28F7-CC32-1C9E-18E7BC37E25C}"/>
              </a:ext>
            </a:extLst>
          </p:cNvPr>
          <p:cNvPicPr>
            <a:picLocks noChangeAspect="1"/>
          </p:cNvPicPr>
          <p:nvPr/>
        </p:nvPicPr>
        <p:blipFill>
          <a:blip r:embed="rId6"/>
          <a:stretch>
            <a:fillRect/>
          </a:stretch>
        </p:blipFill>
        <p:spPr>
          <a:xfrm>
            <a:off x="6231637" y="1600200"/>
            <a:ext cx="5472684" cy="41605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12 · PROJECT SCREENSHOTS · 3 / 3</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Project Screenshots: Comparison &amp; Ethics</a:t>
            </a:r>
            <a:endParaRPr lang="en-US" sz="3200" dirty="0"/>
          </a:p>
        </p:txBody>
      </p:sp>
      <p:sp>
        <p:nvSpPr>
          <p:cNvPr id="5" name="Shape 2"/>
          <p:cNvSpPr/>
          <p:nvPr/>
        </p:nvSpPr>
        <p:spPr>
          <a:xfrm>
            <a:off x="548640" y="1600200"/>
            <a:ext cx="5431536" cy="4160520"/>
          </a:xfrm>
          <a:prstGeom prst="roundRect">
            <a:avLst>
              <a:gd name="adj" fmla="val 2637"/>
            </a:avLst>
          </a:prstGeom>
          <a:solidFill>
            <a:srgbClr val="0F2733"/>
          </a:solidFill>
          <a:ln w="15875">
            <a:solidFill>
              <a:srgbClr val="2DD4BF"/>
            </a:solidFill>
            <a:prstDash val="dash"/>
          </a:ln>
        </p:spPr>
      </p:sp>
      <p:sp>
        <p:nvSpPr>
          <p:cNvPr id="6" name="Shape 3"/>
          <p:cNvSpPr/>
          <p:nvPr/>
        </p:nvSpPr>
        <p:spPr>
          <a:xfrm>
            <a:off x="2852928" y="2788920"/>
            <a:ext cx="822960" cy="822960"/>
          </a:xfrm>
          <a:prstGeom prst="ellipse">
            <a:avLst/>
          </a:prstGeom>
          <a:solidFill>
            <a:srgbClr val="0A1B26"/>
          </a:solidFill>
          <a:ln w="12700">
            <a:solidFill>
              <a:srgbClr val="0A1B26"/>
            </a:solidFill>
            <a:prstDash val="solid"/>
          </a:ln>
        </p:spPr>
      </p:sp>
      <p:pic>
        <p:nvPicPr>
          <p:cNvPr id="7" name="Image 0" descr="preencoded.png"/>
          <p:cNvPicPr>
            <a:picLocks noChangeAspect="1"/>
          </p:cNvPicPr>
          <p:nvPr/>
        </p:nvPicPr>
        <p:blipFill>
          <a:blip r:embed="rId3"/>
          <a:stretch>
            <a:fillRect/>
          </a:stretch>
        </p:blipFill>
        <p:spPr>
          <a:xfrm>
            <a:off x="3058668" y="2994660"/>
            <a:ext cx="411480" cy="411480"/>
          </a:xfrm>
          <a:prstGeom prst="rect">
            <a:avLst/>
          </a:prstGeom>
        </p:spPr>
      </p:pic>
      <p:sp>
        <p:nvSpPr>
          <p:cNvPr id="8" name="Text 4"/>
          <p:cNvSpPr txBox="1"/>
          <p:nvPr/>
        </p:nvSpPr>
        <p:spPr>
          <a:xfrm>
            <a:off x="548640" y="3794760"/>
            <a:ext cx="5431536"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libri" pitchFamily="34" charset="0"/>
                <a:ea typeface="Calibri" pitchFamily="34" charset="-122"/>
                <a:cs typeface="Calibri" pitchFamily="34" charset="-120"/>
              </a:rPr>
              <a:t>Multi-City Comparison</a:t>
            </a:r>
            <a:endParaRPr lang="en-US" sz="2200" dirty="0"/>
          </a:p>
        </p:txBody>
      </p:sp>
      <p:sp>
        <p:nvSpPr>
          <p:cNvPr id="9" name="Text 5"/>
          <p:cNvSpPr txBox="1"/>
          <p:nvPr/>
        </p:nvSpPr>
        <p:spPr>
          <a:xfrm>
            <a:off x="548640" y="4297680"/>
            <a:ext cx="5431536" cy="320040"/>
          </a:xfrm>
          <a:prstGeom prst="rect">
            <a:avLst/>
          </a:prstGeom>
          <a:noFill/>
          <a:ln/>
        </p:spPr>
        <p:txBody>
          <a:bodyPr wrap="square" lIns="0" tIns="0" rIns="0" bIns="0" rtlCol="0" anchor="t"/>
          <a:lstStyle/>
          <a:p>
            <a:pPr marL="0" indent="0" algn="ctr">
              <a:buNone/>
            </a:pPr>
            <a:r>
              <a:rPr lang="en-US" sz="1400" i="1" dirty="0">
                <a:solidFill>
                  <a:srgbClr val="9DB7C1"/>
                </a:solidFill>
                <a:latin typeface="Calibri" pitchFamily="34" charset="0"/>
                <a:ea typeface="Calibri" pitchFamily="34" charset="-122"/>
                <a:cs typeface="Calibri" pitchFamily="34" charset="-120"/>
              </a:rPr>
              <a:t>Insert screenshot here</a:t>
            </a:r>
            <a:endParaRPr lang="en-US" sz="1400" dirty="0"/>
          </a:p>
        </p:txBody>
      </p:sp>
      <p:sp>
        <p:nvSpPr>
          <p:cNvPr id="10" name="Shape 6"/>
          <p:cNvSpPr/>
          <p:nvPr/>
        </p:nvSpPr>
        <p:spPr>
          <a:xfrm>
            <a:off x="6208776" y="1600200"/>
            <a:ext cx="5431536" cy="4160520"/>
          </a:xfrm>
          <a:prstGeom prst="roundRect">
            <a:avLst>
              <a:gd name="adj" fmla="val 2637"/>
            </a:avLst>
          </a:prstGeom>
          <a:solidFill>
            <a:srgbClr val="0F2733"/>
          </a:solidFill>
          <a:ln w="15875">
            <a:solidFill>
              <a:srgbClr val="2DD4BF"/>
            </a:solidFill>
            <a:prstDash val="dash"/>
          </a:ln>
        </p:spPr>
      </p:sp>
      <p:sp>
        <p:nvSpPr>
          <p:cNvPr id="11" name="Shape 7"/>
          <p:cNvSpPr/>
          <p:nvPr/>
        </p:nvSpPr>
        <p:spPr>
          <a:xfrm>
            <a:off x="8513064" y="2788920"/>
            <a:ext cx="822960" cy="822960"/>
          </a:xfrm>
          <a:prstGeom prst="ellipse">
            <a:avLst/>
          </a:prstGeom>
          <a:solidFill>
            <a:srgbClr val="0A1B26"/>
          </a:solidFill>
          <a:ln w="12700">
            <a:solidFill>
              <a:srgbClr val="0A1B26"/>
            </a:solidFill>
            <a:prstDash val="solid"/>
          </a:ln>
        </p:spPr>
      </p:sp>
      <p:pic>
        <p:nvPicPr>
          <p:cNvPr id="12" name="Image 1" descr="preencoded.png"/>
          <p:cNvPicPr>
            <a:picLocks noChangeAspect="1"/>
          </p:cNvPicPr>
          <p:nvPr/>
        </p:nvPicPr>
        <p:blipFill>
          <a:blip r:embed="rId4"/>
          <a:stretch>
            <a:fillRect/>
          </a:stretch>
        </p:blipFill>
        <p:spPr>
          <a:xfrm>
            <a:off x="8718804" y="2994660"/>
            <a:ext cx="411480" cy="411480"/>
          </a:xfrm>
          <a:prstGeom prst="rect">
            <a:avLst/>
          </a:prstGeom>
        </p:spPr>
      </p:pic>
      <p:sp>
        <p:nvSpPr>
          <p:cNvPr id="13" name="Text 8"/>
          <p:cNvSpPr txBox="1"/>
          <p:nvPr/>
        </p:nvSpPr>
        <p:spPr>
          <a:xfrm>
            <a:off x="6208776" y="3794760"/>
            <a:ext cx="5431536"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alibri" pitchFamily="34" charset="0"/>
                <a:ea typeface="Calibri" pitchFamily="34" charset="-122"/>
                <a:cs typeface="Calibri" pitchFamily="34" charset="-120"/>
              </a:rPr>
              <a:t>Responsible AI &amp; Ethics Page</a:t>
            </a:r>
            <a:endParaRPr lang="en-US" sz="2200" dirty="0"/>
          </a:p>
        </p:txBody>
      </p:sp>
      <p:sp>
        <p:nvSpPr>
          <p:cNvPr id="14" name="Text 9"/>
          <p:cNvSpPr txBox="1"/>
          <p:nvPr/>
        </p:nvSpPr>
        <p:spPr>
          <a:xfrm>
            <a:off x="6208776" y="4297680"/>
            <a:ext cx="5431536" cy="320040"/>
          </a:xfrm>
          <a:prstGeom prst="rect">
            <a:avLst/>
          </a:prstGeom>
          <a:noFill/>
          <a:ln/>
        </p:spPr>
        <p:txBody>
          <a:bodyPr wrap="square" lIns="0" tIns="0" rIns="0" bIns="0" rtlCol="0" anchor="t"/>
          <a:lstStyle/>
          <a:p>
            <a:pPr marL="0" indent="0" algn="ctr">
              <a:buNone/>
            </a:pPr>
            <a:r>
              <a:rPr lang="en-US" sz="1400" i="1" dirty="0">
                <a:solidFill>
                  <a:srgbClr val="9DB7C1"/>
                </a:solidFill>
                <a:latin typeface="Calibri" pitchFamily="34" charset="0"/>
                <a:ea typeface="Calibri" pitchFamily="34" charset="-122"/>
                <a:cs typeface="Calibri" pitchFamily="34" charset="-120"/>
              </a:rPr>
              <a:t>Insert screenshot here</a:t>
            </a:r>
            <a:endParaRPr lang="en-US" sz="1400" dirty="0"/>
          </a:p>
        </p:txBody>
      </p:sp>
      <p:sp>
        <p:nvSpPr>
          <p:cNvPr id="15" name="Text 10"/>
          <p:cNvSpPr txBox="1"/>
          <p:nvPr/>
        </p:nvSpPr>
        <p:spPr>
          <a:xfrm>
            <a:off x="548640" y="5989320"/>
            <a:ext cx="11091672" cy="274320"/>
          </a:xfrm>
          <a:prstGeom prst="rect">
            <a:avLst/>
          </a:prstGeom>
          <a:noFill/>
          <a:ln/>
        </p:spPr>
        <p:txBody>
          <a:bodyPr wrap="square" lIns="0" tIns="0" rIns="0" bIns="0" rtlCol="0" anchor="t"/>
          <a:lstStyle/>
          <a:p>
            <a:pPr marL="0" indent="0">
              <a:buNone/>
            </a:pPr>
            <a:r>
              <a:rPr lang="en-US" sz="1200" i="1" dirty="0">
                <a:solidFill>
                  <a:srgbClr val="9DB7C1"/>
                </a:solidFill>
                <a:latin typeface="Calibri" pitchFamily="34" charset="0"/>
                <a:ea typeface="Calibri" pitchFamily="34" charset="-122"/>
                <a:cs typeface="Calibri" pitchFamily="34" charset="-120"/>
              </a:rPr>
              <a:t>Placeholders only. Replace each frame with a real screenshot of the running application.</a:t>
            </a:r>
            <a:endParaRPr lang="en-US" sz="1200" dirty="0"/>
          </a:p>
        </p:txBody>
      </p:sp>
      <p:sp>
        <p:nvSpPr>
          <p:cNvPr id="25"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15</a:t>
            </a:fld>
            <a:endParaRPr lang="en-US"/>
          </a:p>
        </p:txBody>
      </p:sp>
      <p:pic>
        <p:nvPicPr>
          <p:cNvPr id="16" name="Picture 15">
            <a:extLst>
              <a:ext uri="{FF2B5EF4-FFF2-40B4-BE49-F238E27FC236}">
                <a16:creationId xmlns:a16="http://schemas.microsoft.com/office/drawing/2014/main" id="{43F13F3D-462D-93BA-0ACE-640C25E4C255}"/>
              </a:ext>
            </a:extLst>
          </p:cNvPr>
          <p:cNvPicPr>
            <a:picLocks noChangeAspect="1"/>
          </p:cNvPicPr>
          <p:nvPr/>
        </p:nvPicPr>
        <p:blipFill>
          <a:blip r:embed="rId5"/>
          <a:stretch>
            <a:fillRect/>
          </a:stretch>
        </p:blipFill>
        <p:spPr>
          <a:xfrm>
            <a:off x="6208776" y="1572768"/>
            <a:ext cx="5697220" cy="4279392"/>
          </a:xfrm>
          <a:prstGeom prst="rect">
            <a:avLst/>
          </a:prstGeom>
        </p:spPr>
      </p:pic>
      <p:pic>
        <p:nvPicPr>
          <p:cNvPr id="20" name="Picture 19">
            <a:extLst>
              <a:ext uri="{FF2B5EF4-FFF2-40B4-BE49-F238E27FC236}">
                <a16:creationId xmlns:a16="http://schemas.microsoft.com/office/drawing/2014/main" id="{FE4C9CD0-28D1-7D14-BDFD-EBB0F779E92C}"/>
              </a:ext>
            </a:extLst>
          </p:cNvPr>
          <p:cNvPicPr>
            <a:picLocks noChangeAspect="1"/>
          </p:cNvPicPr>
          <p:nvPr/>
        </p:nvPicPr>
        <p:blipFill>
          <a:blip r:embed="rId6"/>
          <a:stretch>
            <a:fillRect/>
          </a:stretch>
        </p:blipFill>
        <p:spPr>
          <a:xfrm>
            <a:off x="548640" y="1600200"/>
            <a:ext cx="5454396" cy="4160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6C5960-E621-859F-7B60-0E664E79B45D}"/>
              </a:ext>
            </a:extLst>
          </p:cNvPr>
          <p:cNvPicPr>
            <a:picLocks noChangeAspect="1"/>
          </p:cNvPicPr>
          <p:nvPr/>
        </p:nvPicPr>
        <p:blipFill>
          <a:blip r:embed="rId2"/>
          <a:stretch>
            <a:fillRect/>
          </a:stretch>
        </p:blipFill>
        <p:spPr>
          <a:xfrm>
            <a:off x="320842" y="633662"/>
            <a:ext cx="11550316" cy="6224337"/>
          </a:xfrm>
          <a:prstGeom prst="rect">
            <a:avLst/>
          </a:prstGeom>
        </p:spPr>
      </p:pic>
      <p:sp>
        <p:nvSpPr>
          <p:cNvPr id="4" name="TextBox 3">
            <a:extLst>
              <a:ext uri="{FF2B5EF4-FFF2-40B4-BE49-F238E27FC236}">
                <a16:creationId xmlns:a16="http://schemas.microsoft.com/office/drawing/2014/main" id="{D298F46D-63DD-2946-6016-72CF7046729D}"/>
              </a:ext>
            </a:extLst>
          </p:cNvPr>
          <p:cNvSpPr txBox="1"/>
          <p:nvPr/>
        </p:nvSpPr>
        <p:spPr>
          <a:xfrm>
            <a:off x="2414337" y="176464"/>
            <a:ext cx="6497052" cy="369332"/>
          </a:xfrm>
          <a:prstGeom prst="rect">
            <a:avLst/>
          </a:prstGeom>
          <a:noFill/>
        </p:spPr>
        <p:txBody>
          <a:bodyPr wrap="square" rtlCol="0">
            <a:spAutoFit/>
          </a:bodyPr>
          <a:lstStyle/>
          <a:p>
            <a:pPr algn="ctr"/>
            <a:r>
              <a:rPr lang="en-IN" b="1" dirty="0"/>
              <a:t>Used IBM bob for project refinement</a:t>
            </a:r>
          </a:p>
        </p:txBody>
      </p:sp>
    </p:spTree>
    <p:extLst>
      <p:ext uri="{BB962C8B-B14F-4D97-AF65-F5344CB8AC3E}">
        <p14:creationId xmlns:p14="http://schemas.microsoft.com/office/powerpoint/2010/main" val="3608003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13 · RESPONSIBLE AI</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Responsible AI by Design</a:t>
            </a:r>
            <a:endParaRPr lang="en-US" sz="3200" dirty="0"/>
          </a:p>
        </p:txBody>
      </p:sp>
      <p:sp>
        <p:nvSpPr>
          <p:cNvPr id="5" name="Shape 2"/>
          <p:cNvSpPr/>
          <p:nvPr/>
        </p:nvSpPr>
        <p:spPr>
          <a:xfrm>
            <a:off x="548640" y="1600200"/>
            <a:ext cx="3566160" cy="1828800"/>
          </a:xfrm>
          <a:prstGeom prst="roundRect">
            <a:avLst>
              <a:gd name="adj" fmla="val 6000"/>
            </a:avLst>
          </a:prstGeom>
          <a:solidFill>
            <a:srgbClr val="12303D"/>
          </a:solidFill>
          <a:ln w="9525">
            <a:solidFill>
              <a:srgbClr val="23515F"/>
            </a:solidFill>
            <a:prstDash val="solid"/>
          </a:ln>
        </p:spPr>
      </p:sp>
      <p:sp>
        <p:nvSpPr>
          <p:cNvPr id="6" name="Shape 3"/>
          <p:cNvSpPr/>
          <p:nvPr/>
        </p:nvSpPr>
        <p:spPr>
          <a:xfrm>
            <a:off x="749808" y="1783080"/>
            <a:ext cx="566928" cy="566928"/>
          </a:xfrm>
          <a:prstGeom prst="ellipse">
            <a:avLst/>
          </a:prstGeom>
          <a:solidFill>
            <a:srgbClr val="0A1B26"/>
          </a:solidFill>
          <a:ln w="12700">
            <a:solidFill>
              <a:srgbClr val="0A1B26"/>
            </a:solidFill>
            <a:prstDash val="solid"/>
          </a:ln>
        </p:spPr>
      </p:sp>
      <p:pic>
        <p:nvPicPr>
          <p:cNvPr id="7" name="Image 0" descr="preencoded.png"/>
          <p:cNvPicPr>
            <a:picLocks noChangeAspect="1"/>
          </p:cNvPicPr>
          <p:nvPr/>
        </p:nvPicPr>
        <p:blipFill>
          <a:blip r:embed="rId3"/>
          <a:stretch>
            <a:fillRect/>
          </a:stretch>
        </p:blipFill>
        <p:spPr>
          <a:xfrm>
            <a:off x="891540" y="1924812"/>
            <a:ext cx="283464" cy="283464"/>
          </a:xfrm>
          <a:prstGeom prst="rect">
            <a:avLst/>
          </a:prstGeom>
        </p:spPr>
      </p:pic>
      <p:sp>
        <p:nvSpPr>
          <p:cNvPr id="8" name="Text 4"/>
          <p:cNvSpPr txBox="1"/>
          <p:nvPr/>
        </p:nvSpPr>
        <p:spPr>
          <a:xfrm>
            <a:off x="3474720"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01</a:t>
            </a:r>
            <a:endParaRPr lang="en-US" sz="1200" dirty="0"/>
          </a:p>
        </p:txBody>
      </p:sp>
      <p:sp>
        <p:nvSpPr>
          <p:cNvPr id="9" name="Text 5"/>
          <p:cNvSpPr txBox="1"/>
          <p:nvPr/>
        </p:nvSpPr>
        <p:spPr>
          <a:xfrm>
            <a:off x="1463040" y="1783080"/>
            <a:ext cx="21031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No Data Fabrication</a:t>
            </a:r>
            <a:endParaRPr lang="en-US" sz="1600" dirty="0"/>
          </a:p>
        </p:txBody>
      </p:sp>
      <p:sp>
        <p:nvSpPr>
          <p:cNvPr id="10" name="Text 6"/>
          <p:cNvSpPr txBox="1"/>
          <p:nvPr/>
        </p:nvSpPr>
        <p:spPr>
          <a:xfrm>
            <a:off x="749808" y="2514600"/>
            <a:ext cx="3200400" cy="594360"/>
          </a:xfrm>
          <a:prstGeom prst="rect">
            <a:avLst/>
          </a:prstGeom>
          <a:noFill/>
          <a:ln/>
        </p:spPr>
        <p:txBody>
          <a:bodyPr wrap="square" lIns="0" tIns="0" rIns="0" bIns="0" rtlCol="0" anchor="t"/>
          <a:lstStyle/>
          <a:p>
            <a:pPr marL="0" indent="0">
              <a:buNone/>
            </a:pPr>
            <a:r>
              <a:rPr lang="en-US" sz="1300" dirty="0">
                <a:solidFill>
                  <a:srgbClr val="9DB7C1"/>
                </a:solidFill>
                <a:latin typeface="Calibri" pitchFamily="34" charset="0"/>
                <a:ea typeface="Calibri" pitchFamily="34" charset="-122"/>
                <a:cs typeface="Calibri" pitchFamily="34" charset="-120"/>
              </a:rPr>
              <a:t>No artificial live readings or imaginary monitoring locations.</a:t>
            </a:r>
            <a:endParaRPr lang="en-US" sz="1300" dirty="0"/>
          </a:p>
        </p:txBody>
      </p:sp>
      <p:sp>
        <p:nvSpPr>
          <p:cNvPr id="11" name="Text 7"/>
          <p:cNvSpPr txBox="1"/>
          <p:nvPr/>
        </p:nvSpPr>
        <p:spPr>
          <a:xfrm>
            <a:off x="749808" y="3136392"/>
            <a:ext cx="2743200" cy="201168"/>
          </a:xfrm>
          <a:prstGeom prst="rect">
            <a:avLst/>
          </a:prstGeom>
          <a:noFill/>
          <a:ln/>
        </p:spPr>
        <p:txBody>
          <a:bodyPr wrap="square" lIns="0" tIns="0" rIns="0" bIns="0" rtlCol="0" anchor="t"/>
          <a:lstStyle/>
          <a:p>
            <a:pPr marL="0" indent="0">
              <a:buNone/>
            </a:pPr>
            <a:r>
              <a:rPr lang="en-US" sz="1000" b="1" kern="0" spc="200" dirty="0">
                <a:solidFill>
                  <a:srgbClr val="2DD4BF"/>
                </a:solidFill>
                <a:latin typeface="Calibri" pitchFamily="34" charset="0"/>
                <a:ea typeface="Calibri" pitchFamily="34" charset="-122"/>
                <a:cs typeface="Calibri" pitchFamily="34" charset="-120"/>
              </a:rPr>
              <a:t>ETHICS</a:t>
            </a:r>
            <a:endParaRPr lang="en-US" sz="1000" dirty="0"/>
          </a:p>
        </p:txBody>
      </p:sp>
      <p:sp>
        <p:nvSpPr>
          <p:cNvPr id="12" name="Shape 8"/>
          <p:cNvSpPr/>
          <p:nvPr/>
        </p:nvSpPr>
        <p:spPr>
          <a:xfrm>
            <a:off x="4311396" y="1600200"/>
            <a:ext cx="3566160" cy="1828800"/>
          </a:xfrm>
          <a:prstGeom prst="roundRect">
            <a:avLst>
              <a:gd name="adj" fmla="val 6000"/>
            </a:avLst>
          </a:prstGeom>
          <a:solidFill>
            <a:srgbClr val="12303D"/>
          </a:solidFill>
          <a:ln w="9525">
            <a:solidFill>
              <a:srgbClr val="23515F"/>
            </a:solidFill>
            <a:prstDash val="solid"/>
          </a:ln>
        </p:spPr>
      </p:sp>
      <p:sp>
        <p:nvSpPr>
          <p:cNvPr id="13" name="Shape 9"/>
          <p:cNvSpPr/>
          <p:nvPr/>
        </p:nvSpPr>
        <p:spPr>
          <a:xfrm>
            <a:off x="4512564" y="1783080"/>
            <a:ext cx="566928" cy="566928"/>
          </a:xfrm>
          <a:prstGeom prst="ellipse">
            <a:avLst/>
          </a:prstGeom>
          <a:solidFill>
            <a:srgbClr val="0A1B26"/>
          </a:solidFill>
          <a:ln w="12700">
            <a:solidFill>
              <a:srgbClr val="0A1B26"/>
            </a:solidFill>
            <a:prstDash val="solid"/>
          </a:ln>
        </p:spPr>
      </p:sp>
      <p:pic>
        <p:nvPicPr>
          <p:cNvPr id="14" name="Image 1" descr="preencoded.png"/>
          <p:cNvPicPr>
            <a:picLocks noChangeAspect="1"/>
          </p:cNvPicPr>
          <p:nvPr/>
        </p:nvPicPr>
        <p:blipFill>
          <a:blip r:embed="rId4"/>
          <a:stretch>
            <a:fillRect/>
          </a:stretch>
        </p:blipFill>
        <p:spPr>
          <a:xfrm>
            <a:off x="4654296" y="1924812"/>
            <a:ext cx="283464" cy="283464"/>
          </a:xfrm>
          <a:prstGeom prst="rect">
            <a:avLst/>
          </a:prstGeom>
        </p:spPr>
      </p:pic>
      <p:sp>
        <p:nvSpPr>
          <p:cNvPr id="15" name="Text 10"/>
          <p:cNvSpPr txBox="1"/>
          <p:nvPr/>
        </p:nvSpPr>
        <p:spPr>
          <a:xfrm>
            <a:off x="7237476"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02</a:t>
            </a:r>
            <a:endParaRPr lang="en-US" sz="1200" dirty="0"/>
          </a:p>
        </p:txBody>
      </p:sp>
      <p:sp>
        <p:nvSpPr>
          <p:cNvPr id="16" name="Text 11"/>
          <p:cNvSpPr txBox="1"/>
          <p:nvPr/>
        </p:nvSpPr>
        <p:spPr>
          <a:xfrm>
            <a:off x="5225796" y="1783080"/>
            <a:ext cx="21031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Grounding</a:t>
            </a:r>
            <a:endParaRPr lang="en-US" sz="1600" dirty="0"/>
          </a:p>
        </p:txBody>
      </p:sp>
      <p:sp>
        <p:nvSpPr>
          <p:cNvPr id="17" name="Text 12"/>
          <p:cNvSpPr txBox="1"/>
          <p:nvPr/>
        </p:nvSpPr>
        <p:spPr>
          <a:xfrm>
            <a:off x="4512564" y="2514600"/>
            <a:ext cx="3200400" cy="594360"/>
          </a:xfrm>
          <a:prstGeom prst="rect">
            <a:avLst/>
          </a:prstGeom>
          <a:noFill/>
          <a:ln/>
        </p:spPr>
        <p:txBody>
          <a:bodyPr wrap="square" lIns="0" tIns="0" rIns="0" bIns="0" rtlCol="0" anchor="t"/>
          <a:lstStyle/>
          <a:p>
            <a:pPr marL="0" indent="0">
              <a:buNone/>
            </a:pPr>
            <a:r>
              <a:rPr lang="en-US" sz="1300" dirty="0">
                <a:solidFill>
                  <a:srgbClr val="9DB7C1"/>
                </a:solidFill>
                <a:latin typeface="Calibri" pitchFamily="34" charset="0"/>
                <a:ea typeface="Calibri" pitchFamily="34" charset="-122"/>
                <a:cs typeface="Calibri" pitchFamily="34" charset="-120"/>
              </a:rPr>
              <a:t>AI responses use the current city's sensor telemetry as explicit context.</a:t>
            </a:r>
            <a:endParaRPr lang="en-US" sz="1300" dirty="0"/>
          </a:p>
        </p:txBody>
      </p:sp>
      <p:sp>
        <p:nvSpPr>
          <p:cNvPr id="18" name="Text 13"/>
          <p:cNvSpPr txBox="1"/>
          <p:nvPr/>
        </p:nvSpPr>
        <p:spPr>
          <a:xfrm>
            <a:off x="4512564" y="3136392"/>
            <a:ext cx="2743200" cy="201168"/>
          </a:xfrm>
          <a:prstGeom prst="rect">
            <a:avLst/>
          </a:prstGeom>
          <a:noFill/>
          <a:ln/>
        </p:spPr>
        <p:txBody>
          <a:bodyPr wrap="square" lIns="0" tIns="0" rIns="0" bIns="0" rtlCol="0" anchor="t"/>
          <a:lstStyle/>
          <a:p>
            <a:pPr marL="0" indent="0">
              <a:buNone/>
            </a:pPr>
            <a:r>
              <a:rPr lang="en-US" sz="1000" b="1" kern="0" spc="200" dirty="0">
                <a:solidFill>
                  <a:srgbClr val="2DD4BF"/>
                </a:solidFill>
                <a:latin typeface="Calibri" pitchFamily="34" charset="0"/>
                <a:ea typeface="Calibri" pitchFamily="34" charset="-122"/>
                <a:cs typeface="Calibri" pitchFamily="34" charset="-120"/>
              </a:rPr>
              <a:t>TRANSPARENCY</a:t>
            </a:r>
            <a:endParaRPr lang="en-US" sz="1000" dirty="0"/>
          </a:p>
        </p:txBody>
      </p:sp>
      <p:sp>
        <p:nvSpPr>
          <p:cNvPr id="19" name="Shape 14"/>
          <p:cNvSpPr/>
          <p:nvPr/>
        </p:nvSpPr>
        <p:spPr>
          <a:xfrm>
            <a:off x="8074152" y="1600200"/>
            <a:ext cx="3566160" cy="1828800"/>
          </a:xfrm>
          <a:prstGeom prst="roundRect">
            <a:avLst>
              <a:gd name="adj" fmla="val 6000"/>
            </a:avLst>
          </a:prstGeom>
          <a:solidFill>
            <a:srgbClr val="12303D"/>
          </a:solidFill>
          <a:ln w="9525">
            <a:solidFill>
              <a:srgbClr val="23515F"/>
            </a:solidFill>
            <a:prstDash val="solid"/>
          </a:ln>
        </p:spPr>
      </p:sp>
      <p:sp>
        <p:nvSpPr>
          <p:cNvPr id="20" name="Shape 15"/>
          <p:cNvSpPr/>
          <p:nvPr/>
        </p:nvSpPr>
        <p:spPr>
          <a:xfrm>
            <a:off x="8275320" y="1783080"/>
            <a:ext cx="566928" cy="566928"/>
          </a:xfrm>
          <a:prstGeom prst="ellipse">
            <a:avLst/>
          </a:prstGeom>
          <a:solidFill>
            <a:srgbClr val="0A1B26"/>
          </a:solidFill>
          <a:ln w="12700">
            <a:solidFill>
              <a:srgbClr val="0A1B26"/>
            </a:solidFill>
            <a:prstDash val="solid"/>
          </a:ln>
        </p:spPr>
      </p:sp>
      <p:pic>
        <p:nvPicPr>
          <p:cNvPr id="21" name="Image 2" descr="preencoded.png"/>
          <p:cNvPicPr>
            <a:picLocks noChangeAspect="1"/>
          </p:cNvPicPr>
          <p:nvPr/>
        </p:nvPicPr>
        <p:blipFill>
          <a:blip r:embed="rId5"/>
          <a:stretch>
            <a:fillRect/>
          </a:stretch>
        </p:blipFill>
        <p:spPr>
          <a:xfrm>
            <a:off x="8417052" y="1924812"/>
            <a:ext cx="283464" cy="283464"/>
          </a:xfrm>
          <a:prstGeom prst="rect">
            <a:avLst/>
          </a:prstGeom>
        </p:spPr>
      </p:pic>
      <p:sp>
        <p:nvSpPr>
          <p:cNvPr id="22" name="Text 16"/>
          <p:cNvSpPr txBox="1"/>
          <p:nvPr/>
        </p:nvSpPr>
        <p:spPr>
          <a:xfrm>
            <a:off x="11000232" y="178308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03</a:t>
            </a:r>
            <a:endParaRPr lang="en-US" sz="1200" dirty="0"/>
          </a:p>
        </p:txBody>
      </p:sp>
      <p:sp>
        <p:nvSpPr>
          <p:cNvPr id="23" name="Text 17"/>
          <p:cNvSpPr txBox="1"/>
          <p:nvPr/>
        </p:nvSpPr>
        <p:spPr>
          <a:xfrm>
            <a:off x="8988552" y="1783080"/>
            <a:ext cx="21031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Transparency</a:t>
            </a:r>
            <a:endParaRPr lang="en-US" sz="1600" dirty="0"/>
          </a:p>
        </p:txBody>
      </p:sp>
      <p:sp>
        <p:nvSpPr>
          <p:cNvPr id="24" name="Text 18"/>
          <p:cNvSpPr txBox="1"/>
          <p:nvPr/>
        </p:nvSpPr>
        <p:spPr>
          <a:xfrm>
            <a:off x="8275320" y="2514600"/>
            <a:ext cx="3200400" cy="594360"/>
          </a:xfrm>
          <a:prstGeom prst="rect">
            <a:avLst/>
          </a:prstGeom>
          <a:noFill/>
          <a:ln/>
        </p:spPr>
        <p:txBody>
          <a:bodyPr wrap="square" lIns="0" tIns="0" rIns="0" bIns="0" rtlCol="0" anchor="t"/>
          <a:lstStyle/>
          <a:p>
            <a:pPr marL="0" indent="0">
              <a:buNone/>
            </a:pPr>
            <a:r>
              <a:rPr lang="en-US" sz="1300" dirty="0">
                <a:solidFill>
                  <a:srgbClr val="9DB7C1"/>
                </a:solidFill>
                <a:latin typeface="Calibri" pitchFamily="34" charset="0"/>
                <a:ea typeface="Calibri" pitchFamily="34" charset="-122"/>
                <a:cs typeface="Calibri" pitchFamily="34" charset="-120"/>
              </a:rPr>
              <a:t>Data provenance and system limitations are documented.</a:t>
            </a:r>
            <a:endParaRPr lang="en-US" sz="1300" dirty="0"/>
          </a:p>
        </p:txBody>
      </p:sp>
      <p:sp>
        <p:nvSpPr>
          <p:cNvPr id="25" name="Text 19"/>
          <p:cNvSpPr txBox="1"/>
          <p:nvPr/>
        </p:nvSpPr>
        <p:spPr>
          <a:xfrm>
            <a:off x="8275320" y="3136392"/>
            <a:ext cx="2743200" cy="201168"/>
          </a:xfrm>
          <a:prstGeom prst="rect">
            <a:avLst/>
          </a:prstGeom>
          <a:noFill/>
          <a:ln/>
        </p:spPr>
        <p:txBody>
          <a:bodyPr wrap="square" lIns="0" tIns="0" rIns="0" bIns="0" rtlCol="0" anchor="t"/>
          <a:lstStyle/>
          <a:p>
            <a:pPr marL="0" indent="0">
              <a:buNone/>
            </a:pPr>
            <a:r>
              <a:rPr lang="en-US" sz="1000" b="1" kern="0" spc="200" dirty="0">
                <a:solidFill>
                  <a:srgbClr val="2DD4BF"/>
                </a:solidFill>
                <a:latin typeface="Calibri" pitchFamily="34" charset="0"/>
                <a:ea typeface="Calibri" pitchFamily="34" charset="-122"/>
                <a:cs typeface="Calibri" pitchFamily="34" charset="-120"/>
              </a:rPr>
              <a:t>TRANSPARENCY</a:t>
            </a:r>
            <a:endParaRPr lang="en-US" sz="1000" dirty="0"/>
          </a:p>
        </p:txBody>
      </p:sp>
      <p:sp>
        <p:nvSpPr>
          <p:cNvPr id="26" name="Shape 20"/>
          <p:cNvSpPr/>
          <p:nvPr/>
        </p:nvSpPr>
        <p:spPr>
          <a:xfrm>
            <a:off x="548640" y="3611880"/>
            <a:ext cx="3566160" cy="1828800"/>
          </a:xfrm>
          <a:prstGeom prst="roundRect">
            <a:avLst>
              <a:gd name="adj" fmla="val 6000"/>
            </a:avLst>
          </a:prstGeom>
          <a:solidFill>
            <a:srgbClr val="12303D"/>
          </a:solidFill>
          <a:ln w="9525">
            <a:solidFill>
              <a:srgbClr val="23515F"/>
            </a:solidFill>
            <a:prstDash val="solid"/>
          </a:ln>
        </p:spPr>
      </p:sp>
      <p:sp>
        <p:nvSpPr>
          <p:cNvPr id="27" name="Shape 21"/>
          <p:cNvSpPr/>
          <p:nvPr/>
        </p:nvSpPr>
        <p:spPr>
          <a:xfrm>
            <a:off x="749808" y="3794760"/>
            <a:ext cx="566928" cy="566928"/>
          </a:xfrm>
          <a:prstGeom prst="ellipse">
            <a:avLst/>
          </a:prstGeom>
          <a:solidFill>
            <a:srgbClr val="0A1B26"/>
          </a:solidFill>
          <a:ln w="12700">
            <a:solidFill>
              <a:srgbClr val="0A1B26"/>
            </a:solidFill>
            <a:prstDash val="solid"/>
          </a:ln>
        </p:spPr>
      </p:sp>
      <p:pic>
        <p:nvPicPr>
          <p:cNvPr id="28" name="Image 3" descr="preencoded.png"/>
          <p:cNvPicPr>
            <a:picLocks noChangeAspect="1"/>
          </p:cNvPicPr>
          <p:nvPr/>
        </p:nvPicPr>
        <p:blipFill>
          <a:blip r:embed="rId6"/>
          <a:stretch>
            <a:fillRect/>
          </a:stretch>
        </p:blipFill>
        <p:spPr>
          <a:xfrm>
            <a:off x="891540" y="3936492"/>
            <a:ext cx="283464" cy="283464"/>
          </a:xfrm>
          <a:prstGeom prst="rect">
            <a:avLst/>
          </a:prstGeom>
        </p:spPr>
      </p:pic>
      <p:sp>
        <p:nvSpPr>
          <p:cNvPr id="29" name="Text 22"/>
          <p:cNvSpPr txBox="1"/>
          <p:nvPr/>
        </p:nvSpPr>
        <p:spPr>
          <a:xfrm>
            <a:off x="3474720" y="379476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04</a:t>
            </a:r>
            <a:endParaRPr lang="en-US" sz="1200" dirty="0"/>
          </a:p>
        </p:txBody>
      </p:sp>
      <p:sp>
        <p:nvSpPr>
          <p:cNvPr id="30" name="Text 23"/>
          <p:cNvSpPr txBox="1"/>
          <p:nvPr/>
        </p:nvSpPr>
        <p:spPr>
          <a:xfrm>
            <a:off x="1463040" y="3794760"/>
            <a:ext cx="21031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Safety</a:t>
            </a:r>
            <a:endParaRPr lang="en-US" sz="1600" dirty="0"/>
          </a:p>
        </p:txBody>
      </p:sp>
      <p:sp>
        <p:nvSpPr>
          <p:cNvPr id="31" name="Text 24"/>
          <p:cNvSpPr txBox="1"/>
          <p:nvPr/>
        </p:nvSpPr>
        <p:spPr>
          <a:xfrm>
            <a:off x="749808" y="4526280"/>
            <a:ext cx="3200400" cy="594360"/>
          </a:xfrm>
          <a:prstGeom prst="rect">
            <a:avLst/>
          </a:prstGeom>
          <a:noFill/>
          <a:ln/>
        </p:spPr>
        <p:txBody>
          <a:bodyPr wrap="square" lIns="0" tIns="0" rIns="0" bIns="0" rtlCol="0" anchor="t"/>
          <a:lstStyle/>
          <a:p>
            <a:pPr marL="0" indent="0">
              <a:buNone/>
            </a:pPr>
            <a:r>
              <a:rPr lang="en-US" sz="1300" dirty="0">
                <a:solidFill>
                  <a:srgbClr val="9DB7C1"/>
                </a:solidFill>
                <a:latin typeface="Calibri" pitchFamily="34" charset="0"/>
                <a:ea typeface="Calibri" pitchFamily="34" charset="-122"/>
                <a:cs typeface="Calibri" pitchFamily="34" charset="-120"/>
              </a:rPr>
              <a:t>The assistant does not provide medical diagnoses. Information is for awareness only.</a:t>
            </a:r>
            <a:endParaRPr lang="en-US" sz="1300" dirty="0"/>
          </a:p>
        </p:txBody>
      </p:sp>
      <p:sp>
        <p:nvSpPr>
          <p:cNvPr id="32" name="Text 25"/>
          <p:cNvSpPr txBox="1"/>
          <p:nvPr/>
        </p:nvSpPr>
        <p:spPr>
          <a:xfrm>
            <a:off x="749808" y="5148072"/>
            <a:ext cx="2743200" cy="201168"/>
          </a:xfrm>
          <a:prstGeom prst="rect">
            <a:avLst/>
          </a:prstGeom>
          <a:noFill/>
          <a:ln/>
        </p:spPr>
        <p:txBody>
          <a:bodyPr wrap="square" lIns="0" tIns="0" rIns="0" bIns="0" rtlCol="0" anchor="t"/>
          <a:lstStyle/>
          <a:p>
            <a:pPr marL="0" indent="0">
              <a:buNone/>
            </a:pPr>
            <a:r>
              <a:rPr lang="en-US" sz="1000" b="1" kern="0" spc="200" dirty="0">
                <a:solidFill>
                  <a:srgbClr val="2DD4BF"/>
                </a:solidFill>
                <a:latin typeface="Calibri" pitchFamily="34" charset="0"/>
                <a:ea typeface="Calibri" pitchFamily="34" charset="-122"/>
                <a:cs typeface="Calibri" pitchFamily="34" charset="-120"/>
              </a:rPr>
              <a:t>ETHICS</a:t>
            </a:r>
            <a:endParaRPr lang="en-US" sz="1000" dirty="0"/>
          </a:p>
        </p:txBody>
      </p:sp>
      <p:sp>
        <p:nvSpPr>
          <p:cNvPr id="33" name="Shape 26"/>
          <p:cNvSpPr/>
          <p:nvPr/>
        </p:nvSpPr>
        <p:spPr>
          <a:xfrm>
            <a:off x="4311396" y="3611880"/>
            <a:ext cx="3566160" cy="1828800"/>
          </a:xfrm>
          <a:prstGeom prst="roundRect">
            <a:avLst>
              <a:gd name="adj" fmla="val 6000"/>
            </a:avLst>
          </a:prstGeom>
          <a:solidFill>
            <a:srgbClr val="12303D"/>
          </a:solidFill>
          <a:ln w="9525">
            <a:solidFill>
              <a:srgbClr val="23515F"/>
            </a:solidFill>
            <a:prstDash val="solid"/>
          </a:ln>
        </p:spPr>
      </p:sp>
      <p:sp>
        <p:nvSpPr>
          <p:cNvPr id="34" name="Shape 27"/>
          <p:cNvSpPr/>
          <p:nvPr/>
        </p:nvSpPr>
        <p:spPr>
          <a:xfrm>
            <a:off x="4512564" y="3794760"/>
            <a:ext cx="566928" cy="566928"/>
          </a:xfrm>
          <a:prstGeom prst="ellipse">
            <a:avLst/>
          </a:prstGeom>
          <a:solidFill>
            <a:srgbClr val="0A1B26"/>
          </a:solidFill>
          <a:ln w="12700">
            <a:solidFill>
              <a:srgbClr val="0A1B26"/>
            </a:solidFill>
            <a:prstDash val="solid"/>
          </a:ln>
        </p:spPr>
      </p:sp>
      <p:pic>
        <p:nvPicPr>
          <p:cNvPr id="35" name="Image 4" descr="preencoded.png"/>
          <p:cNvPicPr>
            <a:picLocks noChangeAspect="1"/>
          </p:cNvPicPr>
          <p:nvPr/>
        </p:nvPicPr>
        <p:blipFill>
          <a:blip r:embed="rId7"/>
          <a:stretch>
            <a:fillRect/>
          </a:stretch>
        </p:blipFill>
        <p:spPr>
          <a:xfrm>
            <a:off x="4654296" y="3936492"/>
            <a:ext cx="283464" cy="283464"/>
          </a:xfrm>
          <a:prstGeom prst="rect">
            <a:avLst/>
          </a:prstGeom>
        </p:spPr>
      </p:pic>
      <p:sp>
        <p:nvSpPr>
          <p:cNvPr id="36" name="Text 28"/>
          <p:cNvSpPr txBox="1"/>
          <p:nvPr/>
        </p:nvSpPr>
        <p:spPr>
          <a:xfrm>
            <a:off x="7237476" y="379476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05</a:t>
            </a:r>
            <a:endParaRPr lang="en-US" sz="1200" dirty="0"/>
          </a:p>
        </p:txBody>
      </p:sp>
      <p:sp>
        <p:nvSpPr>
          <p:cNvPr id="37" name="Text 29"/>
          <p:cNvSpPr txBox="1"/>
          <p:nvPr/>
        </p:nvSpPr>
        <p:spPr>
          <a:xfrm>
            <a:off x="5225796" y="3794760"/>
            <a:ext cx="21031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Privacy &amp; Security</a:t>
            </a:r>
            <a:endParaRPr lang="en-US" sz="1600" dirty="0"/>
          </a:p>
        </p:txBody>
      </p:sp>
      <p:sp>
        <p:nvSpPr>
          <p:cNvPr id="38" name="Text 30"/>
          <p:cNvSpPr txBox="1"/>
          <p:nvPr/>
        </p:nvSpPr>
        <p:spPr>
          <a:xfrm>
            <a:off x="4512564" y="4526280"/>
            <a:ext cx="3200400" cy="594360"/>
          </a:xfrm>
          <a:prstGeom prst="rect">
            <a:avLst/>
          </a:prstGeom>
          <a:noFill/>
          <a:ln/>
        </p:spPr>
        <p:txBody>
          <a:bodyPr wrap="square" lIns="0" tIns="0" rIns="0" bIns="0" rtlCol="0" anchor="t"/>
          <a:lstStyle/>
          <a:p>
            <a:pPr marL="0" indent="0">
              <a:buNone/>
            </a:pPr>
            <a:r>
              <a:rPr lang="en-US" sz="1300" dirty="0">
                <a:solidFill>
                  <a:srgbClr val="9DB7C1"/>
                </a:solidFill>
                <a:latin typeface="Calibri" pitchFamily="34" charset="0"/>
                <a:ea typeface="Calibri" pitchFamily="34" charset="-122"/>
                <a:cs typeface="Calibri" pitchFamily="34" charset="-120"/>
              </a:rPr>
              <a:t>API credentials remain server-side and are never exposed to the frontend.</a:t>
            </a:r>
            <a:endParaRPr lang="en-US" sz="1300" dirty="0"/>
          </a:p>
        </p:txBody>
      </p:sp>
      <p:sp>
        <p:nvSpPr>
          <p:cNvPr id="39" name="Text 31"/>
          <p:cNvSpPr txBox="1"/>
          <p:nvPr/>
        </p:nvSpPr>
        <p:spPr>
          <a:xfrm>
            <a:off x="4512564" y="5148072"/>
            <a:ext cx="2743200" cy="201168"/>
          </a:xfrm>
          <a:prstGeom prst="rect">
            <a:avLst/>
          </a:prstGeom>
          <a:noFill/>
          <a:ln/>
        </p:spPr>
        <p:txBody>
          <a:bodyPr wrap="square" lIns="0" tIns="0" rIns="0" bIns="0" rtlCol="0" anchor="t"/>
          <a:lstStyle/>
          <a:p>
            <a:pPr marL="0" indent="0">
              <a:buNone/>
            </a:pPr>
            <a:r>
              <a:rPr lang="en-US" sz="1000" b="1" kern="0" spc="200" dirty="0">
                <a:solidFill>
                  <a:srgbClr val="2DD4BF"/>
                </a:solidFill>
                <a:latin typeface="Calibri" pitchFamily="34" charset="0"/>
                <a:ea typeface="Calibri" pitchFamily="34" charset="-122"/>
                <a:cs typeface="Calibri" pitchFamily="34" charset="-120"/>
              </a:rPr>
              <a:t>PRIVACY</a:t>
            </a:r>
            <a:endParaRPr lang="en-US" sz="1000" dirty="0"/>
          </a:p>
        </p:txBody>
      </p:sp>
      <p:sp>
        <p:nvSpPr>
          <p:cNvPr id="40" name="Shape 32"/>
          <p:cNvSpPr/>
          <p:nvPr/>
        </p:nvSpPr>
        <p:spPr>
          <a:xfrm>
            <a:off x="8074152" y="3611880"/>
            <a:ext cx="3566160" cy="1828800"/>
          </a:xfrm>
          <a:prstGeom prst="roundRect">
            <a:avLst>
              <a:gd name="adj" fmla="val 6000"/>
            </a:avLst>
          </a:prstGeom>
          <a:solidFill>
            <a:srgbClr val="12303D"/>
          </a:solidFill>
          <a:ln w="9525">
            <a:solidFill>
              <a:srgbClr val="23515F"/>
            </a:solidFill>
            <a:prstDash val="solid"/>
          </a:ln>
        </p:spPr>
      </p:sp>
      <p:sp>
        <p:nvSpPr>
          <p:cNvPr id="41" name="Shape 33"/>
          <p:cNvSpPr/>
          <p:nvPr/>
        </p:nvSpPr>
        <p:spPr>
          <a:xfrm>
            <a:off x="8275320" y="3794760"/>
            <a:ext cx="566928" cy="566928"/>
          </a:xfrm>
          <a:prstGeom prst="ellipse">
            <a:avLst/>
          </a:prstGeom>
          <a:solidFill>
            <a:srgbClr val="0A1B26"/>
          </a:solidFill>
          <a:ln w="12700">
            <a:solidFill>
              <a:srgbClr val="0A1B26"/>
            </a:solidFill>
            <a:prstDash val="solid"/>
          </a:ln>
        </p:spPr>
      </p:sp>
      <p:pic>
        <p:nvPicPr>
          <p:cNvPr id="42" name="Image 5" descr="preencoded.png"/>
          <p:cNvPicPr>
            <a:picLocks noChangeAspect="1"/>
          </p:cNvPicPr>
          <p:nvPr/>
        </p:nvPicPr>
        <p:blipFill>
          <a:blip r:embed="rId8"/>
          <a:stretch>
            <a:fillRect/>
          </a:stretch>
        </p:blipFill>
        <p:spPr>
          <a:xfrm>
            <a:off x="8417052" y="3936492"/>
            <a:ext cx="283464" cy="283464"/>
          </a:xfrm>
          <a:prstGeom prst="rect">
            <a:avLst/>
          </a:prstGeom>
        </p:spPr>
      </p:pic>
      <p:sp>
        <p:nvSpPr>
          <p:cNvPr id="43" name="Text 34"/>
          <p:cNvSpPr txBox="1"/>
          <p:nvPr/>
        </p:nvSpPr>
        <p:spPr>
          <a:xfrm>
            <a:off x="11000232" y="3794760"/>
            <a:ext cx="457200" cy="274320"/>
          </a:xfrm>
          <a:prstGeom prst="rect">
            <a:avLst/>
          </a:prstGeom>
          <a:noFill/>
          <a:ln/>
        </p:spPr>
        <p:txBody>
          <a:bodyPr wrap="square" lIns="0" tIns="0" rIns="0" bIns="0" rtlCol="0" anchor="t"/>
          <a:lstStyle/>
          <a:p>
            <a:pPr marL="0" indent="0" algn="r">
              <a:buNone/>
            </a:pPr>
            <a:r>
              <a:rPr lang="en-US" sz="1200" b="1" dirty="0">
                <a:solidFill>
                  <a:srgbClr val="9DB7C1"/>
                </a:solidFill>
                <a:latin typeface="Calibri" pitchFamily="34" charset="0"/>
                <a:ea typeface="Calibri" pitchFamily="34" charset="-122"/>
                <a:cs typeface="Calibri" pitchFamily="34" charset="-120"/>
              </a:rPr>
              <a:t>06</a:t>
            </a:r>
            <a:endParaRPr lang="en-US" sz="1200" dirty="0"/>
          </a:p>
        </p:txBody>
      </p:sp>
      <p:sp>
        <p:nvSpPr>
          <p:cNvPr id="44" name="Text 35"/>
          <p:cNvSpPr txBox="1"/>
          <p:nvPr/>
        </p:nvSpPr>
        <p:spPr>
          <a:xfrm>
            <a:off x="8988552" y="3794760"/>
            <a:ext cx="21031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Missing Data Transparency</a:t>
            </a:r>
            <a:endParaRPr lang="en-US" sz="1600" dirty="0"/>
          </a:p>
        </p:txBody>
      </p:sp>
      <p:sp>
        <p:nvSpPr>
          <p:cNvPr id="45" name="Text 36"/>
          <p:cNvSpPr txBox="1"/>
          <p:nvPr/>
        </p:nvSpPr>
        <p:spPr>
          <a:xfrm>
            <a:off x="8275320" y="4526280"/>
            <a:ext cx="3200400" cy="594360"/>
          </a:xfrm>
          <a:prstGeom prst="rect">
            <a:avLst/>
          </a:prstGeom>
          <a:noFill/>
          <a:ln/>
        </p:spPr>
        <p:txBody>
          <a:bodyPr wrap="square" lIns="0" tIns="0" rIns="0" bIns="0" rtlCol="0" anchor="t"/>
          <a:lstStyle/>
          <a:p>
            <a:pPr marL="0" indent="0">
              <a:buNone/>
            </a:pPr>
            <a:r>
              <a:rPr lang="en-US" sz="1300" dirty="0">
                <a:solidFill>
                  <a:srgbClr val="9DB7C1"/>
                </a:solidFill>
                <a:latin typeface="Calibri" pitchFamily="34" charset="0"/>
                <a:ea typeface="Calibri" pitchFamily="34" charset="-122"/>
                <a:cs typeface="Calibri" pitchFamily="34" charset="-120"/>
              </a:rPr>
              <a:t>Shows “AQI Unavailable” when data is insufficient rather than fabricating a value.</a:t>
            </a:r>
            <a:endParaRPr lang="en-US" sz="1300" dirty="0"/>
          </a:p>
        </p:txBody>
      </p:sp>
      <p:sp>
        <p:nvSpPr>
          <p:cNvPr id="46" name="Text 37"/>
          <p:cNvSpPr txBox="1"/>
          <p:nvPr/>
        </p:nvSpPr>
        <p:spPr>
          <a:xfrm>
            <a:off x="8275320" y="5148072"/>
            <a:ext cx="2743200" cy="201168"/>
          </a:xfrm>
          <a:prstGeom prst="rect">
            <a:avLst/>
          </a:prstGeom>
          <a:noFill/>
          <a:ln/>
        </p:spPr>
        <p:txBody>
          <a:bodyPr wrap="square" lIns="0" tIns="0" rIns="0" bIns="0" rtlCol="0" anchor="t"/>
          <a:lstStyle/>
          <a:p>
            <a:pPr marL="0" indent="0">
              <a:buNone/>
            </a:pPr>
            <a:r>
              <a:rPr lang="en-US" sz="1000" b="1" kern="0" spc="200" dirty="0">
                <a:solidFill>
                  <a:srgbClr val="2DD4BF"/>
                </a:solidFill>
                <a:latin typeface="Calibri" pitchFamily="34" charset="0"/>
                <a:ea typeface="Calibri" pitchFamily="34" charset="-122"/>
                <a:cs typeface="Calibri" pitchFamily="34" charset="-120"/>
              </a:rPr>
              <a:t>TRANSPARENCY</a:t>
            </a:r>
            <a:endParaRPr lang="en-US" sz="1000" dirty="0"/>
          </a:p>
        </p:txBody>
      </p:sp>
      <p:sp>
        <p:nvSpPr>
          <p:cNvPr id="47" name="Shape 38"/>
          <p:cNvSpPr/>
          <p:nvPr/>
        </p:nvSpPr>
        <p:spPr>
          <a:xfrm>
            <a:off x="548640" y="5715000"/>
            <a:ext cx="11091672" cy="548640"/>
          </a:xfrm>
          <a:prstGeom prst="roundRect">
            <a:avLst>
              <a:gd name="adj" fmla="val 20000"/>
            </a:avLst>
          </a:prstGeom>
          <a:solidFill>
            <a:srgbClr val="0F2733"/>
          </a:solidFill>
          <a:ln w="9525">
            <a:solidFill>
              <a:srgbClr val="23515F"/>
            </a:solidFill>
            <a:prstDash val="solid"/>
          </a:ln>
        </p:spPr>
      </p:sp>
      <p:sp>
        <p:nvSpPr>
          <p:cNvPr id="48" name="Text 39"/>
          <p:cNvSpPr txBox="1"/>
          <p:nvPr/>
        </p:nvSpPr>
        <p:spPr>
          <a:xfrm>
            <a:off x="777240" y="5715000"/>
            <a:ext cx="10607040" cy="548640"/>
          </a:xfrm>
          <a:prstGeom prst="rect">
            <a:avLst/>
          </a:prstGeom>
          <a:noFill/>
          <a:ln/>
        </p:spPr>
        <p:txBody>
          <a:bodyPr wrap="square" lIns="0" tIns="0" rIns="0" bIns="0" rtlCol="0" anchor="ctr"/>
          <a:lstStyle/>
          <a:p>
            <a:pPr marL="0" indent="0">
              <a:buNone/>
            </a:pPr>
            <a:r>
              <a:rPr lang="en-US" sz="1600" dirty="0">
                <a:solidFill>
                  <a:srgbClr val="9DB7C1"/>
                </a:solidFill>
                <a:latin typeface="Calibri" pitchFamily="34" charset="0"/>
                <a:ea typeface="Calibri" pitchFamily="34" charset="-122"/>
                <a:cs typeface="Calibri" pitchFamily="34" charset="-120"/>
              </a:rPr>
              <a:t>1M1B principles:  </a:t>
            </a:r>
            <a:r>
              <a:rPr lang="en-US" sz="1600" b="1" dirty="0">
                <a:solidFill>
                  <a:srgbClr val="2DD4BF"/>
                </a:solidFill>
                <a:latin typeface="Calibri" pitchFamily="34" charset="0"/>
                <a:ea typeface="Calibri" pitchFamily="34" charset="-122"/>
                <a:cs typeface="Calibri" pitchFamily="34" charset="-120"/>
              </a:rPr>
              <a:t>Fairness  •  Transparency  •  Ethics  •  Privacy</a:t>
            </a:r>
            <a:endParaRPr lang="en-US" sz="16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14 · EXPECTED IMPACT</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Expected Sustainability Impact</a:t>
            </a:r>
            <a:endParaRPr lang="en-US" sz="3200" dirty="0"/>
          </a:p>
        </p:txBody>
      </p:sp>
      <p:sp>
        <p:nvSpPr>
          <p:cNvPr id="5" name="Shape 2"/>
          <p:cNvSpPr/>
          <p:nvPr/>
        </p:nvSpPr>
        <p:spPr>
          <a:xfrm>
            <a:off x="548640" y="1600200"/>
            <a:ext cx="2651760" cy="3520440"/>
          </a:xfrm>
          <a:prstGeom prst="roundRect">
            <a:avLst>
              <a:gd name="adj" fmla="val 4138"/>
            </a:avLst>
          </a:prstGeom>
          <a:solidFill>
            <a:srgbClr val="12303D"/>
          </a:solidFill>
          <a:ln w="9525">
            <a:solidFill>
              <a:srgbClr val="23515F"/>
            </a:solidFill>
            <a:prstDash val="solid"/>
          </a:ln>
        </p:spPr>
      </p:sp>
      <p:sp>
        <p:nvSpPr>
          <p:cNvPr id="6" name="Shape 3"/>
          <p:cNvSpPr/>
          <p:nvPr/>
        </p:nvSpPr>
        <p:spPr>
          <a:xfrm>
            <a:off x="777240" y="1828800"/>
            <a:ext cx="685800" cy="685800"/>
          </a:xfrm>
          <a:prstGeom prst="ellipse">
            <a:avLst/>
          </a:prstGeom>
          <a:solidFill>
            <a:srgbClr val="0A1B26"/>
          </a:solidFill>
          <a:ln w="12700">
            <a:solidFill>
              <a:srgbClr val="0A1B26"/>
            </a:solidFill>
            <a:prstDash val="solid"/>
          </a:ln>
        </p:spPr>
      </p:sp>
      <p:pic>
        <p:nvPicPr>
          <p:cNvPr id="7" name="Image 0" descr="preencoded.png"/>
          <p:cNvPicPr>
            <a:picLocks noChangeAspect="1"/>
          </p:cNvPicPr>
          <p:nvPr/>
        </p:nvPicPr>
        <p:blipFill>
          <a:blip r:embed="rId3"/>
          <a:stretch>
            <a:fillRect/>
          </a:stretch>
        </p:blipFill>
        <p:spPr>
          <a:xfrm>
            <a:off x="948690" y="2000250"/>
            <a:ext cx="342900" cy="342900"/>
          </a:xfrm>
          <a:prstGeom prst="rect">
            <a:avLst/>
          </a:prstGeom>
        </p:spPr>
      </p:pic>
      <p:sp>
        <p:nvSpPr>
          <p:cNvPr id="8" name="Text 4"/>
          <p:cNvSpPr txBox="1"/>
          <p:nvPr/>
        </p:nvSpPr>
        <p:spPr>
          <a:xfrm>
            <a:off x="777240" y="2697480"/>
            <a:ext cx="2286000" cy="41148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Environmental</a:t>
            </a:r>
            <a:endParaRPr lang="en-US" sz="1900" dirty="0"/>
          </a:p>
        </p:txBody>
      </p:sp>
      <p:sp>
        <p:nvSpPr>
          <p:cNvPr id="9" name="Text 5"/>
          <p:cNvSpPr txBox="1"/>
          <p:nvPr/>
        </p:nvSpPr>
        <p:spPr>
          <a:xfrm>
            <a:off x="777240" y="3291840"/>
            <a:ext cx="2240280" cy="173736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Increased awareness of air-quality conditions</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Easier access to environmental monitoring information</a:t>
            </a:r>
            <a:endParaRPr lang="en-US" sz="1400" dirty="0"/>
          </a:p>
        </p:txBody>
      </p:sp>
      <p:sp>
        <p:nvSpPr>
          <p:cNvPr id="10" name="Shape 6"/>
          <p:cNvSpPr/>
          <p:nvPr/>
        </p:nvSpPr>
        <p:spPr>
          <a:xfrm>
            <a:off x="3364992" y="1600200"/>
            <a:ext cx="2651760" cy="3520440"/>
          </a:xfrm>
          <a:prstGeom prst="roundRect">
            <a:avLst>
              <a:gd name="adj" fmla="val 4138"/>
            </a:avLst>
          </a:prstGeom>
          <a:solidFill>
            <a:srgbClr val="12303D"/>
          </a:solidFill>
          <a:ln w="9525">
            <a:solidFill>
              <a:srgbClr val="23515F"/>
            </a:solidFill>
            <a:prstDash val="solid"/>
          </a:ln>
        </p:spPr>
      </p:sp>
      <p:sp>
        <p:nvSpPr>
          <p:cNvPr id="11" name="Shape 7"/>
          <p:cNvSpPr/>
          <p:nvPr/>
        </p:nvSpPr>
        <p:spPr>
          <a:xfrm>
            <a:off x="3593592" y="1828800"/>
            <a:ext cx="685800" cy="685800"/>
          </a:xfrm>
          <a:prstGeom prst="ellipse">
            <a:avLst/>
          </a:prstGeom>
          <a:solidFill>
            <a:srgbClr val="0A1B26"/>
          </a:solidFill>
          <a:ln w="12700">
            <a:solidFill>
              <a:srgbClr val="0A1B26"/>
            </a:solidFill>
            <a:prstDash val="solid"/>
          </a:ln>
        </p:spPr>
      </p:sp>
      <p:pic>
        <p:nvPicPr>
          <p:cNvPr id="12" name="Image 1" descr="preencoded.png"/>
          <p:cNvPicPr>
            <a:picLocks noChangeAspect="1"/>
          </p:cNvPicPr>
          <p:nvPr/>
        </p:nvPicPr>
        <p:blipFill>
          <a:blip r:embed="rId4"/>
          <a:stretch>
            <a:fillRect/>
          </a:stretch>
        </p:blipFill>
        <p:spPr>
          <a:xfrm>
            <a:off x="3765042" y="2000250"/>
            <a:ext cx="342900" cy="342900"/>
          </a:xfrm>
          <a:prstGeom prst="rect">
            <a:avLst/>
          </a:prstGeom>
        </p:spPr>
      </p:pic>
      <p:sp>
        <p:nvSpPr>
          <p:cNvPr id="13" name="Text 8"/>
          <p:cNvSpPr txBox="1"/>
          <p:nvPr/>
        </p:nvSpPr>
        <p:spPr>
          <a:xfrm>
            <a:off x="3593592" y="2697480"/>
            <a:ext cx="2286000" cy="41148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Social</a:t>
            </a:r>
            <a:endParaRPr lang="en-US" sz="1900" dirty="0"/>
          </a:p>
        </p:txBody>
      </p:sp>
      <p:sp>
        <p:nvSpPr>
          <p:cNvPr id="14" name="Text 9"/>
          <p:cNvSpPr txBox="1"/>
          <p:nvPr/>
        </p:nvSpPr>
        <p:spPr>
          <a:xfrm>
            <a:off x="3593592" y="3291840"/>
            <a:ext cx="2240280" cy="173736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More understandable environmental information</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Conversational access to complex data</a:t>
            </a:r>
            <a:endParaRPr lang="en-US" sz="1400" dirty="0"/>
          </a:p>
        </p:txBody>
      </p:sp>
      <p:sp>
        <p:nvSpPr>
          <p:cNvPr id="15" name="Shape 10"/>
          <p:cNvSpPr/>
          <p:nvPr/>
        </p:nvSpPr>
        <p:spPr>
          <a:xfrm>
            <a:off x="6181344" y="1600200"/>
            <a:ext cx="2651760" cy="3520440"/>
          </a:xfrm>
          <a:prstGeom prst="roundRect">
            <a:avLst>
              <a:gd name="adj" fmla="val 4138"/>
            </a:avLst>
          </a:prstGeom>
          <a:solidFill>
            <a:srgbClr val="12303D"/>
          </a:solidFill>
          <a:ln w="9525">
            <a:solidFill>
              <a:srgbClr val="23515F"/>
            </a:solidFill>
            <a:prstDash val="solid"/>
          </a:ln>
        </p:spPr>
      </p:sp>
      <p:sp>
        <p:nvSpPr>
          <p:cNvPr id="16" name="Shape 11"/>
          <p:cNvSpPr/>
          <p:nvPr/>
        </p:nvSpPr>
        <p:spPr>
          <a:xfrm>
            <a:off x="6409944" y="1828800"/>
            <a:ext cx="685800" cy="685800"/>
          </a:xfrm>
          <a:prstGeom prst="ellipse">
            <a:avLst/>
          </a:prstGeom>
          <a:solidFill>
            <a:srgbClr val="0A1B26"/>
          </a:solidFill>
          <a:ln w="12700">
            <a:solidFill>
              <a:srgbClr val="0A1B26"/>
            </a:solidFill>
            <a:prstDash val="solid"/>
          </a:ln>
        </p:spPr>
      </p:sp>
      <p:pic>
        <p:nvPicPr>
          <p:cNvPr id="17" name="Image 2" descr="preencoded.png"/>
          <p:cNvPicPr>
            <a:picLocks noChangeAspect="1"/>
          </p:cNvPicPr>
          <p:nvPr/>
        </p:nvPicPr>
        <p:blipFill>
          <a:blip r:embed="rId5"/>
          <a:stretch>
            <a:fillRect/>
          </a:stretch>
        </p:blipFill>
        <p:spPr>
          <a:xfrm>
            <a:off x="6581394" y="2000250"/>
            <a:ext cx="342900" cy="342900"/>
          </a:xfrm>
          <a:prstGeom prst="rect">
            <a:avLst/>
          </a:prstGeom>
        </p:spPr>
      </p:pic>
      <p:sp>
        <p:nvSpPr>
          <p:cNvPr id="18" name="Text 12"/>
          <p:cNvSpPr txBox="1"/>
          <p:nvPr/>
        </p:nvSpPr>
        <p:spPr>
          <a:xfrm>
            <a:off x="6409944" y="2697480"/>
            <a:ext cx="2286000" cy="41148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Educational</a:t>
            </a:r>
            <a:endParaRPr lang="en-US" sz="1900" dirty="0"/>
          </a:p>
        </p:txBody>
      </p:sp>
      <p:sp>
        <p:nvSpPr>
          <p:cNvPr id="19" name="Text 13"/>
          <p:cNvSpPr txBox="1"/>
          <p:nvPr/>
        </p:nvSpPr>
        <p:spPr>
          <a:xfrm>
            <a:off x="6409944" y="3291840"/>
            <a:ext cx="2240280" cy="173736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Helps users learn about pollutants and AQI</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Demonstrates practical AI for sustainability</a:t>
            </a:r>
            <a:endParaRPr lang="en-US" sz="1400" dirty="0"/>
          </a:p>
        </p:txBody>
      </p:sp>
      <p:sp>
        <p:nvSpPr>
          <p:cNvPr id="20" name="Shape 14"/>
          <p:cNvSpPr/>
          <p:nvPr/>
        </p:nvSpPr>
        <p:spPr>
          <a:xfrm>
            <a:off x="8997696" y="1600200"/>
            <a:ext cx="2651760" cy="3520440"/>
          </a:xfrm>
          <a:prstGeom prst="roundRect">
            <a:avLst>
              <a:gd name="adj" fmla="val 4138"/>
            </a:avLst>
          </a:prstGeom>
          <a:solidFill>
            <a:srgbClr val="12303D"/>
          </a:solidFill>
          <a:ln w="9525">
            <a:solidFill>
              <a:srgbClr val="23515F"/>
            </a:solidFill>
            <a:prstDash val="solid"/>
          </a:ln>
        </p:spPr>
      </p:sp>
      <p:sp>
        <p:nvSpPr>
          <p:cNvPr id="21" name="Shape 15"/>
          <p:cNvSpPr/>
          <p:nvPr/>
        </p:nvSpPr>
        <p:spPr>
          <a:xfrm>
            <a:off x="9226296" y="1828800"/>
            <a:ext cx="685800" cy="685800"/>
          </a:xfrm>
          <a:prstGeom prst="ellipse">
            <a:avLst/>
          </a:prstGeom>
          <a:solidFill>
            <a:srgbClr val="0A1B26"/>
          </a:solidFill>
          <a:ln w="12700">
            <a:solidFill>
              <a:srgbClr val="0A1B26"/>
            </a:solidFill>
            <a:prstDash val="solid"/>
          </a:ln>
        </p:spPr>
      </p:sp>
      <p:pic>
        <p:nvPicPr>
          <p:cNvPr id="22" name="Image 3" descr="preencoded.png"/>
          <p:cNvPicPr>
            <a:picLocks noChangeAspect="1"/>
          </p:cNvPicPr>
          <p:nvPr/>
        </p:nvPicPr>
        <p:blipFill>
          <a:blip r:embed="rId6"/>
          <a:stretch>
            <a:fillRect/>
          </a:stretch>
        </p:blipFill>
        <p:spPr>
          <a:xfrm>
            <a:off x="9397746" y="2000250"/>
            <a:ext cx="342900" cy="342900"/>
          </a:xfrm>
          <a:prstGeom prst="rect">
            <a:avLst/>
          </a:prstGeom>
        </p:spPr>
      </p:pic>
      <p:sp>
        <p:nvSpPr>
          <p:cNvPr id="23" name="Text 16"/>
          <p:cNvSpPr txBox="1"/>
          <p:nvPr/>
        </p:nvSpPr>
        <p:spPr>
          <a:xfrm>
            <a:off x="9226296" y="2697480"/>
            <a:ext cx="2286000" cy="41148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Community / Urban</a:t>
            </a:r>
            <a:endParaRPr lang="en-US" sz="1900" dirty="0"/>
          </a:p>
        </p:txBody>
      </p:sp>
      <p:sp>
        <p:nvSpPr>
          <p:cNvPr id="24" name="Text 17"/>
          <p:cNvSpPr txBox="1"/>
          <p:nvPr/>
        </p:nvSpPr>
        <p:spPr>
          <a:xfrm>
            <a:off x="9226296" y="3291840"/>
            <a:ext cx="2240280" cy="173736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Supports data-informed environmental awareness</a:t>
            </a:r>
            <a:endParaRPr lang="en-US" sz="1400" dirty="0"/>
          </a:p>
          <a:p>
            <a:pPr marL="177800" indent="-1778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Enables city-to-city comparison</a:t>
            </a:r>
            <a:endParaRPr lang="en-US" sz="1400" dirty="0"/>
          </a:p>
        </p:txBody>
      </p:sp>
      <p:sp>
        <p:nvSpPr>
          <p:cNvPr id="25" name="Shape 18"/>
          <p:cNvSpPr/>
          <p:nvPr/>
        </p:nvSpPr>
        <p:spPr>
          <a:xfrm>
            <a:off x="548640" y="5349240"/>
            <a:ext cx="11091672" cy="868680"/>
          </a:xfrm>
          <a:prstGeom prst="roundRect">
            <a:avLst>
              <a:gd name="adj" fmla="val 12632"/>
            </a:avLst>
          </a:prstGeom>
          <a:solidFill>
            <a:srgbClr val="0F2733"/>
          </a:solidFill>
          <a:ln w="9525">
            <a:solidFill>
              <a:srgbClr val="FACC15"/>
            </a:solidFill>
            <a:prstDash val="solid"/>
          </a:ln>
        </p:spPr>
      </p:sp>
      <p:sp>
        <p:nvSpPr>
          <p:cNvPr id="26" name="Shape 19"/>
          <p:cNvSpPr/>
          <p:nvPr/>
        </p:nvSpPr>
        <p:spPr>
          <a:xfrm>
            <a:off x="777240" y="5623560"/>
            <a:ext cx="2194560" cy="310896"/>
          </a:xfrm>
          <a:prstGeom prst="roundRect">
            <a:avLst>
              <a:gd name="adj" fmla="val 50000"/>
            </a:avLst>
          </a:prstGeom>
          <a:solidFill>
            <a:srgbClr val="FACC15"/>
          </a:solidFill>
          <a:ln w="12700">
            <a:solidFill>
              <a:srgbClr val="FACC15"/>
            </a:solidFill>
            <a:prstDash val="solid"/>
          </a:ln>
        </p:spPr>
      </p:sp>
      <p:sp>
        <p:nvSpPr>
          <p:cNvPr id="27" name="Text 20"/>
          <p:cNvSpPr txBox="1"/>
          <p:nvPr/>
        </p:nvSpPr>
        <p:spPr>
          <a:xfrm>
            <a:off x="777240" y="5623560"/>
            <a:ext cx="2194560" cy="310896"/>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INTENDED CONTRIBUTION</a:t>
            </a:r>
            <a:endParaRPr lang="en-US" sz="1100" dirty="0"/>
          </a:p>
        </p:txBody>
      </p:sp>
      <p:sp>
        <p:nvSpPr>
          <p:cNvPr id="28" name="Text 21"/>
          <p:cNvSpPr txBox="1"/>
          <p:nvPr/>
        </p:nvSpPr>
        <p:spPr>
          <a:xfrm>
            <a:off x="3200400" y="5349240"/>
            <a:ext cx="822960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Expected impact, not measured outcomes. No measured impact figures are claimed in this submission.</a:t>
            </a:r>
            <a:endParaRPr lang="en-US" sz="15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A1B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2DD4BF"/>
                </a:solidFill>
                <a:latin typeface="Calibri" pitchFamily="34" charset="0"/>
                <a:ea typeface="Calibri" pitchFamily="34" charset="-122"/>
                <a:cs typeface="Calibri" pitchFamily="34" charset="-120"/>
              </a:rPr>
              <a:t>15 · FUTURE SCOPE &amp; CONCLUSION</a:t>
            </a:r>
            <a:endParaRPr lang="en-US" sz="12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Building Toward Smarter Sustainable Communities</a:t>
            </a:r>
            <a:endParaRPr lang="en-US" sz="3200" dirty="0"/>
          </a:p>
        </p:txBody>
      </p:sp>
      <p:sp>
        <p:nvSpPr>
          <p:cNvPr id="5" name="Shape 2"/>
          <p:cNvSpPr/>
          <p:nvPr/>
        </p:nvSpPr>
        <p:spPr>
          <a:xfrm>
            <a:off x="548640" y="1554480"/>
            <a:ext cx="1463040" cy="292608"/>
          </a:xfrm>
          <a:prstGeom prst="roundRect">
            <a:avLst>
              <a:gd name="adj" fmla="val 50000"/>
            </a:avLst>
          </a:prstGeom>
          <a:solidFill>
            <a:srgbClr val="FACC15"/>
          </a:solidFill>
          <a:ln w="12700">
            <a:solidFill>
              <a:srgbClr val="FACC15"/>
            </a:solidFill>
            <a:prstDash val="solid"/>
          </a:ln>
        </p:spPr>
      </p:sp>
      <p:sp>
        <p:nvSpPr>
          <p:cNvPr id="6" name="Text 3"/>
          <p:cNvSpPr txBox="1"/>
          <p:nvPr/>
        </p:nvSpPr>
        <p:spPr>
          <a:xfrm>
            <a:off x="548640" y="1554480"/>
            <a:ext cx="1463040" cy="292608"/>
          </a:xfrm>
          <a:prstGeom prst="rect">
            <a:avLst/>
          </a:prstGeom>
          <a:noFill/>
          <a:ln/>
        </p:spPr>
        <p:txBody>
          <a:bodyPr wrap="square" lIns="0" tIns="0" rIns="0" bIns="0" rtlCol="0" anchor="ctr"/>
          <a:lstStyle/>
          <a:p>
            <a:pPr marL="0" indent="0" algn="ctr">
              <a:buNone/>
            </a:pPr>
            <a:r>
              <a:rPr lang="en-US" sz="1100" b="1" dirty="0">
                <a:solidFill>
                  <a:srgbClr val="0A1B26"/>
                </a:solidFill>
                <a:latin typeface="Calibri" pitchFamily="34" charset="0"/>
                <a:ea typeface="Calibri" pitchFamily="34" charset="-122"/>
                <a:cs typeface="Calibri" pitchFamily="34" charset="-120"/>
              </a:rPr>
              <a:t>FUTURE SCOPE</a:t>
            </a:r>
            <a:endParaRPr lang="en-US" sz="1100" dirty="0"/>
          </a:p>
        </p:txBody>
      </p:sp>
      <p:sp>
        <p:nvSpPr>
          <p:cNvPr id="7" name="Shape 4"/>
          <p:cNvSpPr/>
          <p:nvPr/>
        </p:nvSpPr>
        <p:spPr>
          <a:xfrm>
            <a:off x="548640" y="2011680"/>
            <a:ext cx="2651760" cy="868680"/>
          </a:xfrm>
          <a:prstGeom prst="roundRect">
            <a:avLst>
              <a:gd name="adj" fmla="val 12632"/>
            </a:avLst>
          </a:prstGeom>
          <a:solidFill>
            <a:srgbClr val="12303D"/>
          </a:solidFill>
          <a:ln w="9525">
            <a:solidFill>
              <a:srgbClr val="23515F"/>
            </a:solidFill>
            <a:prstDash val="solid"/>
          </a:ln>
        </p:spPr>
      </p:sp>
      <p:sp>
        <p:nvSpPr>
          <p:cNvPr id="8" name="Shape 5"/>
          <p:cNvSpPr/>
          <p:nvPr/>
        </p:nvSpPr>
        <p:spPr>
          <a:xfrm>
            <a:off x="685800" y="2194560"/>
            <a:ext cx="502920" cy="502920"/>
          </a:xfrm>
          <a:prstGeom prst="ellipse">
            <a:avLst/>
          </a:prstGeom>
          <a:solidFill>
            <a:srgbClr val="0A1B26"/>
          </a:solidFill>
          <a:ln w="12700">
            <a:solidFill>
              <a:srgbClr val="0A1B26"/>
            </a:solidFill>
            <a:prstDash val="solid"/>
          </a:ln>
        </p:spPr>
      </p:sp>
      <p:pic>
        <p:nvPicPr>
          <p:cNvPr id="9" name="Image 0" descr="preencoded.png"/>
          <p:cNvPicPr>
            <a:picLocks noChangeAspect="1"/>
          </p:cNvPicPr>
          <p:nvPr/>
        </p:nvPicPr>
        <p:blipFill>
          <a:blip r:embed="rId3"/>
          <a:stretch>
            <a:fillRect/>
          </a:stretch>
        </p:blipFill>
        <p:spPr>
          <a:xfrm>
            <a:off x="811530" y="2320290"/>
            <a:ext cx="251460" cy="251460"/>
          </a:xfrm>
          <a:prstGeom prst="rect">
            <a:avLst/>
          </a:prstGeom>
        </p:spPr>
      </p:pic>
      <p:sp>
        <p:nvSpPr>
          <p:cNvPr id="10" name="Text 6"/>
          <p:cNvSpPr txBox="1"/>
          <p:nvPr/>
        </p:nvSpPr>
        <p:spPr>
          <a:xfrm>
            <a:off x="1325880" y="2011680"/>
            <a:ext cx="1783080" cy="8686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More environmental data sources</a:t>
            </a:r>
            <a:endParaRPr lang="en-US" sz="1350" dirty="0"/>
          </a:p>
        </p:txBody>
      </p:sp>
      <p:sp>
        <p:nvSpPr>
          <p:cNvPr id="11" name="Shape 7"/>
          <p:cNvSpPr/>
          <p:nvPr/>
        </p:nvSpPr>
        <p:spPr>
          <a:xfrm>
            <a:off x="3364992" y="2011680"/>
            <a:ext cx="2651760" cy="868680"/>
          </a:xfrm>
          <a:prstGeom prst="roundRect">
            <a:avLst>
              <a:gd name="adj" fmla="val 12632"/>
            </a:avLst>
          </a:prstGeom>
          <a:solidFill>
            <a:srgbClr val="12303D"/>
          </a:solidFill>
          <a:ln w="9525">
            <a:solidFill>
              <a:srgbClr val="23515F"/>
            </a:solidFill>
            <a:prstDash val="solid"/>
          </a:ln>
        </p:spPr>
      </p:sp>
      <p:sp>
        <p:nvSpPr>
          <p:cNvPr id="12" name="Shape 8"/>
          <p:cNvSpPr/>
          <p:nvPr/>
        </p:nvSpPr>
        <p:spPr>
          <a:xfrm>
            <a:off x="3502152" y="2194560"/>
            <a:ext cx="502920" cy="502920"/>
          </a:xfrm>
          <a:prstGeom prst="ellipse">
            <a:avLst/>
          </a:prstGeom>
          <a:solidFill>
            <a:srgbClr val="0A1B26"/>
          </a:solidFill>
          <a:ln w="12700">
            <a:solidFill>
              <a:srgbClr val="0A1B26"/>
            </a:solidFill>
            <a:prstDash val="solid"/>
          </a:ln>
        </p:spPr>
      </p:sp>
      <p:pic>
        <p:nvPicPr>
          <p:cNvPr id="13" name="Image 1" descr="preencoded.png"/>
          <p:cNvPicPr>
            <a:picLocks noChangeAspect="1"/>
          </p:cNvPicPr>
          <p:nvPr/>
        </p:nvPicPr>
        <p:blipFill>
          <a:blip r:embed="rId4"/>
          <a:stretch>
            <a:fillRect/>
          </a:stretch>
        </p:blipFill>
        <p:spPr>
          <a:xfrm>
            <a:off x="3627882" y="2320290"/>
            <a:ext cx="251460" cy="251460"/>
          </a:xfrm>
          <a:prstGeom prst="rect">
            <a:avLst/>
          </a:prstGeom>
        </p:spPr>
      </p:pic>
      <p:sp>
        <p:nvSpPr>
          <p:cNvPr id="14" name="Text 9"/>
          <p:cNvSpPr txBox="1"/>
          <p:nvPr/>
        </p:nvSpPr>
        <p:spPr>
          <a:xfrm>
            <a:off x="4142232" y="2011680"/>
            <a:ext cx="1783080" cy="8686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More cities and monitoring networks</a:t>
            </a:r>
            <a:endParaRPr lang="en-US" sz="1350" dirty="0"/>
          </a:p>
        </p:txBody>
      </p:sp>
      <p:sp>
        <p:nvSpPr>
          <p:cNvPr id="15" name="Shape 10"/>
          <p:cNvSpPr/>
          <p:nvPr/>
        </p:nvSpPr>
        <p:spPr>
          <a:xfrm>
            <a:off x="6181344" y="2011680"/>
            <a:ext cx="2651760" cy="868680"/>
          </a:xfrm>
          <a:prstGeom prst="roundRect">
            <a:avLst>
              <a:gd name="adj" fmla="val 12632"/>
            </a:avLst>
          </a:prstGeom>
          <a:solidFill>
            <a:srgbClr val="12303D"/>
          </a:solidFill>
          <a:ln w="9525">
            <a:solidFill>
              <a:srgbClr val="23515F"/>
            </a:solidFill>
            <a:prstDash val="solid"/>
          </a:ln>
        </p:spPr>
      </p:sp>
      <p:sp>
        <p:nvSpPr>
          <p:cNvPr id="16" name="Shape 11"/>
          <p:cNvSpPr/>
          <p:nvPr/>
        </p:nvSpPr>
        <p:spPr>
          <a:xfrm>
            <a:off x="6318504" y="2194560"/>
            <a:ext cx="502920" cy="502920"/>
          </a:xfrm>
          <a:prstGeom prst="ellipse">
            <a:avLst/>
          </a:prstGeom>
          <a:solidFill>
            <a:srgbClr val="0A1B26"/>
          </a:solidFill>
          <a:ln w="12700">
            <a:solidFill>
              <a:srgbClr val="0A1B26"/>
            </a:solidFill>
            <a:prstDash val="solid"/>
          </a:ln>
        </p:spPr>
      </p:sp>
      <p:pic>
        <p:nvPicPr>
          <p:cNvPr id="17" name="Image 2" descr="preencoded.png"/>
          <p:cNvPicPr>
            <a:picLocks noChangeAspect="1"/>
          </p:cNvPicPr>
          <p:nvPr/>
        </p:nvPicPr>
        <p:blipFill>
          <a:blip r:embed="rId5"/>
          <a:stretch>
            <a:fillRect/>
          </a:stretch>
        </p:blipFill>
        <p:spPr>
          <a:xfrm>
            <a:off x="6444234" y="2320290"/>
            <a:ext cx="251460" cy="251460"/>
          </a:xfrm>
          <a:prstGeom prst="rect">
            <a:avLst/>
          </a:prstGeom>
        </p:spPr>
      </p:pic>
      <p:sp>
        <p:nvSpPr>
          <p:cNvPr id="18" name="Text 12"/>
          <p:cNvSpPr txBox="1"/>
          <p:nvPr/>
        </p:nvSpPr>
        <p:spPr>
          <a:xfrm>
            <a:off x="6958584" y="2011680"/>
            <a:ext cx="1783080" cy="8686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Air-quality forecasting</a:t>
            </a:r>
            <a:endParaRPr lang="en-US" sz="1350" dirty="0"/>
          </a:p>
        </p:txBody>
      </p:sp>
      <p:sp>
        <p:nvSpPr>
          <p:cNvPr id="19" name="Shape 13"/>
          <p:cNvSpPr/>
          <p:nvPr/>
        </p:nvSpPr>
        <p:spPr>
          <a:xfrm>
            <a:off x="8997696" y="2011680"/>
            <a:ext cx="2651760" cy="868680"/>
          </a:xfrm>
          <a:prstGeom prst="roundRect">
            <a:avLst>
              <a:gd name="adj" fmla="val 12632"/>
            </a:avLst>
          </a:prstGeom>
          <a:solidFill>
            <a:srgbClr val="12303D"/>
          </a:solidFill>
          <a:ln w="9525">
            <a:solidFill>
              <a:srgbClr val="23515F"/>
            </a:solidFill>
            <a:prstDash val="solid"/>
          </a:ln>
        </p:spPr>
      </p:sp>
      <p:sp>
        <p:nvSpPr>
          <p:cNvPr id="20" name="Shape 14"/>
          <p:cNvSpPr/>
          <p:nvPr/>
        </p:nvSpPr>
        <p:spPr>
          <a:xfrm>
            <a:off x="9134856" y="2194560"/>
            <a:ext cx="502920" cy="502920"/>
          </a:xfrm>
          <a:prstGeom prst="ellipse">
            <a:avLst/>
          </a:prstGeom>
          <a:solidFill>
            <a:srgbClr val="0A1B26"/>
          </a:solidFill>
          <a:ln w="12700">
            <a:solidFill>
              <a:srgbClr val="0A1B26"/>
            </a:solidFill>
            <a:prstDash val="solid"/>
          </a:ln>
        </p:spPr>
      </p:sp>
      <p:pic>
        <p:nvPicPr>
          <p:cNvPr id="21" name="Image 3" descr="preencoded.png"/>
          <p:cNvPicPr>
            <a:picLocks noChangeAspect="1"/>
          </p:cNvPicPr>
          <p:nvPr/>
        </p:nvPicPr>
        <p:blipFill>
          <a:blip r:embed="rId6"/>
          <a:stretch>
            <a:fillRect/>
          </a:stretch>
        </p:blipFill>
        <p:spPr>
          <a:xfrm>
            <a:off x="9260586" y="2320290"/>
            <a:ext cx="251460" cy="251460"/>
          </a:xfrm>
          <a:prstGeom prst="rect">
            <a:avLst/>
          </a:prstGeom>
        </p:spPr>
      </p:pic>
      <p:sp>
        <p:nvSpPr>
          <p:cNvPr id="22" name="Text 15"/>
          <p:cNvSpPr txBox="1"/>
          <p:nvPr/>
        </p:nvSpPr>
        <p:spPr>
          <a:xfrm>
            <a:off x="9774936" y="2011680"/>
            <a:ext cx="1783080" cy="8686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Mobile application</a:t>
            </a:r>
            <a:endParaRPr lang="en-US" sz="1350" dirty="0"/>
          </a:p>
        </p:txBody>
      </p:sp>
      <p:sp>
        <p:nvSpPr>
          <p:cNvPr id="23" name="Shape 16"/>
          <p:cNvSpPr/>
          <p:nvPr/>
        </p:nvSpPr>
        <p:spPr>
          <a:xfrm>
            <a:off x="548640" y="3017520"/>
            <a:ext cx="2651760" cy="868680"/>
          </a:xfrm>
          <a:prstGeom prst="roundRect">
            <a:avLst>
              <a:gd name="adj" fmla="val 12632"/>
            </a:avLst>
          </a:prstGeom>
          <a:solidFill>
            <a:srgbClr val="12303D"/>
          </a:solidFill>
          <a:ln w="9525">
            <a:solidFill>
              <a:srgbClr val="23515F"/>
            </a:solidFill>
            <a:prstDash val="solid"/>
          </a:ln>
        </p:spPr>
      </p:sp>
      <p:sp>
        <p:nvSpPr>
          <p:cNvPr id="24" name="Shape 17"/>
          <p:cNvSpPr/>
          <p:nvPr/>
        </p:nvSpPr>
        <p:spPr>
          <a:xfrm>
            <a:off x="685800" y="3200400"/>
            <a:ext cx="502920" cy="502920"/>
          </a:xfrm>
          <a:prstGeom prst="ellipse">
            <a:avLst/>
          </a:prstGeom>
          <a:solidFill>
            <a:srgbClr val="0A1B26"/>
          </a:solidFill>
          <a:ln w="12700">
            <a:solidFill>
              <a:srgbClr val="0A1B26"/>
            </a:solidFill>
            <a:prstDash val="solid"/>
          </a:ln>
        </p:spPr>
      </p:sp>
      <p:pic>
        <p:nvPicPr>
          <p:cNvPr id="25" name="Image 4" descr="preencoded.png"/>
          <p:cNvPicPr>
            <a:picLocks noChangeAspect="1"/>
          </p:cNvPicPr>
          <p:nvPr/>
        </p:nvPicPr>
        <p:blipFill>
          <a:blip r:embed="rId7"/>
          <a:stretch>
            <a:fillRect/>
          </a:stretch>
        </p:blipFill>
        <p:spPr>
          <a:xfrm>
            <a:off x="811530" y="3326130"/>
            <a:ext cx="251460" cy="251460"/>
          </a:xfrm>
          <a:prstGeom prst="rect">
            <a:avLst/>
          </a:prstGeom>
        </p:spPr>
      </p:pic>
      <p:sp>
        <p:nvSpPr>
          <p:cNvPr id="26" name="Text 18"/>
          <p:cNvSpPr txBox="1"/>
          <p:nvPr/>
        </p:nvSpPr>
        <p:spPr>
          <a:xfrm>
            <a:off x="1325880" y="3017520"/>
            <a:ext cx="1783080" cy="8686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Alerts and notifications</a:t>
            </a:r>
            <a:endParaRPr lang="en-US" sz="1350" dirty="0"/>
          </a:p>
        </p:txBody>
      </p:sp>
      <p:sp>
        <p:nvSpPr>
          <p:cNvPr id="27" name="Shape 19"/>
          <p:cNvSpPr/>
          <p:nvPr/>
        </p:nvSpPr>
        <p:spPr>
          <a:xfrm>
            <a:off x="3364992" y="3017520"/>
            <a:ext cx="2651760" cy="868680"/>
          </a:xfrm>
          <a:prstGeom prst="roundRect">
            <a:avLst>
              <a:gd name="adj" fmla="val 12632"/>
            </a:avLst>
          </a:prstGeom>
          <a:solidFill>
            <a:srgbClr val="12303D"/>
          </a:solidFill>
          <a:ln w="9525">
            <a:solidFill>
              <a:srgbClr val="23515F"/>
            </a:solidFill>
            <a:prstDash val="solid"/>
          </a:ln>
        </p:spPr>
      </p:sp>
      <p:sp>
        <p:nvSpPr>
          <p:cNvPr id="28" name="Shape 20"/>
          <p:cNvSpPr/>
          <p:nvPr/>
        </p:nvSpPr>
        <p:spPr>
          <a:xfrm>
            <a:off x="3502152" y="3200400"/>
            <a:ext cx="502920" cy="502920"/>
          </a:xfrm>
          <a:prstGeom prst="ellipse">
            <a:avLst/>
          </a:prstGeom>
          <a:solidFill>
            <a:srgbClr val="0A1B26"/>
          </a:solidFill>
          <a:ln w="12700">
            <a:solidFill>
              <a:srgbClr val="0A1B26"/>
            </a:solidFill>
            <a:prstDash val="solid"/>
          </a:ln>
        </p:spPr>
      </p:sp>
      <p:pic>
        <p:nvPicPr>
          <p:cNvPr id="29" name="Image 5" descr="preencoded.png"/>
          <p:cNvPicPr>
            <a:picLocks noChangeAspect="1"/>
          </p:cNvPicPr>
          <p:nvPr/>
        </p:nvPicPr>
        <p:blipFill>
          <a:blip r:embed="rId8"/>
          <a:stretch>
            <a:fillRect/>
          </a:stretch>
        </p:blipFill>
        <p:spPr>
          <a:xfrm>
            <a:off x="3627882" y="3326130"/>
            <a:ext cx="251460" cy="251460"/>
          </a:xfrm>
          <a:prstGeom prst="rect">
            <a:avLst/>
          </a:prstGeom>
        </p:spPr>
      </p:pic>
      <p:sp>
        <p:nvSpPr>
          <p:cNvPr id="30" name="Text 21"/>
          <p:cNvSpPr txBox="1"/>
          <p:nvPr/>
        </p:nvSpPr>
        <p:spPr>
          <a:xfrm>
            <a:off x="4142232" y="3017520"/>
            <a:ext cx="1783080" cy="8686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Multilingual AI assistance</a:t>
            </a:r>
            <a:endParaRPr lang="en-US" sz="1350" dirty="0"/>
          </a:p>
        </p:txBody>
      </p:sp>
      <p:sp>
        <p:nvSpPr>
          <p:cNvPr id="31" name="Shape 22"/>
          <p:cNvSpPr/>
          <p:nvPr/>
        </p:nvSpPr>
        <p:spPr>
          <a:xfrm>
            <a:off x="6181344" y="3017520"/>
            <a:ext cx="2651760" cy="868680"/>
          </a:xfrm>
          <a:prstGeom prst="roundRect">
            <a:avLst>
              <a:gd name="adj" fmla="val 12632"/>
            </a:avLst>
          </a:prstGeom>
          <a:solidFill>
            <a:srgbClr val="12303D"/>
          </a:solidFill>
          <a:ln w="9525">
            <a:solidFill>
              <a:srgbClr val="23515F"/>
            </a:solidFill>
            <a:prstDash val="solid"/>
          </a:ln>
        </p:spPr>
      </p:sp>
      <p:sp>
        <p:nvSpPr>
          <p:cNvPr id="32" name="Shape 23"/>
          <p:cNvSpPr/>
          <p:nvPr/>
        </p:nvSpPr>
        <p:spPr>
          <a:xfrm>
            <a:off x="6318504" y="3200400"/>
            <a:ext cx="502920" cy="502920"/>
          </a:xfrm>
          <a:prstGeom prst="ellipse">
            <a:avLst/>
          </a:prstGeom>
          <a:solidFill>
            <a:srgbClr val="0A1B26"/>
          </a:solidFill>
          <a:ln w="12700">
            <a:solidFill>
              <a:srgbClr val="0A1B26"/>
            </a:solidFill>
            <a:prstDash val="solid"/>
          </a:ln>
        </p:spPr>
      </p:sp>
      <p:pic>
        <p:nvPicPr>
          <p:cNvPr id="33" name="Image 6" descr="preencoded.png"/>
          <p:cNvPicPr>
            <a:picLocks noChangeAspect="1"/>
          </p:cNvPicPr>
          <p:nvPr/>
        </p:nvPicPr>
        <p:blipFill>
          <a:blip r:embed="rId9"/>
          <a:stretch>
            <a:fillRect/>
          </a:stretch>
        </p:blipFill>
        <p:spPr>
          <a:xfrm>
            <a:off x="6444234" y="3326130"/>
            <a:ext cx="251460" cy="251460"/>
          </a:xfrm>
          <a:prstGeom prst="rect">
            <a:avLst/>
          </a:prstGeom>
        </p:spPr>
      </p:pic>
      <p:sp>
        <p:nvSpPr>
          <p:cNvPr id="34" name="Text 24"/>
          <p:cNvSpPr txBox="1"/>
          <p:nvPr/>
        </p:nvSpPr>
        <p:spPr>
          <a:xfrm>
            <a:off x="6958584" y="3017520"/>
            <a:ext cx="1783080" cy="8686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Smart-city integration</a:t>
            </a:r>
            <a:endParaRPr lang="en-US" sz="1350" dirty="0"/>
          </a:p>
        </p:txBody>
      </p:sp>
      <p:sp>
        <p:nvSpPr>
          <p:cNvPr id="35" name="Shape 25"/>
          <p:cNvSpPr/>
          <p:nvPr/>
        </p:nvSpPr>
        <p:spPr>
          <a:xfrm>
            <a:off x="8997696" y="3017520"/>
            <a:ext cx="2651760" cy="868680"/>
          </a:xfrm>
          <a:prstGeom prst="roundRect">
            <a:avLst>
              <a:gd name="adj" fmla="val 12632"/>
            </a:avLst>
          </a:prstGeom>
          <a:solidFill>
            <a:srgbClr val="12303D"/>
          </a:solidFill>
          <a:ln w="9525">
            <a:solidFill>
              <a:srgbClr val="23515F"/>
            </a:solidFill>
            <a:prstDash val="solid"/>
          </a:ln>
        </p:spPr>
      </p:sp>
      <p:sp>
        <p:nvSpPr>
          <p:cNvPr id="36" name="Shape 26"/>
          <p:cNvSpPr/>
          <p:nvPr/>
        </p:nvSpPr>
        <p:spPr>
          <a:xfrm>
            <a:off x="9134856" y="3200400"/>
            <a:ext cx="502920" cy="502920"/>
          </a:xfrm>
          <a:prstGeom prst="ellipse">
            <a:avLst/>
          </a:prstGeom>
          <a:solidFill>
            <a:srgbClr val="0A1B26"/>
          </a:solidFill>
          <a:ln w="12700">
            <a:solidFill>
              <a:srgbClr val="0A1B26"/>
            </a:solidFill>
            <a:prstDash val="solid"/>
          </a:ln>
        </p:spPr>
      </p:sp>
      <p:pic>
        <p:nvPicPr>
          <p:cNvPr id="37" name="Image 7" descr="preencoded.png"/>
          <p:cNvPicPr>
            <a:picLocks noChangeAspect="1"/>
          </p:cNvPicPr>
          <p:nvPr/>
        </p:nvPicPr>
        <p:blipFill>
          <a:blip r:embed="rId10"/>
          <a:stretch>
            <a:fillRect/>
          </a:stretch>
        </p:blipFill>
        <p:spPr>
          <a:xfrm>
            <a:off x="9260586" y="3326130"/>
            <a:ext cx="251460" cy="251460"/>
          </a:xfrm>
          <a:prstGeom prst="rect">
            <a:avLst/>
          </a:prstGeom>
        </p:spPr>
      </p:pic>
      <p:sp>
        <p:nvSpPr>
          <p:cNvPr id="38" name="Text 27"/>
          <p:cNvSpPr txBox="1"/>
          <p:nvPr/>
        </p:nvSpPr>
        <p:spPr>
          <a:xfrm>
            <a:off x="9774936" y="3017520"/>
            <a:ext cx="1783080" cy="8686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Expanded environmental intelligence</a:t>
            </a:r>
            <a:endParaRPr lang="en-US" sz="1350" dirty="0"/>
          </a:p>
        </p:txBody>
      </p:sp>
      <p:sp>
        <p:nvSpPr>
          <p:cNvPr id="39" name="Shape 28"/>
          <p:cNvSpPr/>
          <p:nvPr/>
        </p:nvSpPr>
        <p:spPr>
          <a:xfrm>
            <a:off x="548640" y="4206240"/>
            <a:ext cx="11091672" cy="1828800"/>
          </a:xfrm>
          <a:prstGeom prst="roundRect">
            <a:avLst>
              <a:gd name="adj" fmla="val 6000"/>
            </a:avLst>
          </a:prstGeom>
          <a:solidFill>
            <a:srgbClr val="0F3A3D"/>
          </a:solidFill>
          <a:ln w="9525">
            <a:solidFill>
              <a:srgbClr val="2DD4BF"/>
            </a:solidFill>
            <a:prstDash val="solid"/>
          </a:ln>
        </p:spPr>
      </p:sp>
      <p:sp>
        <p:nvSpPr>
          <p:cNvPr id="40" name="Text 29"/>
          <p:cNvSpPr txBox="1"/>
          <p:nvPr/>
        </p:nvSpPr>
        <p:spPr>
          <a:xfrm>
            <a:off x="868680" y="4206240"/>
            <a:ext cx="10424160" cy="1828800"/>
          </a:xfrm>
          <a:prstGeom prst="rect">
            <a:avLst/>
          </a:prstGeom>
          <a:noFill/>
          <a:ln/>
        </p:spPr>
        <p:txBody>
          <a:bodyPr wrap="square" lIns="0" tIns="0" rIns="0" bIns="0" rtlCol="0" anchor="ctr"/>
          <a:lstStyle/>
          <a:p>
            <a:pPr marL="0" indent="0">
              <a:buNone/>
            </a:pPr>
            <a:r>
              <a:rPr lang="en-US" sz="2400" i="1" dirty="0">
                <a:solidFill>
                  <a:srgbClr val="FFFFFF"/>
                </a:solidFill>
                <a:latin typeface="Cambria" pitchFamily="34" charset="0"/>
                <a:ea typeface="Cambria" pitchFamily="34" charset="-122"/>
                <a:cs typeface="Cambria" pitchFamily="34" charset="-120"/>
              </a:rPr>
              <a:t>CleanAir AI demonstrates how real-time environmental data, AI-assisted interpretation, and responsible technology design can make sustainability information more accessible and understandable.</a:t>
            </a:r>
            <a:endParaRPr lang="en-US" sz="2400" dirty="0"/>
          </a:p>
        </p:txBody>
      </p:sp>
      <p:sp>
        <p:nvSpPr>
          <p:cNvPr id="4" name="Slide Number Placeholder 0"/>
          <p:cNvSpPr>
            <a:spLocks noGrp="1"/>
          </p:cNvSpPr>
          <p:nvPr>
            <p:ph type="sldNum" sz="quarter" idx="4294967295"/>
          </p:nvPr>
        </p:nvSpPr>
        <p:spPr>
          <a:xfrm>
            <a:off x="11247120" y="64008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DB7C1"/>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A1B26"/>
        </a:solidFill>
        <a:effectLst/>
      </p:bgPr>
    </p:bg>
    <p:spTree>
      <p:nvGrpSpPr>
        <p:cNvPr id="1" name=""/>
        <p:cNvGrpSpPr/>
        <p:nvPr/>
      </p:nvGrpSpPr>
      <p:grpSpPr>
        <a:xfrm>
          <a:off x="0" y="0"/>
          <a:ext cx="0" cy="0"/>
          <a:chOff x="0" y="0"/>
          <a:chExt cx="0" cy="0"/>
        </a:xfrm>
      </p:grpSpPr>
      <p:sp>
        <p:nvSpPr>
          <p:cNvPr id="2" name="Shape 0"/>
          <p:cNvSpPr/>
          <p:nvPr/>
        </p:nvSpPr>
        <p:spPr>
          <a:xfrm>
            <a:off x="5029200" y="3291840"/>
            <a:ext cx="8229600" cy="3840480"/>
          </a:xfrm>
          <a:prstGeom prst="ellipse">
            <a:avLst/>
          </a:prstGeom>
          <a:solidFill>
            <a:srgbClr val="2DD4BF">
              <a:alpha val="10000"/>
            </a:srgbClr>
          </a:solidFill>
          <a:ln/>
        </p:spPr>
      </p:sp>
      <p:sp>
        <p:nvSpPr>
          <p:cNvPr id="3" name="Shape 1"/>
          <p:cNvSpPr/>
          <p:nvPr/>
        </p:nvSpPr>
        <p:spPr>
          <a:xfrm>
            <a:off x="0" y="5486400"/>
            <a:ext cx="822960" cy="1371600"/>
          </a:xfrm>
          <a:prstGeom prst="rect">
            <a:avLst/>
          </a:prstGeom>
          <a:solidFill>
            <a:srgbClr val="133845"/>
          </a:solidFill>
          <a:ln w="12700">
            <a:solidFill>
              <a:srgbClr val="0A1B26"/>
            </a:solidFill>
            <a:prstDash val="solid"/>
          </a:ln>
        </p:spPr>
      </p:sp>
      <p:sp>
        <p:nvSpPr>
          <p:cNvPr id="4" name="Shape 2"/>
          <p:cNvSpPr/>
          <p:nvPr/>
        </p:nvSpPr>
        <p:spPr>
          <a:xfrm>
            <a:off x="731520" y="4846320"/>
            <a:ext cx="640080" cy="2011680"/>
          </a:xfrm>
          <a:prstGeom prst="rect">
            <a:avLst/>
          </a:prstGeom>
          <a:solidFill>
            <a:srgbClr val="0F2C38"/>
          </a:solidFill>
          <a:ln w="12700">
            <a:solidFill>
              <a:srgbClr val="0A1B26"/>
            </a:solidFill>
            <a:prstDash val="solid"/>
          </a:ln>
        </p:spPr>
      </p:sp>
      <p:sp>
        <p:nvSpPr>
          <p:cNvPr id="5" name="Shape 3"/>
          <p:cNvSpPr/>
          <p:nvPr/>
        </p:nvSpPr>
        <p:spPr>
          <a:xfrm>
            <a:off x="1325880" y="5760720"/>
            <a:ext cx="1005840" cy="1097280"/>
          </a:xfrm>
          <a:prstGeom prst="rect">
            <a:avLst/>
          </a:prstGeom>
          <a:solidFill>
            <a:srgbClr val="133845"/>
          </a:solidFill>
          <a:ln w="12700">
            <a:solidFill>
              <a:srgbClr val="0A1B26"/>
            </a:solidFill>
            <a:prstDash val="solid"/>
          </a:ln>
        </p:spPr>
      </p:sp>
      <p:sp>
        <p:nvSpPr>
          <p:cNvPr id="6" name="Shape 4"/>
          <p:cNvSpPr/>
          <p:nvPr/>
        </p:nvSpPr>
        <p:spPr>
          <a:xfrm>
            <a:off x="2286000" y="4480560"/>
            <a:ext cx="731520" cy="2377440"/>
          </a:xfrm>
          <a:prstGeom prst="rect">
            <a:avLst/>
          </a:prstGeom>
          <a:solidFill>
            <a:srgbClr val="0F2C38"/>
          </a:solidFill>
          <a:ln w="12700">
            <a:solidFill>
              <a:srgbClr val="0A1B26"/>
            </a:solidFill>
            <a:prstDash val="solid"/>
          </a:ln>
        </p:spPr>
      </p:sp>
      <p:sp>
        <p:nvSpPr>
          <p:cNvPr id="7" name="Shape 5"/>
          <p:cNvSpPr/>
          <p:nvPr/>
        </p:nvSpPr>
        <p:spPr>
          <a:xfrm>
            <a:off x="2971800" y="5303520"/>
            <a:ext cx="1097280" cy="1554480"/>
          </a:xfrm>
          <a:prstGeom prst="rect">
            <a:avLst/>
          </a:prstGeom>
          <a:solidFill>
            <a:srgbClr val="133845"/>
          </a:solidFill>
          <a:ln w="12700">
            <a:solidFill>
              <a:srgbClr val="0A1B26"/>
            </a:solidFill>
            <a:prstDash val="solid"/>
          </a:ln>
        </p:spPr>
      </p:sp>
      <p:sp>
        <p:nvSpPr>
          <p:cNvPr id="8" name="Shape 6"/>
          <p:cNvSpPr/>
          <p:nvPr/>
        </p:nvSpPr>
        <p:spPr>
          <a:xfrm>
            <a:off x="4023360" y="4754880"/>
            <a:ext cx="822960" cy="2103120"/>
          </a:xfrm>
          <a:prstGeom prst="rect">
            <a:avLst/>
          </a:prstGeom>
          <a:solidFill>
            <a:srgbClr val="0F2C38"/>
          </a:solidFill>
          <a:ln w="12700">
            <a:solidFill>
              <a:srgbClr val="0A1B26"/>
            </a:solidFill>
            <a:prstDash val="solid"/>
          </a:ln>
        </p:spPr>
      </p:sp>
      <p:sp>
        <p:nvSpPr>
          <p:cNvPr id="9" name="Shape 7"/>
          <p:cNvSpPr/>
          <p:nvPr/>
        </p:nvSpPr>
        <p:spPr>
          <a:xfrm>
            <a:off x="4800600" y="5577840"/>
            <a:ext cx="1188720" cy="1280160"/>
          </a:xfrm>
          <a:prstGeom prst="rect">
            <a:avLst/>
          </a:prstGeom>
          <a:solidFill>
            <a:srgbClr val="133845"/>
          </a:solidFill>
          <a:ln w="12700">
            <a:solidFill>
              <a:srgbClr val="0A1B26"/>
            </a:solidFill>
            <a:prstDash val="solid"/>
          </a:ln>
        </p:spPr>
      </p:sp>
      <p:sp>
        <p:nvSpPr>
          <p:cNvPr id="10" name="Shape 8"/>
          <p:cNvSpPr/>
          <p:nvPr/>
        </p:nvSpPr>
        <p:spPr>
          <a:xfrm>
            <a:off x="5943600" y="4297680"/>
            <a:ext cx="731520" cy="2560320"/>
          </a:xfrm>
          <a:prstGeom prst="rect">
            <a:avLst/>
          </a:prstGeom>
          <a:solidFill>
            <a:srgbClr val="0F2C38"/>
          </a:solidFill>
          <a:ln w="12700">
            <a:solidFill>
              <a:srgbClr val="0A1B26"/>
            </a:solidFill>
            <a:prstDash val="solid"/>
          </a:ln>
        </p:spPr>
      </p:sp>
      <p:sp>
        <p:nvSpPr>
          <p:cNvPr id="11" name="Shape 9"/>
          <p:cNvSpPr/>
          <p:nvPr/>
        </p:nvSpPr>
        <p:spPr>
          <a:xfrm>
            <a:off x="6629400" y="5120640"/>
            <a:ext cx="1005840" cy="1737360"/>
          </a:xfrm>
          <a:prstGeom prst="rect">
            <a:avLst/>
          </a:prstGeom>
          <a:solidFill>
            <a:srgbClr val="133845"/>
          </a:solidFill>
          <a:ln w="12700">
            <a:solidFill>
              <a:srgbClr val="0A1B26"/>
            </a:solidFill>
            <a:prstDash val="solid"/>
          </a:ln>
        </p:spPr>
      </p:sp>
      <p:sp>
        <p:nvSpPr>
          <p:cNvPr id="12" name="Shape 10"/>
          <p:cNvSpPr/>
          <p:nvPr/>
        </p:nvSpPr>
        <p:spPr>
          <a:xfrm>
            <a:off x="7589520" y="4663440"/>
            <a:ext cx="822960" cy="2194560"/>
          </a:xfrm>
          <a:prstGeom prst="rect">
            <a:avLst/>
          </a:prstGeom>
          <a:solidFill>
            <a:srgbClr val="0F2C38"/>
          </a:solidFill>
          <a:ln w="12700">
            <a:solidFill>
              <a:srgbClr val="0A1B26"/>
            </a:solidFill>
            <a:prstDash val="solid"/>
          </a:ln>
        </p:spPr>
      </p:sp>
      <p:sp>
        <p:nvSpPr>
          <p:cNvPr id="13" name="Shape 11"/>
          <p:cNvSpPr/>
          <p:nvPr/>
        </p:nvSpPr>
        <p:spPr>
          <a:xfrm>
            <a:off x="8366760" y="5486400"/>
            <a:ext cx="1097280" cy="1371600"/>
          </a:xfrm>
          <a:prstGeom prst="rect">
            <a:avLst/>
          </a:prstGeom>
          <a:solidFill>
            <a:srgbClr val="133845"/>
          </a:solidFill>
          <a:ln w="12700">
            <a:solidFill>
              <a:srgbClr val="0A1B26"/>
            </a:solidFill>
            <a:prstDash val="solid"/>
          </a:ln>
        </p:spPr>
      </p:sp>
      <p:sp>
        <p:nvSpPr>
          <p:cNvPr id="14" name="Shape 12"/>
          <p:cNvSpPr/>
          <p:nvPr/>
        </p:nvSpPr>
        <p:spPr>
          <a:xfrm>
            <a:off x="9418320" y="4206240"/>
            <a:ext cx="731520" cy="2651760"/>
          </a:xfrm>
          <a:prstGeom prst="rect">
            <a:avLst/>
          </a:prstGeom>
          <a:solidFill>
            <a:srgbClr val="0F2C38"/>
          </a:solidFill>
          <a:ln w="12700">
            <a:solidFill>
              <a:srgbClr val="0A1B26"/>
            </a:solidFill>
            <a:prstDash val="solid"/>
          </a:ln>
        </p:spPr>
      </p:sp>
      <p:sp>
        <p:nvSpPr>
          <p:cNvPr id="15" name="Shape 13"/>
          <p:cNvSpPr/>
          <p:nvPr/>
        </p:nvSpPr>
        <p:spPr>
          <a:xfrm>
            <a:off x="10104120" y="5029200"/>
            <a:ext cx="1005840" cy="1828800"/>
          </a:xfrm>
          <a:prstGeom prst="rect">
            <a:avLst/>
          </a:prstGeom>
          <a:solidFill>
            <a:srgbClr val="133845"/>
          </a:solidFill>
          <a:ln w="12700">
            <a:solidFill>
              <a:srgbClr val="0A1B26"/>
            </a:solidFill>
            <a:prstDash val="solid"/>
          </a:ln>
        </p:spPr>
      </p:sp>
      <p:sp>
        <p:nvSpPr>
          <p:cNvPr id="16" name="Shape 14"/>
          <p:cNvSpPr/>
          <p:nvPr/>
        </p:nvSpPr>
        <p:spPr>
          <a:xfrm>
            <a:off x="11064240" y="5394960"/>
            <a:ext cx="1124712" cy="1463040"/>
          </a:xfrm>
          <a:prstGeom prst="rect">
            <a:avLst/>
          </a:prstGeom>
          <a:solidFill>
            <a:srgbClr val="0F2C38"/>
          </a:solidFill>
          <a:ln w="12700">
            <a:solidFill>
              <a:srgbClr val="0A1B26"/>
            </a:solidFill>
            <a:prstDash val="solid"/>
          </a:ln>
        </p:spPr>
      </p:sp>
      <p:sp>
        <p:nvSpPr>
          <p:cNvPr id="17" name="Text 15"/>
          <p:cNvSpPr txBox="1"/>
          <p:nvPr/>
        </p:nvSpPr>
        <p:spPr>
          <a:xfrm>
            <a:off x="548640" y="731520"/>
            <a:ext cx="9144000" cy="320040"/>
          </a:xfrm>
          <a:prstGeom prst="rect">
            <a:avLst/>
          </a:prstGeom>
          <a:noFill/>
          <a:ln/>
        </p:spPr>
        <p:txBody>
          <a:bodyPr wrap="square" lIns="0" tIns="0" rIns="0" bIns="0" rtlCol="0" anchor="t"/>
          <a:lstStyle/>
          <a:p>
            <a:pPr marL="0" indent="0">
              <a:buNone/>
            </a:pPr>
            <a:r>
              <a:rPr lang="en-US" sz="1300" b="1" kern="0" spc="300" dirty="0">
                <a:solidFill>
                  <a:srgbClr val="2DD4BF"/>
                </a:solidFill>
                <a:latin typeface="Calibri" pitchFamily="34" charset="0"/>
                <a:ea typeface="Calibri" pitchFamily="34" charset="-122"/>
                <a:cs typeface="Calibri" pitchFamily="34" charset="-120"/>
              </a:rPr>
              <a:t>1M1B AI FOR SUSTAINABILITY VIRTUAL INTERNSHIP</a:t>
            </a:r>
            <a:endParaRPr lang="en-US" sz="1300" dirty="0"/>
          </a:p>
        </p:txBody>
      </p:sp>
      <p:sp>
        <p:nvSpPr>
          <p:cNvPr id="18" name="Text 16"/>
          <p:cNvSpPr txBox="1"/>
          <p:nvPr/>
        </p:nvSpPr>
        <p:spPr>
          <a:xfrm>
            <a:off x="548640" y="1188720"/>
            <a:ext cx="9144000" cy="1280160"/>
          </a:xfrm>
          <a:prstGeom prst="rect">
            <a:avLst/>
          </a:prstGeom>
          <a:noFill/>
          <a:ln/>
        </p:spPr>
        <p:txBody>
          <a:bodyPr wrap="square" lIns="0" tIns="0" rIns="0" bIns="0"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Thank You</a:t>
            </a:r>
            <a:endParaRPr lang="en-US" sz="7200" dirty="0"/>
          </a:p>
        </p:txBody>
      </p:sp>
      <p:sp>
        <p:nvSpPr>
          <p:cNvPr id="19" name="Shape 17"/>
          <p:cNvSpPr/>
          <p:nvPr/>
        </p:nvSpPr>
        <p:spPr>
          <a:xfrm>
            <a:off x="548640" y="2697480"/>
            <a:ext cx="859536" cy="146304"/>
          </a:xfrm>
          <a:prstGeom prst="roundRect">
            <a:avLst>
              <a:gd name="adj" fmla="val 50000"/>
            </a:avLst>
          </a:prstGeom>
          <a:solidFill>
            <a:srgbClr val="4ADE80"/>
          </a:solidFill>
          <a:ln w="12700">
            <a:solidFill>
              <a:srgbClr val="4ADE80"/>
            </a:solidFill>
            <a:prstDash val="solid"/>
          </a:ln>
        </p:spPr>
      </p:sp>
      <p:sp>
        <p:nvSpPr>
          <p:cNvPr id="20" name="Shape 18"/>
          <p:cNvSpPr/>
          <p:nvPr/>
        </p:nvSpPr>
        <p:spPr>
          <a:xfrm>
            <a:off x="1481328" y="2697480"/>
            <a:ext cx="859536" cy="146304"/>
          </a:xfrm>
          <a:prstGeom prst="roundRect">
            <a:avLst>
              <a:gd name="adj" fmla="val 50000"/>
            </a:avLst>
          </a:prstGeom>
          <a:solidFill>
            <a:srgbClr val="FACC15"/>
          </a:solidFill>
          <a:ln w="12700">
            <a:solidFill>
              <a:srgbClr val="FACC15"/>
            </a:solidFill>
            <a:prstDash val="solid"/>
          </a:ln>
        </p:spPr>
      </p:sp>
      <p:sp>
        <p:nvSpPr>
          <p:cNvPr id="21" name="Shape 19"/>
          <p:cNvSpPr/>
          <p:nvPr/>
        </p:nvSpPr>
        <p:spPr>
          <a:xfrm>
            <a:off x="2414016" y="2697480"/>
            <a:ext cx="859536" cy="146304"/>
          </a:xfrm>
          <a:prstGeom prst="roundRect">
            <a:avLst>
              <a:gd name="adj" fmla="val 50000"/>
            </a:avLst>
          </a:prstGeom>
          <a:solidFill>
            <a:srgbClr val="FB923C"/>
          </a:solidFill>
          <a:ln w="12700">
            <a:solidFill>
              <a:srgbClr val="FB923C"/>
            </a:solidFill>
            <a:prstDash val="solid"/>
          </a:ln>
        </p:spPr>
      </p:sp>
      <p:sp>
        <p:nvSpPr>
          <p:cNvPr id="22" name="Shape 20"/>
          <p:cNvSpPr/>
          <p:nvPr/>
        </p:nvSpPr>
        <p:spPr>
          <a:xfrm>
            <a:off x="3346704" y="2697480"/>
            <a:ext cx="859536" cy="146304"/>
          </a:xfrm>
          <a:prstGeom prst="roundRect">
            <a:avLst>
              <a:gd name="adj" fmla="val 50000"/>
            </a:avLst>
          </a:prstGeom>
          <a:solidFill>
            <a:srgbClr val="EF4444"/>
          </a:solidFill>
          <a:ln w="12700">
            <a:solidFill>
              <a:srgbClr val="EF4444"/>
            </a:solidFill>
            <a:prstDash val="solid"/>
          </a:ln>
        </p:spPr>
      </p:sp>
      <p:sp>
        <p:nvSpPr>
          <p:cNvPr id="23" name="Shape 21"/>
          <p:cNvSpPr/>
          <p:nvPr/>
        </p:nvSpPr>
        <p:spPr>
          <a:xfrm>
            <a:off x="4279392" y="2697480"/>
            <a:ext cx="859536" cy="146304"/>
          </a:xfrm>
          <a:prstGeom prst="roundRect">
            <a:avLst>
              <a:gd name="adj" fmla="val 50000"/>
            </a:avLst>
          </a:prstGeom>
          <a:solidFill>
            <a:srgbClr val="A855F7"/>
          </a:solidFill>
          <a:ln w="12700">
            <a:solidFill>
              <a:srgbClr val="A855F7"/>
            </a:solidFill>
            <a:prstDash val="solid"/>
          </a:ln>
        </p:spPr>
      </p:sp>
      <p:sp>
        <p:nvSpPr>
          <p:cNvPr id="24" name="Shape 22"/>
          <p:cNvSpPr/>
          <p:nvPr/>
        </p:nvSpPr>
        <p:spPr>
          <a:xfrm>
            <a:off x="5212080" y="2697480"/>
            <a:ext cx="859536" cy="146304"/>
          </a:xfrm>
          <a:prstGeom prst="roundRect">
            <a:avLst>
              <a:gd name="adj" fmla="val 50000"/>
            </a:avLst>
          </a:prstGeom>
          <a:solidFill>
            <a:srgbClr val="BE123C"/>
          </a:solidFill>
          <a:ln w="12700">
            <a:solidFill>
              <a:srgbClr val="BE123C"/>
            </a:solidFill>
            <a:prstDash val="solid"/>
          </a:ln>
        </p:spPr>
      </p:sp>
      <p:sp>
        <p:nvSpPr>
          <p:cNvPr id="25" name="Text 23"/>
          <p:cNvSpPr txBox="1"/>
          <p:nvPr/>
        </p:nvSpPr>
        <p:spPr>
          <a:xfrm>
            <a:off x="548640" y="3108960"/>
            <a:ext cx="91440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Varun Mundepi</a:t>
            </a:r>
            <a:endParaRPr lang="en-US" sz="3000" dirty="0"/>
          </a:p>
        </p:txBody>
      </p:sp>
      <p:sp>
        <p:nvSpPr>
          <p:cNvPr id="26" name="Text 24"/>
          <p:cNvSpPr txBox="1"/>
          <p:nvPr/>
        </p:nvSpPr>
        <p:spPr>
          <a:xfrm>
            <a:off x="548640" y="3703320"/>
            <a:ext cx="10058400" cy="411480"/>
          </a:xfrm>
          <a:prstGeom prst="rect">
            <a:avLst/>
          </a:prstGeom>
          <a:noFill/>
          <a:ln/>
        </p:spPr>
        <p:txBody>
          <a:bodyPr wrap="square" lIns="0" tIns="0" rIns="0" bIns="0" rtlCol="0" anchor="ctr"/>
          <a:lstStyle/>
          <a:p>
            <a:pPr marL="0" indent="0">
              <a:buNone/>
            </a:pPr>
            <a:r>
              <a:rPr lang="en-US" sz="1800" dirty="0">
                <a:solidFill>
                  <a:srgbClr val="9DB7C1"/>
                </a:solidFill>
                <a:latin typeface="Calibri" pitchFamily="34" charset="0"/>
                <a:ea typeface="Calibri" pitchFamily="34" charset="-122"/>
                <a:cs typeface="Calibri" pitchFamily="34" charset="-120"/>
              </a:rPr>
              <a:t>THDC-Institute Of Hydro Power Engineering And Technology</a:t>
            </a:r>
            <a:endParaRPr lang="en-US" sz="1800" dirty="0"/>
          </a:p>
        </p:txBody>
      </p:sp>
      <p:sp>
        <p:nvSpPr>
          <p:cNvPr id="27" name="Text 25"/>
          <p:cNvSpPr txBox="1"/>
          <p:nvPr/>
        </p:nvSpPr>
        <p:spPr>
          <a:xfrm>
            <a:off x="548640" y="4206240"/>
            <a:ext cx="10058400" cy="365760"/>
          </a:xfrm>
          <a:prstGeom prst="rect">
            <a:avLst/>
          </a:prstGeom>
          <a:noFill/>
          <a:ln/>
        </p:spPr>
        <p:txBody>
          <a:bodyPr wrap="square" lIns="0" tIns="0" rIns="0" bIns="0" rtlCol="0" anchor="ctr"/>
          <a:lstStyle/>
          <a:p>
            <a:pPr marL="0" indent="0">
              <a:buNone/>
            </a:pPr>
            <a:r>
              <a:rPr lang="en-US" sz="1600" dirty="0">
                <a:solidFill>
                  <a:srgbClr val="2DD4BF"/>
                </a:solidFill>
                <a:latin typeface="Calibri" pitchFamily="34" charset="0"/>
                <a:ea typeface="Calibri" pitchFamily="34" charset="-122"/>
                <a:cs typeface="Calibri" pitchFamily="34" charset="-120"/>
              </a:rPr>
              <a:t>CleanAir AI · Real-Time Air Quality Intelligence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402</TotalTime>
  <Words>1965</Words>
  <Application>Microsoft Office PowerPoint</Application>
  <PresentationFormat>Widescreen</PresentationFormat>
  <Paragraphs>389</Paragraphs>
  <Slides>20</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CleanAir AI - Real-Time Air Quality Intelligence</dc:title>
  <dc:subject>PptxGenJS Presentation</dc:subject>
  <dc:creator>Varun Mundepi</dc:creator>
  <cp:lastModifiedBy>Varun Mundepi</cp:lastModifiedBy>
  <cp:revision>3</cp:revision>
  <dcterms:created xsi:type="dcterms:W3CDTF">2026-09-19T19:44:02Z</dcterms:created>
  <dcterms:modified xsi:type="dcterms:W3CDTF">2026-09-20T04:33:54Z</dcterms:modified>
</cp:coreProperties>
</file>